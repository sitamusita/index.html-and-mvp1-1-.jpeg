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5577840" cy="5989320"/>
          </a:xfrm>
          <a:prstGeom prst="roundRect">
            <a:avLst/>
          </a:prstGeom>
          <a:solidFill>
            <a:srgbClr val="FFFFFF"/>
          </a:solidFill>
          <a:ln>
            <a:solidFill>
              <a:srgbClr val="CF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77240"/>
            <a:ext cx="48463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3200" b="1">
                <a:solidFill>
                  <a:srgbClr val="083069"/>
                </a:solidFill>
                <a:latin typeface="Aptos"/>
              </a:defRPr>
            </a:pPr>
            <a:r>
              <a:t>LearnReach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298448"/>
            <a:ext cx="48463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070E6"/>
                </a:solidFill>
                <a:latin typeface="Aptos"/>
              </a:defRPr>
            </a:pPr>
            <a:r>
              <a:t>More Students • Greater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20240"/>
            <a:ext cx="493776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Helping educational businesses</a:t>
            </a:r>
          </a:p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reach more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200400"/>
            <a:ext cx="480060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Education marketing &amp; student recruitment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A focused service MVP for schools, tutors, training centers, and online course creators.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983480"/>
            <a:ext cx="48463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Ferdinand Hasingizwumukiza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48463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ALX Founder Academy • Final Project</a:t>
            </a:r>
          </a:p>
        </p:txBody>
      </p:sp>
      <p:pic>
        <p:nvPicPr>
          <p:cNvPr id="9" name="Picture 8" descr="MVP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94460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6016752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070E6"/>
                </a:solidFill>
                <a:latin typeface="Aptos"/>
              </a:defRPr>
            </a:pPr>
            <a:r>
              <a:t>Pitch Deck • Draft for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Valuable learning opportunities can be hard to discover when marketing and follow-up are inconsistent.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92024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82296" cy="1920240"/>
          </a:xfrm>
          <a:prstGeom prst="rect">
            <a:avLst/>
          </a:prstGeom>
          <a:solidFill>
            <a:srgbClr val="E8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1546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154680" cy="1307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Potential learners may not discover courses that could help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92024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82296" cy="19202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546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Few qualified enquiries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54680" cy="1307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Providers may attract attention without reaching the right prospective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92024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82296" cy="192024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1546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Enrollment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54680" cy="1307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Unclear messages and weak follow-up can make it harder to convert interest into enrollment.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83069"/>
                </a:solidFill>
                <a:latin typeface="Aptos"/>
              </a:defRPr>
            </a:pPr>
            <a:r>
              <a:t>Core problem to validate: small education providers need practical, focused support to promote their programs and manage learner enquiries.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996696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B6C80"/>
                </a:solidFill>
                <a:latin typeface="Aptos"/>
              </a:defRPr>
            </a:pPr>
            <a:r>
              <a:t>Validation plan: interview course creators and training providers; document current channels, pain points, and enrollment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A focused service first—not a complex platform before customer demand is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21208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083069"/>
                </a:solidFill>
                <a:latin typeface="Aptos"/>
              </a:defRPr>
            </a:pPr>
            <a:r>
              <a:t>LearnReach helps providers: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23744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423160"/>
            <a:ext cx="4892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Clarify the value of their courses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953512"/>
            <a:ext cx="4892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Plan practical digital promotion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84448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83864"/>
            <a:ext cx="4892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Create useful content for target learners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014215"/>
            <a:ext cx="4892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Encourage enquiries and improve follow-up</a:t>
            </a:r>
          </a:p>
        </p:txBody>
      </p:sp>
      <p:pic>
        <p:nvPicPr>
          <p:cNvPr id="15" name="Picture 14" descr="MVP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074920" cy="3383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806440"/>
            <a:ext cx="47548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070E6"/>
                </a:solidFill>
                <a:latin typeface="Aptos"/>
              </a:defRPr>
            </a:pPr>
            <a:r>
              <a:t>Current MVP: homepage • services • contact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Market Size &amp; Initial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Market sizing is a research task in progress; these are customer segments, not verified market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7472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82296" cy="242316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TAM — Total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08960" cy="18105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Education and training providers that need marketing and learner recruitment support.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Next: build a sourced list of providers across the wider 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83080"/>
            <a:ext cx="347472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83080"/>
            <a:ext cx="82296" cy="242316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SAM — Serviceable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04288"/>
            <a:ext cx="3108960" cy="18105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Providers LearnReach can realistically serve through digital channels and direct outreach, starting in Rwanda.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Next: define geography, provider type, and service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783080"/>
            <a:ext cx="3474720" cy="242316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783080"/>
            <a:ext cx="82296" cy="24231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90195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SOM — Initial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04288"/>
            <a:ext cx="3108960" cy="18105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Planning target: 10 paying pilot clients in year one.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This is an internal goal, not a verified share of the market.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83069"/>
                </a:solidFill>
                <a:latin typeface="Aptos"/>
              </a:defRPr>
            </a:pPr>
            <a:r>
              <a:t>Evidence needed before final submission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111496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5010912"/>
            <a:ext cx="1001268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Use credible sources to count relevant providers and define the reachable segment.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641848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541264"/>
            <a:ext cx="1001268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Cite the source, year, geography, and calculation method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Service revenue with a clear, testable pricing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20574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82296" cy="205740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06324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Who pays?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063240" cy="14447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Independent online-course creators and small training providers with an existing course offer.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20574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82296" cy="205740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What do they buy?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14447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Campaign setup or monthly marketing support: messaging, content, promotion, enquiry tracking, and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429000" cy="20574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82296" cy="20574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06324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How much / how often?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04288"/>
            <a:ext cx="3063240" cy="14447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Working hypothesis: RWF 150,000 per month for a defined package. Test willingness to pay before treating this as final pricing.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14984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83069"/>
                </a:solidFill>
                <a:latin typeface="Aptos"/>
              </a:defRPr>
            </a:pPr>
            <a:r>
              <a:t>Value promise: clearer promotion, a more organized enquiry process, and reporting that helps clients decide what to improve.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987552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B6C80"/>
                </a:solidFill>
                <a:latin typeface="Aptos"/>
              </a:defRPr>
            </a:pPr>
            <a:r>
              <a:t>Pricing validation: discuss budgets, expected outcomes, and package scope during discovery calls and paid pilots.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Traction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Current proof is the working MVP; customer and revenue traction still need to be earned.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8328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82296" cy="224028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3017520" cy="16276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A website MVP with a business homepage, services information, and a contact section.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8328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82296" cy="224028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Next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04288"/>
            <a:ext cx="3017520" cy="16276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C2A3E"/>
                </a:solidFill>
                <a:latin typeface="Aptos"/>
              </a:defRPr>
            </a:pPr>
            <a:r>
              <a:t>Interview at least 10 course creators or training providers to test the problem and offer.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383280" cy="224028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82296" cy="22402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Next 60–90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04288"/>
            <a:ext cx="3017520" cy="16276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Aim to run 2 pilot campaigns, gather feedback, and review whether clients would renew.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2412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83069"/>
                </a:solidFill>
                <a:latin typeface="Aptos"/>
              </a:defRPr>
            </a:pPr>
            <a:r>
              <a:t>Metrics to track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056632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956048"/>
            <a:ext cx="99212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Outreach replies and discovery calls booked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586984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486400"/>
            <a:ext cx="99212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Proposals accepted and paid pilots won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117336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6016752"/>
            <a:ext cx="99212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Qualified enquiries, client feedback, and renewal intent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Competition &amp;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A focused education niche is the starting position—not yet a proven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82296" cy="2286000"/>
          </a:xfrm>
          <a:prstGeom prst="rect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DIY 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1752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Providers manage social media and course promotion themselves.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Trade-off: low cash cost, but time and consistency can be challenges.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8328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82296" cy="2286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General freelance marketers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04288"/>
            <a:ext cx="301752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Offer broad marketing services across many industries.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Trade-off: providers may need to explain education-specific goals and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783080"/>
            <a:ext cx="338328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783080"/>
            <a:ext cx="82296" cy="228600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01952"/>
            <a:ext cx="30175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LearnReach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04288"/>
            <a:ext cx="301752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Focused support for course promotion and learner enquiries.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Planned differentiation: education-specific learning, reliable delivery, and clear reporting.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Next step: interview target customers about the alternatives they use today, what they pay, and what is missing.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B6C80"/>
                </a:solidFill>
                <a:latin typeface="Aptos"/>
              </a:defRPr>
            </a:pPr>
            <a:r>
              <a:t>Named competitor research is still required before claiming a unique or defensible advantage.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Win a narrow beachhead first, then expand based on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228600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Phase 1 — 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0896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Target: independent online-course creators and small training providers.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Channel: personalized founder-led outreach.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Goal: 10 interviews; 2 paid pilot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82296" cy="228600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Phase 2 —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310896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If pilots show value, add tutors and training centers with similar needs.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Channels: referrals, LinkedIn, email, WhatsApp, and education communities.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91640"/>
            <a:ext cx="3474720" cy="22860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691640"/>
            <a:ext cx="82296" cy="2286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1051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Phase 3 — Repeatability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12848"/>
            <a:ext cx="3108960" cy="1673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Standardize campaign packages, onboarding checklists, and reporting.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Expand only when delivery and customer acquisition become repeatable.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83069"/>
                </a:solidFill>
                <a:latin typeface="Aptos"/>
              </a:defRPr>
            </a:pPr>
            <a:r>
              <a:t>Channel success metrics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37176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736592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30 personalized prospects contacted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67528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266944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Replies → discovery calls → proposals → paid pilots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797296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Cash and founder time per acquired client; renewal intent after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Illustrative revenue scenarios based on the current pricing hypothesis—not actual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828800" cy="658368"/>
          </a:xfrm>
          <a:prstGeom prst="rect">
            <a:avLst/>
          </a:prstGeom>
          <a:solidFill>
            <a:srgbClr val="0830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38528"/>
            <a:ext cx="1682496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828800"/>
            <a:ext cx="2560320" cy="658368"/>
          </a:xfrm>
          <a:prstGeom prst="rect">
            <a:avLst/>
          </a:prstGeom>
          <a:solidFill>
            <a:srgbClr val="0830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938528"/>
            <a:ext cx="2414015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Average active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59" y="1828800"/>
            <a:ext cx="2743200" cy="658368"/>
          </a:xfrm>
          <a:prstGeom prst="rect">
            <a:avLst/>
          </a:prstGeom>
          <a:solidFill>
            <a:srgbClr val="0830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1938528"/>
            <a:ext cx="2596896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Price / client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828800"/>
            <a:ext cx="3657600" cy="658368"/>
          </a:xfrm>
          <a:prstGeom prst="rect">
            <a:avLst/>
          </a:prstGeom>
          <a:solidFill>
            <a:srgbClr val="0830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938528"/>
            <a:ext cx="3511296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Illustrative annual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48716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624327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Year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487168"/>
            <a:ext cx="2560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2624327"/>
            <a:ext cx="2414015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59" y="248716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624327"/>
            <a:ext cx="25968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RWF 150,000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487168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2624327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83069"/>
                </a:solidFill>
                <a:latin typeface="Aptos"/>
              </a:defRPr>
            </a:pPr>
            <a:r>
              <a:t>RWF 5,400,000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145536"/>
            <a:ext cx="1828800" cy="658368"/>
          </a:xfrm>
          <a:prstGeom prst="rect">
            <a:avLst/>
          </a:prstGeom>
          <a:solidFill>
            <a:srgbClr val="E0F2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282696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Year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145536"/>
            <a:ext cx="2560320" cy="658368"/>
          </a:xfrm>
          <a:prstGeom prst="rect">
            <a:avLst/>
          </a:prstGeom>
          <a:solidFill>
            <a:srgbClr val="E0F2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3282696"/>
            <a:ext cx="2414015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59" y="3145536"/>
            <a:ext cx="2743200" cy="658368"/>
          </a:xfrm>
          <a:prstGeom prst="rect">
            <a:avLst/>
          </a:prstGeom>
          <a:solidFill>
            <a:srgbClr val="E0F2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9512" y="3282696"/>
            <a:ext cx="25968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RWF 150,000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3145536"/>
            <a:ext cx="3657600" cy="658368"/>
          </a:xfrm>
          <a:prstGeom prst="rect">
            <a:avLst/>
          </a:prstGeom>
          <a:solidFill>
            <a:srgbClr val="E0F2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2712" y="3282696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83069"/>
                </a:solidFill>
                <a:latin typeface="Aptos"/>
              </a:defRPr>
            </a:pPr>
            <a:r>
              <a:t>RWF 18,000,000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80390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3941064"/>
            <a:ext cx="16824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Year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803904"/>
            <a:ext cx="2560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3941064"/>
            <a:ext cx="2414015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6359" y="380390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9512" y="3941064"/>
            <a:ext cx="25968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C2A3E"/>
                </a:solidFill>
                <a:latin typeface="Aptos"/>
              </a:defRPr>
            </a:pPr>
            <a:r>
              <a:t>RWF 150,000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3803904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0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2712" y="3941064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83069"/>
                </a:solidFill>
                <a:latin typeface="Aptos"/>
              </a:defRPr>
            </a:pPr>
            <a:r>
              <a:t>RWF 39,600,000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83069"/>
                </a:solidFill>
                <a:latin typeface="Aptos"/>
              </a:defRPr>
            </a:pPr>
            <a:r>
              <a:t>Assumptions &amp; limitations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" y="5202936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3856" y="5102352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1C2A3E"/>
                </a:solidFill>
                <a:latin typeface="Aptos"/>
              </a:defRPr>
            </a:pPr>
            <a:r>
              <a:t>Revenue = average active clients × RWF 150,000 × 12 months.</a:t>
            </a:r>
          </a:p>
        </p:txBody>
      </p:sp>
      <p:sp>
        <p:nvSpPr>
          <p:cNvPr id="41" name="Oval 40"/>
          <p:cNvSpPr/>
          <p:nvPr/>
        </p:nvSpPr>
        <p:spPr>
          <a:xfrm>
            <a:off x="914400" y="5733288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3856" y="5632704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1C2A3E"/>
                </a:solidFill>
                <a:latin typeface="Aptos"/>
              </a:defRPr>
            </a:pPr>
            <a:r>
              <a:t>Figures exclude expenses, taxes, churn, ramp-up time, and months without clients.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6263640"/>
            <a:ext cx="109728" cy="109728"/>
          </a:xfrm>
          <a:prstGeom prst="ellipse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33856" y="6163056"/>
            <a:ext cx="982980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1C2A3E"/>
                </a:solidFill>
                <a:latin typeface="Aptos"/>
              </a:defRPr>
            </a:pPr>
            <a:r>
              <a:t>Validate price, conversion, retention, and delivery capacity before using as a forecast.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Founder-led at MVP stage; build capability around the customer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083069"/>
                </a:solidFill>
                <a:latin typeface="Aptos"/>
              </a:defRPr>
            </a:pPr>
            <a:r>
              <a:t>Ferdinand Hasingizwumukiza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2064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Founder, LearnReach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1C2A3E"/>
                </a:solidFill>
                <a:latin typeface="Aptos"/>
              </a:defRPr>
            </a:pPr>
            <a:r>
              <a:t>Building an education marketing and student recruitment service through the ALX Founder Academy journey.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4754880" cy="123444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783080"/>
            <a:ext cx="82296" cy="123444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01952"/>
            <a:ext cx="43891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Current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04288"/>
            <a:ext cx="4389120" cy="6217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Customer discovery, service definition, and MVP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46120"/>
            <a:ext cx="4754880" cy="123444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3246120"/>
            <a:ext cx="82296" cy="123444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3364991"/>
            <a:ext cx="438912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Capability to develop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67328"/>
            <a:ext cx="4389120" cy="6217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Campaign delivery, measurement, customer success, and repeatable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10332720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As the business grows, LearnReach will use customer feedback and pilot results to identify where specialist support or partnerships are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83069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05840" cy="54864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A proposed funding request to validate demand and deliver early pilots.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70E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3891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0070E6"/>
                </a:solidFill>
                <a:latin typeface="Aptos"/>
              </a:defRPr>
            </a:pPr>
            <a:r>
              <a:t>US$5,000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29768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Proposed pre-seed / grant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20624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B6C80"/>
                </a:solidFill>
                <a:latin typeface="Aptos"/>
              </a:defRPr>
            </a:pPr>
            <a:r>
              <a:t>Subject to funder fit, budget quotes, and pilot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737360"/>
            <a:ext cx="5852160" cy="182880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1737360"/>
            <a:ext cx="82296" cy="1828800"/>
          </a:xfrm>
          <a:prstGeom prst="rect">
            <a:avLst/>
          </a:prstGeom>
          <a:solidFill>
            <a:srgbClr val="007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1856231"/>
            <a:ext cx="54864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Use of funds (proposed)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258568"/>
            <a:ext cx="5486400" cy="12161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• Customer discovery and pilot delivery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• Marketing and content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• Essential digital tools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C2A3E"/>
                </a:solidFill>
                <a:latin typeface="Aptos"/>
              </a:defRPr>
            </a:pPr>
            <a:r>
              <a:t>• Specialist support when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840480"/>
            <a:ext cx="5852160" cy="1325880"/>
          </a:xfrm>
          <a:prstGeom prst="roundRect">
            <a:avLst/>
          </a:prstGeom>
          <a:solidFill>
            <a:srgbClr val="F4FAFF"/>
          </a:solidFill>
          <a:ln>
            <a:solidFill>
              <a:srgbClr val="D2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3840480"/>
            <a:ext cx="82296" cy="1325880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3959352"/>
            <a:ext cx="54864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83069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4361688"/>
            <a:ext cx="5486400" cy="71323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C2A3E"/>
                </a:solidFill>
                <a:latin typeface="Aptos"/>
              </a:defRPr>
            </a:pPr>
            <a:r>
              <a:t>Complete interviews, deliver 2 paid pilot campaigns, document outcomes, and refine a repeatable service package.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393192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E84B55"/>
                </a:solidFill>
                <a:latin typeface="Aptos"/>
              </a:defRPr>
            </a:pPr>
            <a:r>
              <a:t>The ask is a proposal, not funding already secured.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512064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LearnReach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371600"/>
            <a:ext cx="5303520" cy="10972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Better Marketing.</a:t>
            </a:r>
          </a:p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More Students.</a:t>
            </a:r>
          </a:p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Brighter Futures.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521208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CDE8FF"/>
                </a:solidFill>
                <a:latin typeface="Aptos"/>
              </a:defRPr>
            </a:pPr>
            <a:r>
              <a:t>Let's help good education reach the learners who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53949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Ferdinand Hasingizwumukiza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54864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DE8FF"/>
                </a:solidFill>
                <a:latin typeface="Aptos"/>
              </a:defRPr>
            </a:pPr>
            <a:r>
              <a:t>hasingizwumukiza@gmail.com  •  +250 733 220 022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DE8FF"/>
                </a:solidFill>
                <a:latin typeface="Aptos"/>
              </a:defRPr>
            </a:pPr>
            <a:r>
              <a:t>github.com/SitaMusita/learnreach-mvp</a:t>
            </a:r>
          </a:p>
        </p:txBody>
      </p:sp>
      <p:pic>
        <p:nvPicPr>
          <p:cNvPr id="7" name="Picture 6" descr="MVP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06880"/>
            <a:ext cx="5029200" cy="3352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CDE8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