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54d4fdd99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f54d4fdd99_0_2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f54d4fdd99_0_2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54d4fdd99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f54d4fdd99_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f54d4fdd99_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54d4fdd99_0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f54d4fdd99_0_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f54d4fdd99_0_2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54d4fdd99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f54d4fdd99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3f54d4fdd99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54d4fdd99_0_3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f54d4fdd99_0_3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g3f54d4fdd99_0_3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f54d4fdd99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g3f54d4fdd99_0_1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g3f54d4fdd99_0_1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4B"/>
        </a:solidFill>
      </p:bgPr>
    </p:bg>
    <p:spTree>
      <p:nvGrpSpPr>
        <p:cNvPr id="15" name="Shape 15"/>
        <p:cNvGrpSpPr/>
        <p:nvPr/>
      </p:nvGrpSpPr>
      <p:grpSpPr>
        <a:xfrm>
          <a:off x="0" y="0"/>
          <a:ext cx="0" cy="0"/>
          <a:chOff x="0" y="0"/>
          <a:chExt cx="0" cy="0"/>
        </a:xfrm>
      </p:grpSpPr>
      <p:sp>
        <p:nvSpPr>
          <p:cNvPr id="16" name="Google Shape;16;p3"/>
          <p:cNvSpPr/>
          <p:nvPr/>
        </p:nvSpPr>
        <p:spPr>
          <a:xfrm>
            <a:off x="7863840" y="-2743200"/>
            <a:ext cx="7315200" cy="7315200"/>
          </a:xfrm>
          <a:prstGeom prst="ellipse">
            <a:avLst/>
          </a:prstGeom>
          <a:solidFill>
            <a:srgbClr val="5B7FF0">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2743200" y="3840480"/>
            <a:ext cx="5486400" cy="5486400"/>
          </a:xfrm>
          <a:prstGeom prst="ellipse">
            <a:avLst/>
          </a:prstGeom>
          <a:solidFill>
            <a:srgbClr val="C7DD6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1371600"/>
            <a:ext cx="2194560" cy="329184"/>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48640" y="1371600"/>
            <a:ext cx="219456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150"/>
              <a:buFont typeface="Arial"/>
              <a:buNone/>
            </a:pPr>
            <a:r>
              <a:rPr b="1" i="0" lang="en-US" sz="1150" u="none" cap="none" strike="noStrike">
                <a:solidFill>
                  <a:srgbClr val="0E1B4B"/>
                </a:solidFill>
                <a:latin typeface="Arial"/>
                <a:ea typeface="Arial"/>
                <a:cs typeface="Arial"/>
                <a:sym typeface="Arial"/>
              </a:rPr>
              <a:t>FOUNDER WORKBOOK</a:t>
            </a:r>
            <a:endParaRPr b="0" i="0" sz="1150" u="none" cap="none" strike="noStrike">
              <a:solidFill>
                <a:schemeClr val="dk1"/>
              </a:solidFill>
              <a:latin typeface="Calibri"/>
              <a:ea typeface="Calibri"/>
              <a:cs typeface="Calibri"/>
              <a:sym typeface="Calibri"/>
            </a:endParaRPr>
          </a:p>
        </p:txBody>
      </p:sp>
      <p:sp>
        <p:nvSpPr>
          <p:cNvPr id="20" name="Google Shape;20;p3"/>
          <p:cNvSpPr/>
          <p:nvPr/>
        </p:nvSpPr>
        <p:spPr>
          <a:xfrm>
            <a:off x="548640" y="1874520"/>
            <a:ext cx="96012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200"/>
              <a:buFont typeface="Georgia"/>
              <a:buNone/>
            </a:pPr>
            <a:r>
              <a:rPr b="1" i="0" lang="en-US" sz="4200" u="none" cap="none" strike="noStrike">
                <a:solidFill>
                  <a:srgbClr val="FFFFFF"/>
                </a:solidFill>
                <a:latin typeface="Georgia"/>
                <a:ea typeface="Georgia"/>
                <a:cs typeface="Georgia"/>
                <a:sym typeface="Georgia"/>
              </a:rPr>
              <a:t>Startup Operations &amp; Launch Plan</a:t>
            </a:r>
            <a:endParaRPr b="0" i="0" sz="4200" u="none" cap="none" strike="noStrike">
              <a:solidFill>
                <a:schemeClr val="dk1"/>
              </a:solidFill>
              <a:latin typeface="Calibri"/>
              <a:ea typeface="Calibri"/>
              <a:cs typeface="Calibri"/>
              <a:sym typeface="Calibri"/>
            </a:endParaRPr>
          </a:p>
        </p:txBody>
      </p:sp>
      <p:sp>
        <p:nvSpPr>
          <p:cNvPr id="21" name="Google Shape;21;p3"/>
          <p:cNvSpPr/>
          <p:nvPr/>
        </p:nvSpPr>
        <p:spPr>
          <a:xfrm>
            <a:off x="548640" y="3246120"/>
            <a:ext cx="78638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1400"/>
              <a:buFont typeface="Arial"/>
              <a:buNone/>
            </a:pPr>
            <a:r>
              <a:rPr b="0" i="0">
                <a:solidFill>
                  <a:srgbClr val="A9C2F7"/>
                </a:solidFill>
                <a:latin typeface="Arial"/>
              </a:rPr>
              <a:t>LearnReach's working plan for customer acquisition, service delivery, financial validation and launch readiness.</a:t>
            </a:r>
            <a:endParaRPr b="0" i="0" sz="1400" u="none" cap="none" strike="noStrike">
              <a:solidFill>
                <a:schemeClr val="dk1"/>
              </a:solidFill>
              <a:latin typeface="Calibri"/>
              <a:ea typeface="Calibri"/>
              <a:cs typeface="Calibri"/>
              <a:sym typeface="Calibri"/>
            </a:endParaRPr>
          </a:p>
        </p:txBody>
      </p:sp>
      <p:sp>
        <p:nvSpPr>
          <p:cNvPr id="22" name="Google Shape;22;p3"/>
          <p:cNvSpPr/>
          <p:nvPr/>
        </p:nvSpPr>
        <p:spPr>
          <a:xfrm>
            <a:off x="548640" y="4160520"/>
            <a:ext cx="7955280" cy="868680"/>
          </a:xfrm>
          <a:prstGeom prst="rect">
            <a:avLst/>
          </a:prstGeom>
          <a:solidFill>
            <a:srgbClr val="132061"/>
          </a:solidFill>
          <a:ln cap="flat" cmpd="sng" w="9525">
            <a:solidFill>
              <a:srgbClr val="5B7F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777240" y="4297680"/>
            <a:ext cx="749808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150"/>
              <a:buFont typeface="Arial"/>
              <a:buNone/>
            </a:pPr>
            <a:r>
              <a:rPr b="1" i="0">
                <a:solidFill>
                  <a:srgbClr val="C7DD6E"/>
                </a:solidFill>
                <a:latin typeface="Arial"/>
              </a:rPr>
              <a:t>Planning document aligned with the LearnReach MVP demo. Assumptions are labelled for validation; confirm financial and legal details before committing.</a:t>
            </a:r>
            <a:endParaRPr b="0" i="0" sz="1150" u="none" cap="none" strike="noStrike">
              <a:solidFill>
                <a:schemeClr val="dk1"/>
              </a:solidFill>
              <a:latin typeface="Calibri"/>
              <a:ea typeface="Calibri"/>
              <a:cs typeface="Calibri"/>
              <a:sym typeface="Calibri"/>
            </a:endParaRPr>
          </a:p>
        </p:txBody>
      </p:sp>
      <p:sp>
        <p:nvSpPr>
          <p:cNvPr id="24" name="Google Shape;24;p3"/>
          <p:cNvSpPr/>
          <p:nvPr/>
        </p:nvSpPr>
        <p:spPr>
          <a:xfrm>
            <a:off x="548640" y="5532120"/>
            <a:ext cx="3749040" cy="50292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548640" y="5532120"/>
            <a:ext cx="37490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079"/>
              </a:buClr>
              <a:buSzPts val="1050"/>
              <a:buFont typeface="Arial"/>
              <a:buNone/>
            </a:pPr>
            <a:r>
              <a:rPr b="0" i="1">
                <a:solidFill>
                  <a:srgbClr val="5B6079"/>
                </a:solidFill>
                <a:latin typeface="Arial"/>
              </a:rPr>
              <a:t>LearnReach</a:t>
            </a:r>
            <a:endParaRPr b="0" i="0" sz="1050" u="none" cap="none" strike="noStrike">
              <a:solidFill>
                <a:schemeClr val="dk1"/>
              </a:solidFill>
              <a:latin typeface="Calibri"/>
              <a:ea typeface="Calibri"/>
              <a:cs typeface="Calibri"/>
              <a:sym typeface="Calibri"/>
            </a:endParaRPr>
          </a:p>
        </p:txBody>
      </p:sp>
      <p:sp>
        <p:nvSpPr>
          <p:cNvPr id="26" name="Google Shape;26;p3"/>
          <p:cNvSpPr/>
          <p:nvPr/>
        </p:nvSpPr>
        <p:spPr>
          <a:xfrm>
            <a:off x="4434840" y="5532120"/>
            <a:ext cx="1645920" cy="50292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4434840" y="5532120"/>
            <a:ext cx="1645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079"/>
              </a:buClr>
              <a:buSzPts val="1050"/>
              <a:buFont typeface="Arial"/>
              <a:buNone/>
            </a:pPr>
            <a:r>
              <a:rPr b="0" i="1">
                <a:solidFill>
                  <a:srgbClr val="5B6079"/>
                </a:solidFill>
                <a:latin typeface="Arial"/>
              </a:rPr>
              <a:t>23 October 2026</a:t>
            </a:r>
            <a:endParaRPr b="0" i="0" sz="1050" u="none" cap="none" strike="noStrike">
              <a:solidFill>
                <a:schemeClr val="dk1"/>
              </a:solidFill>
              <a:latin typeface="Calibri"/>
              <a:ea typeface="Calibri"/>
              <a:cs typeface="Calibri"/>
              <a:sym typeface="Calibri"/>
            </a:endParaRPr>
          </a:p>
        </p:txBody>
      </p:sp>
      <p:pic>
        <p:nvPicPr>
          <p:cNvPr id="28" name="Google Shape;28;p3" title="logo_white.png"/>
          <p:cNvPicPr preferRelativeResize="0"/>
          <p:nvPr/>
        </p:nvPicPr>
        <p:blipFill>
          <a:blip r:embed="rId3">
            <a:alphaModFix/>
          </a:blip>
          <a:stretch>
            <a:fillRect/>
          </a:stretch>
        </p:blipFill>
        <p:spPr>
          <a:xfrm>
            <a:off x="440474" y="25"/>
            <a:ext cx="1645901" cy="16459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4"/>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411480" y="777240"/>
            <a:ext cx="2651760"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11480" y="777240"/>
            <a:ext cx="2651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GETTING STARTED</a:t>
            </a:r>
            <a:endParaRPr b="0" i="0" sz="1100" u="none" cap="none" strike="noStrike">
              <a:solidFill>
                <a:schemeClr val="dk1"/>
              </a:solidFill>
              <a:latin typeface="Calibri"/>
              <a:ea typeface="Calibri"/>
              <a:cs typeface="Calibri"/>
              <a:sym typeface="Calibri"/>
            </a:endParaRPr>
          </a:p>
        </p:txBody>
      </p:sp>
      <p:sp>
        <p:nvSpPr>
          <p:cNvPr id="38" name="Google Shape;38;p4"/>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How To Use This Template</a:t>
            </a:r>
            <a:endParaRPr b="0" i="0" sz="2700" u="none" cap="none" strike="noStrike">
              <a:solidFill>
                <a:schemeClr val="dk1"/>
              </a:solidFill>
              <a:latin typeface="Calibri"/>
              <a:ea typeface="Calibri"/>
              <a:cs typeface="Calibri"/>
              <a:sym typeface="Calibri"/>
            </a:endParaRPr>
          </a:p>
        </p:txBody>
      </p:sp>
      <p:sp>
        <p:nvSpPr>
          <p:cNvPr id="39" name="Google Shape;39;p4"/>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411480" y="2148840"/>
            <a:ext cx="5501488" cy="178308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67512" y="2404872"/>
            <a:ext cx="502920" cy="50292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clipboard_C7DD6E.png" id="42" name="Google Shape;42;p4"/>
          <p:cNvPicPr preferRelativeResize="0"/>
          <p:nvPr/>
        </p:nvPicPr>
        <p:blipFill rotWithShape="1">
          <a:blip r:embed="rId3">
            <a:alphaModFix/>
          </a:blip>
          <a:srcRect b="0" l="0" r="0" t="0"/>
          <a:stretch/>
        </p:blipFill>
        <p:spPr>
          <a:xfrm>
            <a:off x="798271" y="2535631"/>
            <a:ext cx="241402" cy="241402"/>
          </a:xfrm>
          <a:prstGeom prst="rect">
            <a:avLst/>
          </a:prstGeom>
          <a:noFill/>
          <a:ln>
            <a:noFill/>
          </a:ln>
        </p:spPr>
      </p:pic>
      <p:sp>
        <p:nvSpPr>
          <p:cNvPr id="43" name="Google Shape;43;p4"/>
          <p:cNvSpPr/>
          <p:nvPr/>
        </p:nvSpPr>
        <p:spPr>
          <a:xfrm>
            <a:off x="1325880" y="2377440"/>
            <a:ext cx="435848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400"/>
              <a:buFont typeface="Arial"/>
              <a:buNone/>
            </a:pPr>
            <a:r>
              <a:rPr b="1" i="0" lang="en-US" sz="1400" u="none" cap="none" strike="noStrike">
                <a:solidFill>
                  <a:srgbClr val="0E1B4B"/>
                </a:solidFill>
                <a:latin typeface="Arial"/>
                <a:ea typeface="Arial"/>
                <a:cs typeface="Arial"/>
                <a:sym typeface="Arial"/>
              </a:rPr>
              <a:t>Fill in every dashed box</a:t>
            </a:r>
            <a:endParaRPr b="0" i="0" sz="1400" u="none" cap="none" strike="noStrike">
              <a:solidFill>
                <a:schemeClr val="dk1"/>
              </a:solidFill>
              <a:latin typeface="Calibri"/>
              <a:ea typeface="Calibri"/>
              <a:cs typeface="Calibri"/>
              <a:sym typeface="Calibri"/>
            </a:endParaRPr>
          </a:p>
        </p:txBody>
      </p:sp>
      <p:sp>
        <p:nvSpPr>
          <p:cNvPr id="44" name="Google Shape;44;p4"/>
          <p:cNvSpPr/>
          <p:nvPr/>
        </p:nvSpPr>
        <p:spPr>
          <a:xfrm>
            <a:off x="667512" y="2971800"/>
            <a:ext cx="4989424"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50"/>
              </a:buClr>
              <a:buSzPts val="1100"/>
              <a:buFont typeface="Arial"/>
              <a:buNone/>
            </a:pPr>
            <a:r>
              <a:rPr b="0" i="0" lang="en-US" sz="1100" u="none" cap="none" strike="noStrike">
                <a:solidFill>
                  <a:srgbClr val="1B2450"/>
                </a:solidFill>
                <a:latin typeface="Arial"/>
                <a:ea typeface="Arial"/>
                <a:cs typeface="Arial"/>
                <a:sym typeface="Arial"/>
              </a:rPr>
              <a:t>Dashed, italic gray text marks a field to replace. Click it, delete the prompt, and type your own answer directly on the slide.</a:t>
            </a:r>
            <a:endParaRPr b="0" i="0" sz="1100" u="none" cap="none" strike="noStrike">
              <a:solidFill>
                <a:schemeClr val="dk1"/>
              </a:solidFill>
              <a:latin typeface="Calibri"/>
              <a:ea typeface="Calibri"/>
              <a:cs typeface="Calibri"/>
              <a:sym typeface="Calibri"/>
            </a:endParaRPr>
          </a:p>
        </p:txBody>
      </p:sp>
      <p:sp>
        <p:nvSpPr>
          <p:cNvPr id="45" name="Google Shape;45;p4"/>
          <p:cNvSpPr/>
          <p:nvPr/>
        </p:nvSpPr>
        <p:spPr>
          <a:xfrm>
            <a:off x="6278728" y="2148840"/>
            <a:ext cx="5501488" cy="178308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6534760" y="2404872"/>
            <a:ext cx="502920" cy="50292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sitemap_C7DD6E.png" id="47" name="Google Shape;47;p4"/>
          <p:cNvPicPr preferRelativeResize="0"/>
          <p:nvPr/>
        </p:nvPicPr>
        <p:blipFill rotWithShape="1">
          <a:blip r:embed="rId4">
            <a:alphaModFix/>
          </a:blip>
          <a:srcRect b="0" l="0" r="0" t="0"/>
          <a:stretch/>
        </p:blipFill>
        <p:spPr>
          <a:xfrm>
            <a:off x="6665519" y="2535631"/>
            <a:ext cx="241402" cy="241402"/>
          </a:xfrm>
          <a:prstGeom prst="rect">
            <a:avLst/>
          </a:prstGeom>
          <a:noFill/>
          <a:ln>
            <a:noFill/>
          </a:ln>
        </p:spPr>
      </p:pic>
      <p:sp>
        <p:nvSpPr>
          <p:cNvPr id="48" name="Google Shape;48;p4"/>
          <p:cNvSpPr/>
          <p:nvPr/>
        </p:nvSpPr>
        <p:spPr>
          <a:xfrm>
            <a:off x="7193128" y="2377440"/>
            <a:ext cx="435848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400"/>
              <a:buFont typeface="Arial"/>
              <a:buNone/>
            </a:pPr>
            <a:r>
              <a:rPr b="1" i="0" lang="en-US" sz="1400" u="none" cap="none" strike="noStrike">
                <a:solidFill>
                  <a:srgbClr val="0E1B4B"/>
                </a:solidFill>
                <a:latin typeface="Arial"/>
                <a:ea typeface="Arial"/>
                <a:cs typeface="Arial"/>
                <a:sym typeface="Arial"/>
              </a:rPr>
              <a:t>Follow the section order</a:t>
            </a:r>
            <a:endParaRPr b="0" i="0" sz="1400" u="none" cap="none" strike="noStrike">
              <a:solidFill>
                <a:schemeClr val="dk1"/>
              </a:solidFill>
              <a:latin typeface="Calibri"/>
              <a:ea typeface="Calibri"/>
              <a:cs typeface="Calibri"/>
              <a:sym typeface="Calibri"/>
            </a:endParaRPr>
          </a:p>
        </p:txBody>
      </p:sp>
      <p:sp>
        <p:nvSpPr>
          <p:cNvPr id="49" name="Google Shape;49;p4"/>
          <p:cNvSpPr/>
          <p:nvPr/>
        </p:nvSpPr>
        <p:spPr>
          <a:xfrm>
            <a:off x="6534760" y="2971800"/>
            <a:ext cx="4989424"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50"/>
              </a:buClr>
              <a:buSzPts val="1100"/>
              <a:buFont typeface="Arial"/>
              <a:buNone/>
            </a:pPr>
            <a:r>
              <a:rPr b="0" i="0" lang="en-US" sz="1100" u="none" cap="none" strike="noStrike">
                <a:solidFill>
                  <a:srgbClr val="1B2450"/>
                </a:solidFill>
                <a:latin typeface="Arial"/>
                <a:ea typeface="Arial"/>
                <a:cs typeface="Arial"/>
                <a:sym typeface="Arial"/>
              </a:rPr>
              <a:t>Three sections — GTM &amp; Marketing, Operations, and Legal Structure — each open with a divider slide. Work through them in order or jump to what you need.</a:t>
            </a:r>
            <a:endParaRPr b="0" i="0" sz="1100" u="none" cap="none" strike="noStrike">
              <a:solidFill>
                <a:schemeClr val="dk1"/>
              </a:solidFill>
              <a:latin typeface="Calibri"/>
              <a:ea typeface="Calibri"/>
              <a:cs typeface="Calibri"/>
              <a:sym typeface="Calibri"/>
            </a:endParaRPr>
          </a:p>
        </p:txBody>
      </p:sp>
      <p:sp>
        <p:nvSpPr>
          <p:cNvPr id="50" name="Google Shape;50;p4"/>
          <p:cNvSpPr/>
          <p:nvPr/>
        </p:nvSpPr>
        <p:spPr>
          <a:xfrm>
            <a:off x="411480" y="4206240"/>
            <a:ext cx="5501488" cy="178308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667512" y="4462272"/>
            <a:ext cx="502920" cy="50292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bullseye_C7DD6E.png" id="52" name="Google Shape;52;p4"/>
          <p:cNvPicPr preferRelativeResize="0"/>
          <p:nvPr/>
        </p:nvPicPr>
        <p:blipFill rotWithShape="1">
          <a:blip r:embed="rId5">
            <a:alphaModFix/>
          </a:blip>
          <a:srcRect b="0" l="0" r="0" t="0"/>
          <a:stretch/>
        </p:blipFill>
        <p:spPr>
          <a:xfrm>
            <a:off x="798271" y="4593031"/>
            <a:ext cx="241402" cy="241402"/>
          </a:xfrm>
          <a:prstGeom prst="rect">
            <a:avLst/>
          </a:prstGeom>
          <a:noFill/>
          <a:ln>
            <a:noFill/>
          </a:ln>
        </p:spPr>
      </p:pic>
      <p:sp>
        <p:nvSpPr>
          <p:cNvPr id="53" name="Google Shape;53;p4"/>
          <p:cNvSpPr/>
          <p:nvPr/>
        </p:nvSpPr>
        <p:spPr>
          <a:xfrm>
            <a:off x="1325880" y="4434840"/>
            <a:ext cx="435848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400"/>
              <a:buFont typeface="Arial"/>
              <a:buNone/>
            </a:pPr>
            <a:r>
              <a:rPr b="1" i="0" lang="en-US" sz="1400" u="none" cap="none" strike="noStrike">
                <a:solidFill>
                  <a:srgbClr val="0E1B4B"/>
                </a:solidFill>
                <a:latin typeface="Arial"/>
                <a:ea typeface="Arial"/>
                <a:cs typeface="Arial"/>
                <a:sym typeface="Arial"/>
              </a:rPr>
              <a:t>Keep answers specific</a:t>
            </a:r>
            <a:endParaRPr b="0" i="0" sz="1400" u="none" cap="none" strike="noStrike">
              <a:solidFill>
                <a:schemeClr val="dk1"/>
              </a:solidFill>
              <a:latin typeface="Calibri"/>
              <a:ea typeface="Calibri"/>
              <a:cs typeface="Calibri"/>
              <a:sym typeface="Calibri"/>
            </a:endParaRPr>
          </a:p>
        </p:txBody>
      </p:sp>
      <p:sp>
        <p:nvSpPr>
          <p:cNvPr id="54" name="Google Shape;54;p4"/>
          <p:cNvSpPr/>
          <p:nvPr/>
        </p:nvSpPr>
        <p:spPr>
          <a:xfrm>
            <a:off x="667512" y="5029200"/>
            <a:ext cx="4989424"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50"/>
              </a:buClr>
              <a:buSzPts val="1100"/>
              <a:buFont typeface="Arial"/>
              <a:buNone/>
            </a:pPr>
            <a:r>
              <a:rPr b="0" i="0" lang="en-US" sz="1100" u="none" cap="none" strike="noStrike">
                <a:solidFill>
                  <a:srgbClr val="1B2450"/>
                </a:solidFill>
                <a:latin typeface="Arial"/>
                <a:ea typeface="Arial"/>
                <a:cs typeface="Arial"/>
                <a:sym typeface="Arial"/>
              </a:rPr>
              <a:t>Write real names, numbers, and dates — not generic statements. A specific, half-finished plan beats a polished, vague one.</a:t>
            </a:r>
            <a:endParaRPr b="0" i="0" sz="1100" u="none" cap="none" strike="noStrike">
              <a:solidFill>
                <a:schemeClr val="dk1"/>
              </a:solidFill>
              <a:latin typeface="Calibri"/>
              <a:ea typeface="Calibri"/>
              <a:cs typeface="Calibri"/>
              <a:sym typeface="Calibri"/>
            </a:endParaRPr>
          </a:p>
        </p:txBody>
      </p:sp>
      <p:sp>
        <p:nvSpPr>
          <p:cNvPr id="55" name="Google Shape;55;p4"/>
          <p:cNvSpPr/>
          <p:nvPr/>
        </p:nvSpPr>
        <p:spPr>
          <a:xfrm>
            <a:off x="6278728" y="4206240"/>
            <a:ext cx="5501488" cy="178308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6534760" y="4462272"/>
            <a:ext cx="502920" cy="50292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layers_C7DD6E.png" id="57" name="Google Shape;57;p4"/>
          <p:cNvPicPr preferRelativeResize="0"/>
          <p:nvPr/>
        </p:nvPicPr>
        <p:blipFill rotWithShape="1">
          <a:blip r:embed="rId6">
            <a:alphaModFix/>
          </a:blip>
          <a:srcRect b="0" l="0" r="0" t="0"/>
          <a:stretch/>
        </p:blipFill>
        <p:spPr>
          <a:xfrm>
            <a:off x="6665519" y="4593031"/>
            <a:ext cx="241402" cy="241402"/>
          </a:xfrm>
          <a:prstGeom prst="rect">
            <a:avLst/>
          </a:prstGeom>
          <a:noFill/>
          <a:ln>
            <a:noFill/>
          </a:ln>
        </p:spPr>
      </p:pic>
      <p:sp>
        <p:nvSpPr>
          <p:cNvPr id="58" name="Google Shape;58;p4"/>
          <p:cNvSpPr/>
          <p:nvPr/>
        </p:nvSpPr>
        <p:spPr>
          <a:xfrm>
            <a:off x="7193128" y="4434840"/>
            <a:ext cx="435848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400"/>
              <a:buFont typeface="Arial"/>
              <a:buNone/>
            </a:pPr>
            <a:r>
              <a:rPr b="1" i="0" lang="en-US" sz="1400" u="none" cap="none" strike="noStrike">
                <a:solidFill>
                  <a:srgbClr val="0E1B4B"/>
                </a:solidFill>
                <a:latin typeface="Arial"/>
                <a:ea typeface="Arial"/>
                <a:cs typeface="Arial"/>
                <a:sym typeface="Arial"/>
              </a:rPr>
              <a:t>Duplicate cards as needed</a:t>
            </a:r>
            <a:endParaRPr b="0" i="0" sz="1400" u="none" cap="none" strike="noStrike">
              <a:solidFill>
                <a:schemeClr val="dk1"/>
              </a:solidFill>
              <a:latin typeface="Calibri"/>
              <a:ea typeface="Calibri"/>
              <a:cs typeface="Calibri"/>
              <a:sym typeface="Calibri"/>
            </a:endParaRPr>
          </a:p>
        </p:txBody>
      </p:sp>
      <p:sp>
        <p:nvSpPr>
          <p:cNvPr id="59" name="Google Shape;59;p4"/>
          <p:cNvSpPr/>
          <p:nvPr/>
        </p:nvSpPr>
        <p:spPr>
          <a:xfrm>
            <a:off x="6534760" y="5029200"/>
            <a:ext cx="4989424"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50"/>
              </a:buClr>
              <a:buSzPts val="1100"/>
              <a:buFont typeface="Arial"/>
              <a:buNone/>
            </a:pPr>
            <a:r>
              <a:rPr b="0" i="0" lang="en-US" sz="1100" u="none" cap="none" strike="noStrike">
                <a:solidFill>
                  <a:srgbClr val="1B2450"/>
                </a:solidFill>
                <a:latin typeface="Arial"/>
                <a:ea typeface="Arial"/>
                <a:cs typeface="Arial"/>
                <a:sym typeface="Arial"/>
              </a:rPr>
              <a:t>Need a 4th SOP or a 3rd contract? Right-click a card or row in PowerPoint's slide/outline view and duplicate it, then edit the copy.</a:t>
            </a:r>
            <a:endParaRPr b="0" i="0" sz="1100" u="none" cap="none" strike="noStrike">
              <a:solidFill>
                <a:schemeClr val="dk1"/>
              </a:solidFill>
              <a:latin typeface="Calibri"/>
              <a:ea typeface="Calibri"/>
              <a:cs typeface="Calibri"/>
              <a:sym typeface="Calibri"/>
            </a:endParaRPr>
          </a:p>
        </p:txBody>
      </p:sp>
      <p:sp>
        <p:nvSpPr>
          <p:cNvPr id="60" name="Google Shape;60;p4"/>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Startup Operations &amp; Launch Plan</a:t>
            </a:r>
            <a:endParaRPr b="0" i="0" sz="900" u="none" cap="none" strike="noStrike">
              <a:solidFill>
                <a:schemeClr val="dk1"/>
              </a:solidFill>
              <a:latin typeface="Calibri"/>
              <a:ea typeface="Calibri"/>
              <a:cs typeface="Calibri"/>
              <a:sym typeface="Calibri"/>
            </a:endParaRPr>
          </a:p>
        </p:txBody>
      </p:sp>
      <p:sp>
        <p:nvSpPr>
          <p:cNvPr id="61" name="Google Shape;61;p4"/>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2</a:t>
            </a:r>
            <a:endParaRPr b="0" i="0" sz="900" u="none" cap="none" strike="noStrike">
              <a:solidFill>
                <a:schemeClr val="dk1"/>
              </a:solidFill>
              <a:latin typeface="Calibri"/>
              <a:ea typeface="Calibri"/>
              <a:cs typeface="Calibri"/>
              <a:sym typeface="Calibri"/>
            </a:endParaRPr>
          </a:p>
        </p:txBody>
      </p:sp>
      <p:cxnSp>
        <p:nvCxnSpPr>
          <p:cNvPr id="62" name="Google Shape;62;p4"/>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4B"/>
        </a:solidFill>
      </p:bgPr>
    </p:bg>
    <p:spTree>
      <p:nvGrpSpPr>
        <p:cNvPr id="67" name="Shape 67"/>
        <p:cNvGrpSpPr/>
        <p:nvPr/>
      </p:nvGrpSpPr>
      <p:grpSpPr>
        <a:xfrm>
          <a:off x="0" y="0"/>
          <a:ext cx="0" cy="0"/>
          <a:chOff x="0" y="0"/>
          <a:chExt cx="0" cy="0"/>
        </a:xfrm>
      </p:grpSpPr>
      <p:sp>
        <p:nvSpPr>
          <p:cNvPr id="68" name="Google Shape;68;p5"/>
          <p:cNvSpPr/>
          <p:nvPr/>
        </p:nvSpPr>
        <p:spPr>
          <a:xfrm>
            <a:off x="8412480" y="-2377440"/>
            <a:ext cx="6400800" cy="6400800"/>
          </a:xfrm>
          <a:prstGeom prst="ellipse">
            <a:avLst/>
          </a:prstGeom>
          <a:solidFill>
            <a:srgbClr val="5B7FF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2377440" y="4206240"/>
            <a:ext cx="4754880" cy="4754880"/>
          </a:xfrm>
          <a:prstGeom prst="ellipse">
            <a:avLst/>
          </a:prstGeom>
          <a:solidFill>
            <a:srgbClr val="C7DD6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502920" y="1417320"/>
            <a:ext cx="777240" cy="777240"/>
          </a:xfrm>
          <a:prstGeom prst="ellipse">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bullhorn2_0E1B4B.png" id="71" name="Google Shape;71;p5"/>
          <p:cNvPicPr preferRelativeResize="0"/>
          <p:nvPr/>
        </p:nvPicPr>
        <p:blipFill rotWithShape="1">
          <a:blip r:embed="rId3">
            <a:alphaModFix/>
          </a:blip>
          <a:srcRect b="0" l="0" r="0" t="0"/>
          <a:stretch/>
        </p:blipFill>
        <p:spPr>
          <a:xfrm>
            <a:off x="705002" y="1619402"/>
            <a:ext cx="373075" cy="373075"/>
          </a:xfrm>
          <a:prstGeom prst="rect">
            <a:avLst/>
          </a:prstGeom>
          <a:noFill/>
          <a:ln>
            <a:noFill/>
          </a:ln>
        </p:spPr>
      </p:pic>
      <p:sp>
        <p:nvSpPr>
          <p:cNvPr id="72" name="Google Shape;72;p5"/>
          <p:cNvSpPr/>
          <p:nvPr/>
        </p:nvSpPr>
        <p:spPr>
          <a:xfrm>
            <a:off x="1463040" y="146304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SECTION 1</a:t>
            </a:r>
            <a:endParaRPr b="0" i="0" sz="1300" u="none" cap="none" strike="noStrike">
              <a:solidFill>
                <a:schemeClr val="dk1"/>
              </a:solidFill>
              <a:latin typeface="Calibri"/>
              <a:ea typeface="Calibri"/>
              <a:cs typeface="Calibri"/>
              <a:sym typeface="Calibri"/>
            </a:endParaRPr>
          </a:p>
        </p:txBody>
      </p:sp>
      <p:sp>
        <p:nvSpPr>
          <p:cNvPr id="73" name="Google Shape;73;p5"/>
          <p:cNvSpPr/>
          <p:nvPr/>
        </p:nvSpPr>
        <p:spPr>
          <a:xfrm>
            <a:off x="502920" y="2834640"/>
            <a:ext cx="86868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1" lang="en-US" sz="4000">
                <a:solidFill>
                  <a:srgbClr val="FFFFFF"/>
                </a:solidFill>
                <a:latin typeface="Georgia"/>
                <a:ea typeface="Georgia"/>
                <a:cs typeface="Georgia"/>
                <a:sym typeface="Georgia"/>
              </a:rPr>
              <a:t>Sales &amp;</a:t>
            </a:r>
            <a:r>
              <a:rPr b="1" i="0" lang="en-US" sz="4000" u="none" cap="none" strike="noStrike">
                <a:solidFill>
                  <a:srgbClr val="FFFFFF"/>
                </a:solidFill>
                <a:latin typeface="Georgia"/>
                <a:ea typeface="Georgia"/>
                <a:cs typeface="Georgia"/>
                <a:sym typeface="Georgia"/>
              </a:rPr>
              <a:t> Marketing Strategy</a:t>
            </a:r>
            <a:endParaRPr b="0" i="0" sz="4000" u="none" cap="none" strike="noStrike">
              <a:solidFill>
                <a:schemeClr val="dk1"/>
              </a:solidFill>
              <a:latin typeface="Calibri"/>
              <a:ea typeface="Calibri"/>
              <a:cs typeface="Calibri"/>
              <a:sym typeface="Calibri"/>
            </a:endParaRPr>
          </a:p>
        </p:txBody>
      </p:sp>
      <p:sp>
        <p:nvSpPr>
          <p:cNvPr id="74" name="Google Shape;74;p5"/>
          <p:cNvSpPr/>
          <p:nvPr/>
        </p:nvSpPr>
        <p:spPr>
          <a:xfrm>
            <a:off x="502920" y="3977640"/>
            <a:ext cx="1005840"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502920" y="4160520"/>
            <a:ext cx="78638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1500"/>
              <a:buFont typeface="Arial"/>
              <a:buNone/>
            </a:pPr>
            <a:r>
              <a:rPr b="0" i="0" lang="en-US" sz="1500" u="none" cap="none" strike="noStrike">
                <a:solidFill>
                  <a:srgbClr val="A9C2F7"/>
                </a:solidFill>
                <a:latin typeface="Arial"/>
                <a:ea typeface="Arial"/>
                <a:cs typeface="Arial"/>
                <a:sym typeface="Arial"/>
              </a:rPr>
              <a:t>Define who you're selling to, how you'll reach them, and how they'll buy. </a:t>
            </a:r>
            <a:endParaRPr b="0" i="0" sz="1500" u="none" cap="none" strike="noStrike">
              <a:solidFill>
                <a:schemeClr val="dk1"/>
              </a:solidFill>
              <a:latin typeface="Calibri"/>
              <a:ea typeface="Calibri"/>
              <a:cs typeface="Calibri"/>
              <a:sym typeface="Calibri"/>
            </a:endParaRPr>
          </a:p>
        </p:txBody>
      </p:sp>
      <p:sp>
        <p:nvSpPr>
          <p:cNvPr id="76" name="Google Shape;76;p5"/>
          <p:cNvSpPr/>
          <p:nvPr/>
        </p:nvSpPr>
        <p:spPr>
          <a:xfrm>
            <a:off x="502920" y="6309360"/>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900"/>
              <a:buFont typeface="Arial"/>
              <a:buNone/>
            </a:pPr>
            <a:r>
              <a:rPr b="0" i="0" lang="en-US" sz="900" u="none" cap="none" strike="noStrike">
                <a:solidFill>
                  <a:srgbClr val="A9C2F7"/>
                </a:solidFill>
                <a:latin typeface="Arial"/>
                <a:ea typeface="Arial"/>
                <a:cs typeface="Arial"/>
                <a:sym typeface="Arial"/>
              </a:rPr>
              <a:t>FOUNDER WORKBOOK · STARTUP OPERATIONS &amp; LAUNCH PLAN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6"/>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411480" y="777240"/>
            <a:ext cx="2651760"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411480" y="777240"/>
            <a:ext cx="2651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1 · </a:t>
            </a:r>
            <a:r>
              <a:rPr b="1" lang="en-US" sz="1100">
                <a:solidFill>
                  <a:srgbClr val="C7DD6E"/>
                </a:solidFill>
              </a:rPr>
              <a:t>Sales &amp; Marketing</a:t>
            </a:r>
            <a:endParaRPr b="0" i="0" sz="1100" u="none" cap="none" strike="noStrike">
              <a:solidFill>
                <a:schemeClr val="dk1"/>
              </a:solidFill>
              <a:latin typeface="Calibri"/>
              <a:ea typeface="Calibri"/>
              <a:cs typeface="Calibri"/>
              <a:sym typeface="Calibri"/>
            </a:endParaRPr>
          </a:p>
        </p:txBody>
      </p:sp>
      <p:sp>
        <p:nvSpPr>
          <p:cNvPr id="86" name="Google Shape;86;p6"/>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Brand Identity</a:t>
            </a:r>
            <a:endParaRPr b="0" i="0" sz="2700" u="none" cap="none" strike="noStrike">
              <a:solidFill>
                <a:schemeClr val="dk1"/>
              </a:solidFill>
              <a:latin typeface="Calibri"/>
              <a:ea typeface="Calibri"/>
              <a:cs typeface="Calibri"/>
              <a:sym typeface="Calibri"/>
            </a:endParaRPr>
          </a:p>
        </p:txBody>
      </p:sp>
      <p:sp>
        <p:nvSpPr>
          <p:cNvPr id="87" name="Google Shape;87;p6"/>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411480" y="1828800"/>
            <a:ext cx="1136873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State your brand mission, personality, voice, and visual direction in one place.</a:t>
            </a:r>
            <a:endParaRPr b="0" i="0" sz="1250" u="none" cap="none" strike="noStrike">
              <a:solidFill>
                <a:schemeClr val="dk1"/>
              </a:solidFill>
              <a:latin typeface="Calibri"/>
              <a:ea typeface="Calibri"/>
              <a:cs typeface="Calibri"/>
              <a:sym typeface="Calibri"/>
            </a:endParaRPr>
          </a:p>
        </p:txBody>
      </p:sp>
      <p:sp>
        <p:nvSpPr>
          <p:cNvPr id="89" name="Google Shape;89;p6"/>
          <p:cNvSpPr/>
          <p:nvPr/>
        </p:nvSpPr>
        <p:spPr>
          <a:xfrm>
            <a:off x="411480" y="2286000"/>
            <a:ext cx="11368735" cy="86868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539496" y="2359152"/>
            <a:ext cx="1111270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BRAND MISSION (ONE SENTENCE)</a:t>
            </a:r>
            <a:endParaRPr b="0" i="0" sz="1050" u="none" cap="none" strike="noStrike">
              <a:solidFill>
                <a:schemeClr val="dk1"/>
              </a:solidFill>
              <a:latin typeface="Calibri"/>
              <a:ea typeface="Calibri"/>
              <a:cs typeface="Calibri"/>
              <a:sym typeface="Calibri"/>
            </a:endParaRPr>
          </a:p>
        </p:txBody>
      </p:sp>
      <p:sp>
        <p:nvSpPr>
          <p:cNvPr id="91" name="Google Shape;91;p6"/>
          <p:cNvSpPr/>
          <p:nvPr/>
        </p:nvSpPr>
        <p:spPr>
          <a:xfrm>
            <a:off x="539496" y="2633472"/>
            <a:ext cx="11112703" cy="4480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We help educational businesses reach more students through clear, focused digital marketing.</a:t>
            </a:r>
            <a:endParaRPr b="0" i="0" sz="1050" u="none" cap="none" strike="noStrike">
              <a:solidFill>
                <a:schemeClr val="dk1"/>
              </a:solidFill>
              <a:latin typeface="Calibri"/>
              <a:ea typeface="Calibri"/>
              <a:cs typeface="Calibri"/>
              <a:sym typeface="Calibri"/>
            </a:endParaRPr>
          </a:p>
        </p:txBody>
      </p:sp>
      <p:sp>
        <p:nvSpPr>
          <p:cNvPr id="92" name="Google Shape;92;p6"/>
          <p:cNvSpPr/>
          <p:nvPr/>
        </p:nvSpPr>
        <p:spPr>
          <a:xfrm>
            <a:off x="411480" y="3282696"/>
            <a:ext cx="11368735" cy="86868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539496" y="3355848"/>
            <a:ext cx="1111270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BRAND PERSONALITY (3–5 ADJECTIVES)</a:t>
            </a:r>
            <a:endParaRPr b="0" i="0" sz="1050" u="none" cap="none" strike="noStrike">
              <a:solidFill>
                <a:schemeClr val="dk1"/>
              </a:solidFill>
              <a:latin typeface="Calibri"/>
              <a:ea typeface="Calibri"/>
              <a:cs typeface="Calibri"/>
              <a:sym typeface="Calibri"/>
            </a:endParaRPr>
          </a:p>
        </p:txBody>
      </p:sp>
      <p:sp>
        <p:nvSpPr>
          <p:cNvPr id="94" name="Google Shape;94;p6"/>
          <p:cNvSpPr/>
          <p:nvPr/>
        </p:nvSpPr>
        <p:spPr>
          <a:xfrm>
            <a:off x="539496" y="3630168"/>
            <a:ext cx="11112703" cy="4480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Clear · Helpful · Practical · Trustworthy · Student-focused</a:t>
            </a:r>
            <a:endParaRPr b="0" i="0" sz="1050" u="none" cap="none" strike="noStrike">
              <a:solidFill>
                <a:schemeClr val="dk1"/>
              </a:solidFill>
              <a:latin typeface="Calibri"/>
              <a:ea typeface="Calibri"/>
              <a:cs typeface="Calibri"/>
              <a:sym typeface="Calibri"/>
            </a:endParaRPr>
          </a:p>
        </p:txBody>
      </p:sp>
      <p:sp>
        <p:nvSpPr>
          <p:cNvPr id="95" name="Google Shape;95;p6"/>
          <p:cNvSpPr/>
          <p:nvPr/>
        </p:nvSpPr>
        <p:spPr>
          <a:xfrm>
            <a:off x="411480" y="4279392"/>
            <a:ext cx="11368735" cy="86868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539496" y="4352544"/>
            <a:ext cx="1111270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BRAND VOICE</a:t>
            </a:r>
            <a:endParaRPr b="0" i="0" sz="1050" u="none" cap="none" strike="noStrike">
              <a:solidFill>
                <a:schemeClr val="dk1"/>
              </a:solidFill>
              <a:latin typeface="Calibri"/>
              <a:ea typeface="Calibri"/>
              <a:cs typeface="Calibri"/>
              <a:sym typeface="Calibri"/>
            </a:endParaRPr>
          </a:p>
        </p:txBody>
      </p:sp>
      <p:sp>
        <p:nvSpPr>
          <p:cNvPr id="97" name="Google Shape;97;p6"/>
          <p:cNvSpPr/>
          <p:nvPr/>
        </p:nvSpPr>
        <p:spPr>
          <a:xfrm>
            <a:off x="539496" y="4626864"/>
            <a:ext cx="11112703" cy="4480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Friendly, professional and encouraging. Use simple language, practical advice and honest claims.</a:t>
            </a:r>
            <a:endParaRPr b="0" i="0" sz="1050" u="none" cap="none" strike="noStrike">
              <a:solidFill>
                <a:schemeClr val="dk1"/>
              </a:solidFill>
              <a:latin typeface="Calibri"/>
              <a:ea typeface="Calibri"/>
              <a:cs typeface="Calibri"/>
              <a:sym typeface="Calibri"/>
            </a:endParaRPr>
          </a:p>
        </p:txBody>
      </p:sp>
      <p:sp>
        <p:nvSpPr>
          <p:cNvPr id="98" name="Google Shape;98;p6"/>
          <p:cNvSpPr/>
          <p:nvPr/>
        </p:nvSpPr>
        <p:spPr>
          <a:xfrm>
            <a:off x="411480" y="5276088"/>
            <a:ext cx="11368735" cy="86868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539496" y="5349240"/>
            <a:ext cx="1111270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VISUAL DIRECTION</a:t>
            </a:r>
            <a:endParaRPr b="0" i="0" sz="1050" u="none" cap="none" strike="noStrike">
              <a:solidFill>
                <a:schemeClr val="dk1"/>
              </a:solidFill>
              <a:latin typeface="Calibri"/>
              <a:ea typeface="Calibri"/>
              <a:cs typeface="Calibri"/>
              <a:sym typeface="Calibri"/>
            </a:endParaRPr>
          </a:p>
        </p:txBody>
      </p:sp>
      <p:sp>
        <p:nvSpPr>
          <p:cNvPr id="100" name="Google Shape;100;p6"/>
          <p:cNvSpPr/>
          <p:nvPr/>
        </p:nvSpPr>
        <p:spPr>
          <a:xfrm>
            <a:off x="539496" y="5623560"/>
            <a:ext cx="11112703" cy="4480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Blue and white palette; clean typography; education-focused imagery; simple layouts and clear calls to action.</a:t>
            </a:r>
            <a:endParaRPr b="0" i="0" sz="1050" u="none" cap="none" strike="noStrike">
              <a:solidFill>
                <a:schemeClr val="dk1"/>
              </a:solidFill>
              <a:latin typeface="Calibri"/>
              <a:ea typeface="Calibri"/>
              <a:cs typeface="Calibri"/>
              <a:sym typeface="Calibri"/>
            </a:endParaRPr>
          </a:p>
        </p:txBody>
      </p:sp>
      <p:sp>
        <p:nvSpPr>
          <p:cNvPr id="101" name="Google Shape;101;p6"/>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1: GTM &amp; Marketing Strategy</a:t>
            </a:r>
            <a:endParaRPr b="0" i="0" sz="900" u="none" cap="none" strike="noStrike">
              <a:solidFill>
                <a:schemeClr val="dk1"/>
              </a:solidFill>
              <a:latin typeface="Calibri"/>
              <a:ea typeface="Calibri"/>
              <a:cs typeface="Calibri"/>
              <a:sym typeface="Calibri"/>
            </a:endParaRPr>
          </a:p>
        </p:txBody>
      </p:sp>
      <p:sp>
        <p:nvSpPr>
          <p:cNvPr id="102" name="Google Shape;102;p6"/>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4</a:t>
            </a:r>
            <a:endParaRPr b="0" i="0" sz="900" u="none" cap="none" strike="noStrike">
              <a:solidFill>
                <a:schemeClr val="dk1"/>
              </a:solidFill>
              <a:latin typeface="Calibri"/>
              <a:ea typeface="Calibri"/>
              <a:cs typeface="Calibri"/>
              <a:sym typeface="Calibri"/>
            </a:endParaRPr>
          </a:p>
        </p:txBody>
      </p:sp>
      <p:cxnSp>
        <p:nvCxnSpPr>
          <p:cNvPr id="103" name="Google Shape;103;p6"/>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7"/>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411480" y="777240"/>
            <a:ext cx="2651760"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411480" y="777240"/>
            <a:ext cx="2651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1 · </a:t>
            </a:r>
            <a:r>
              <a:rPr b="1" lang="en-US" sz="1100">
                <a:solidFill>
                  <a:srgbClr val="C7DD6E"/>
                </a:solidFill>
              </a:rPr>
              <a:t>Sales &amp; Marketing</a:t>
            </a:r>
            <a:endParaRPr b="0" i="0" sz="1100" u="none" cap="none" strike="noStrike">
              <a:solidFill>
                <a:schemeClr val="dk1"/>
              </a:solidFill>
              <a:latin typeface="Calibri"/>
              <a:ea typeface="Calibri"/>
              <a:cs typeface="Calibri"/>
              <a:sym typeface="Calibri"/>
            </a:endParaRPr>
          </a:p>
        </p:txBody>
      </p:sp>
      <p:sp>
        <p:nvSpPr>
          <p:cNvPr id="113" name="Google Shape;113;p7"/>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Sales Funnel</a:t>
            </a:r>
            <a:endParaRPr b="0" i="0" sz="2700" u="none" cap="none" strike="noStrike">
              <a:solidFill>
                <a:schemeClr val="dk1"/>
              </a:solidFill>
              <a:latin typeface="Calibri"/>
              <a:ea typeface="Calibri"/>
              <a:cs typeface="Calibri"/>
              <a:sym typeface="Calibri"/>
            </a:endParaRPr>
          </a:p>
        </p:txBody>
      </p:sp>
      <p:sp>
        <p:nvSpPr>
          <p:cNvPr id="114" name="Google Shape;114;p7"/>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411480" y="1828800"/>
            <a:ext cx="1136873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Describe each stage for your venture, then flag where customers drop off — and your fix.</a:t>
            </a:r>
            <a:endParaRPr b="0" i="0" sz="1250" u="none" cap="none" strike="noStrike">
              <a:solidFill>
                <a:schemeClr val="dk1"/>
              </a:solidFill>
              <a:latin typeface="Calibri"/>
              <a:ea typeface="Calibri"/>
              <a:cs typeface="Calibri"/>
              <a:sym typeface="Calibri"/>
            </a:endParaRPr>
          </a:p>
        </p:txBody>
      </p:sp>
      <p:sp>
        <p:nvSpPr>
          <p:cNvPr id="116" name="Google Shape;116;p7"/>
          <p:cNvSpPr/>
          <p:nvPr/>
        </p:nvSpPr>
        <p:spPr>
          <a:xfrm>
            <a:off x="411480" y="2331720"/>
            <a:ext cx="2636444" cy="155448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548640" y="2468880"/>
            <a:ext cx="2362124"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1. Awareness</a:t>
            </a:r>
            <a:endParaRPr b="0" i="0" sz="1300" u="none" cap="none" strike="noStrike">
              <a:solidFill>
                <a:schemeClr val="dk1"/>
              </a:solidFill>
              <a:latin typeface="Calibri"/>
              <a:ea typeface="Calibri"/>
              <a:cs typeface="Calibri"/>
              <a:sym typeface="Calibri"/>
            </a:endParaRPr>
          </a:p>
        </p:txBody>
      </p:sp>
      <p:sp>
        <p:nvSpPr>
          <p:cNvPr id="118" name="Google Shape;118;p7"/>
          <p:cNvSpPr/>
          <p:nvPr/>
        </p:nvSpPr>
        <p:spPr>
          <a:xfrm>
            <a:off x="548640" y="2880360"/>
            <a:ext cx="2362124"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050"/>
              <a:buFont typeface="Arial"/>
              <a:buNone/>
            </a:pPr>
            <a:r>
              <a:rPr b="0" i="0">
                <a:solidFill>
                  <a:srgbClr val="FFFFFF"/>
                </a:solidFill>
                <a:latin typeface="Arial"/>
              </a:rPr>
              <a:t>Personalised email/WhatsApp outreach, LinkedIn, referrals and the LearnReach website.</a:t>
            </a:r>
            <a:endParaRPr b="0" i="0" sz="1050" u="none" cap="none" strike="noStrike">
              <a:solidFill>
                <a:schemeClr val="dk1"/>
              </a:solidFill>
              <a:latin typeface="Calibri"/>
              <a:ea typeface="Calibri"/>
              <a:cs typeface="Calibri"/>
              <a:sym typeface="Calibri"/>
            </a:endParaRPr>
          </a:p>
        </p:txBody>
      </p:sp>
      <p:sp>
        <p:nvSpPr>
          <p:cNvPr id="119" name="Google Shape;119;p7"/>
          <p:cNvSpPr/>
          <p:nvPr/>
        </p:nvSpPr>
        <p:spPr>
          <a:xfrm>
            <a:off x="3047924" y="2880360"/>
            <a:ext cx="274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647E5"/>
              </a:buClr>
              <a:buSzPts val="1800"/>
              <a:buFont typeface="Arial"/>
              <a:buNone/>
            </a:pPr>
            <a:r>
              <a:rPr b="1" i="0" lang="en-US" sz="1800" u="none" cap="none" strike="noStrike">
                <a:solidFill>
                  <a:srgbClr val="2647E5"/>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120" name="Google Shape;120;p7"/>
          <p:cNvSpPr/>
          <p:nvPr/>
        </p:nvSpPr>
        <p:spPr>
          <a:xfrm>
            <a:off x="3322244" y="2331720"/>
            <a:ext cx="2636444" cy="155448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3459404" y="2468880"/>
            <a:ext cx="2362124"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2. Interest</a:t>
            </a:r>
            <a:endParaRPr b="0" i="0" sz="1300" u="none" cap="none" strike="noStrike">
              <a:solidFill>
                <a:schemeClr val="dk1"/>
              </a:solidFill>
              <a:latin typeface="Calibri"/>
              <a:ea typeface="Calibri"/>
              <a:cs typeface="Calibri"/>
              <a:sym typeface="Calibri"/>
            </a:endParaRPr>
          </a:p>
        </p:txBody>
      </p:sp>
      <p:sp>
        <p:nvSpPr>
          <p:cNvPr id="122" name="Google Shape;122;p7"/>
          <p:cNvSpPr/>
          <p:nvPr/>
        </p:nvSpPr>
        <p:spPr>
          <a:xfrm>
            <a:off x="3459404" y="2880360"/>
            <a:ext cx="2362124"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050"/>
              <a:buFont typeface="Arial"/>
              <a:buNone/>
            </a:pPr>
            <a:r>
              <a:rPr b="0" i="0">
                <a:solidFill>
                  <a:srgbClr val="FFFFFF"/>
                </a:solidFill>
                <a:latin typeface="Arial"/>
              </a:rPr>
              <a:t>Clear services: digital advertising, social media marketing, content creation and enrollment campaigns.</a:t>
            </a:r>
            <a:endParaRPr b="0" i="0" sz="1050" u="none" cap="none" strike="noStrike">
              <a:solidFill>
                <a:schemeClr val="dk1"/>
              </a:solidFill>
              <a:latin typeface="Calibri"/>
              <a:ea typeface="Calibri"/>
              <a:cs typeface="Calibri"/>
              <a:sym typeface="Calibri"/>
            </a:endParaRPr>
          </a:p>
        </p:txBody>
      </p:sp>
      <p:sp>
        <p:nvSpPr>
          <p:cNvPr id="123" name="Google Shape;123;p7"/>
          <p:cNvSpPr/>
          <p:nvPr/>
        </p:nvSpPr>
        <p:spPr>
          <a:xfrm>
            <a:off x="5958688" y="2880360"/>
            <a:ext cx="274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647E5"/>
              </a:buClr>
              <a:buSzPts val="1800"/>
              <a:buFont typeface="Arial"/>
              <a:buNone/>
            </a:pPr>
            <a:r>
              <a:rPr b="1" i="0" lang="en-US" sz="1800" u="none" cap="none" strike="noStrike">
                <a:solidFill>
                  <a:srgbClr val="2647E5"/>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124" name="Google Shape;124;p7"/>
          <p:cNvSpPr/>
          <p:nvPr/>
        </p:nvSpPr>
        <p:spPr>
          <a:xfrm>
            <a:off x="6233008" y="2331720"/>
            <a:ext cx="2636444" cy="155448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6370168" y="2468880"/>
            <a:ext cx="2362124"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3. Decision</a:t>
            </a:r>
            <a:endParaRPr b="0" i="0" sz="1300" u="none" cap="none" strike="noStrike">
              <a:solidFill>
                <a:schemeClr val="dk1"/>
              </a:solidFill>
              <a:latin typeface="Calibri"/>
              <a:ea typeface="Calibri"/>
              <a:cs typeface="Calibri"/>
              <a:sym typeface="Calibri"/>
            </a:endParaRPr>
          </a:p>
        </p:txBody>
      </p:sp>
      <p:sp>
        <p:nvSpPr>
          <p:cNvPr id="126" name="Google Shape;126;p7"/>
          <p:cNvSpPr/>
          <p:nvPr/>
        </p:nvSpPr>
        <p:spPr>
          <a:xfrm>
            <a:off x="6370168" y="2880360"/>
            <a:ext cx="2362124"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050"/>
              <a:buFont typeface="Arial"/>
              <a:buNone/>
            </a:pPr>
            <a:r>
              <a:rPr b="0" i="0">
                <a:solidFill>
                  <a:srgbClr val="FFFFFF"/>
                </a:solidFill>
                <a:latin typeface="Arial"/>
              </a:rPr>
              <a:t>Discovery call, clear campaign scope, expected deliverables, timeline and transparent price proposal.</a:t>
            </a:r>
            <a:endParaRPr b="0" i="0" sz="1050" u="none" cap="none" strike="noStrike">
              <a:solidFill>
                <a:schemeClr val="dk1"/>
              </a:solidFill>
              <a:latin typeface="Calibri"/>
              <a:ea typeface="Calibri"/>
              <a:cs typeface="Calibri"/>
              <a:sym typeface="Calibri"/>
            </a:endParaRPr>
          </a:p>
        </p:txBody>
      </p:sp>
      <p:sp>
        <p:nvSpPr>
          <p:cNvPr id="127" name="Google Shape;127;p7"/>
          <p:cNvSpPr/>
          <p:nvPr/>
        </p:nvSpPr>
        <p:spPr>
          <a:xfrm>
            <a:off x="8869451" y="2880360"/>
            <a:ext cx="274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647E5"/>
              </a:buClr>
              <a:buSzPts val="1800"/>
              <a:buFont typeface="Arial"/>
              <a:buNone/>
            </a:pPr>
            <a:r>
              <a:rPr b="1" i="0" lang="en-US" sz="1800" u="none" cap="none" strike="noStrike">
                <a:solidFill>
                  <a:srgbClr val="2647E5"/>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128" name="Google Shape;128;p7"/>
          <p:cNvSpPr/>
          <p:nvPr/>
        </p:nvSpPr>
        <p:spPr>
          <a:xfrm>
            <a:off x="9143771" y="2331720"/>
            <a:ext cx="2636444" cy="155448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9280931" y="2468880"/>
            <a:ext cx="2362124"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4. Action</a:t>
            </a:r>
            <a:endParaRPr b="0" i="0" sz="1300" u="none" cap="none" strike="noStrike">
              <a:solidFill>
                <a:schemeClr val="dk1"/>
              </a:solidFill>
              <a:latin typeface="Calibri"/>
              <a:ea typeface="Calibri"/>
              <a:cs typeface="Calibri"/>
              <a:sym typeface="Calibri"/>
            </a:endParaRPr>
          </a:p>
        </p:txBody>
      </p:sp>
      <p:sp>
        <p:nvSpPr>
          <p:cNvPr id="130" name="Google Shape;130;p7"/>
          <p:cNvSpPr/>
          <p:nvPr/>
        </p:nvSpPr>
        <p:spPr>
          <a:xfrm>
            <a:off x="9280931" y="2880360"/>
            <a:ext cx="2362124"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050"/>
              <a:buFont typeface="Arial"/>
              <a:buNone/>
            </a:pPr>
            <a:r>
              <a:rPr b="0" i="0">
                <a:solidFill>
                  <a:srgbClr val="FFFFFF"/>
                </a:solidFill>
                <a:latin typeface="Arial"/>
              </a:rPr>
              <a:t>Agree scope and price, sign service agreement, pay agreed invoice, then complete onboarding.</a:t>
            </a:r>
            <a:endParaRPr b="0" i="0" sz="1050" u="none" cap="none" strike="noStrike">
              <a:solidFill>
                <a:schemeClr val="dk1"/>
              </a:solidFill>
              <a:latin typeface="Calibri"/>
              <a:ea typeface="Calibri"/>
              <a:cs typeface="Calibri"/>
              <a:sym typeface="Calibri"/>
            </a:endParaRPr>
          </a:p>
        </p:txBody>
      </p:sp>
      <p:sp>
        <p:nvSpPr>
          <p:cNvPr id="131" name="Google Shape;131;p7"/>
          <p:cNvSpPr/>
          <p:nvPr/>
        </p:nvSpPr>
        <p:spPr>
          <a:xfrm>
            <a:off x="411480" y="4160520"/>
            <a:ext cx="11368735" cy="694944"/>
          </a:xfrm>
          <a:prstGeom prst="rect">
            <a:avLst/>
          </a:prstGeom>
          <a:solidFill>
            <a:srgbClr val="E4EAFB"/>
          </a:solidFill>
          <a:ln cap="flat" cmpd="sng" w="9525">
            <a:solidFill>
              <a:srgbClr val="A9C2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411480" y="4160520"/>
            <a:ext cx="54864" cy="694944"/>
          </a:xfrm>
          <a:prstGeom prst="rect">
            <a:avLst/>
          </a:prstGeom>
          <a:solidFill>
            <a:srgbClr val="264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621792" y="4215384"/>
            <a:ext cx="11002975" cy="5852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150"/>
              <a:buFont typeface="Arial"/>
              <a:buNone/>
            </a:pPr>
            <a:r>
              <a:rPr b="0" i="1">
                <a:solidFill>
                  <a:srgbClr val="0E1B4B"/>
                </a:solidFill>
                <a:latin typeface="Arial"/>
              </a:rPr>
              <a:t>LIKELY DROP-OFF TO TEST: Interest → Decision. Prospects may like the idea but hesitate to pay before seeing evidence. FIX: conduct discovery calls, define a small pilot with clear deliverables, and collect feedback before offering a monthly package.</a:t>
            </a:r>
            <a:endParaRPr b="0" i="0" sz="1150" u="none" cap="none" strike="noStrike">
              <a:solidFill>
                <a:schemeClr val="dk1"/>
              </a:solidFill>
              <a:latin typeface="Calibri"/>
              <a:ea typeface="Calibri"/>
              <a:cs typeface="Calibri"/>
              <a:sym typeface="Calibri"/>
            </a:endParaRPr>
          </a:p>
        </p:txBody>
      </p:sp>
      <p:sp>
        <p:nvSpPr>
          <p:cNvPr id="134" name="Google Shape;134;p7"/>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1: GTM &amp; Marketing Strategy</a:t>
            </a:r>
            <a:endParaRPr b="0" i="0" sz="900" u="none" cap="none" strike="noStrike">
              <a:solidFill>
                <a:schemeClr val="dk1"/>
              </a:solidFill>
              <a:latin typeface="Calibri"/>
              <a:ea typeface="Calibri"/>
              <a:cs typeface="Calibri"/>
              <a:sym typeface="Calibri"/>
            </a:endParaRPr>
          </a:p>
        </p:txBody>
      </p:sp>
      <p:sp>
        <p:nvSpPr>
          <p:cNvPr id="135" name="Google Shape;135;p7"/>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7</a:t>
            </a:r>
            <a:endParaRPr b="0" i="0" sz="900" u="none" cap="none" strike="noStrike">
              <a:solidFill>
                <a:schemeClr val="dk1"/>
              </a:solidFill>
              <a:latin typeface="Calibri"/>
              <a:ea typeface="Calibri"/>
              <a:cs typeface="Calibri"/>
              <a:sym typeface="Calibri"/>
            </a:endParaRPr>
          </a:p>
        </p:txBody>
      </p:sp>
      <p:cxnSp>
        <p:nvCxnSpPr>
          <p:cNvPr id="136" name="Google Shape;136;p7"/>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p:nvPr/>
        </p:nvSpPr>
        <p:spPr>
          <a:xfrm>
            <a:off x="0" y="0"/>
            <a:ext cx="12191700" cy="5670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0" y="566928"/>
            <a:ext cx="12191700" cy="456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411480" y="777240"/>
            <a:ext cx="2651700" cy="3108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411480" y="777240"/>
            <a:ext cx="2651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1 · </a:t>
            </a:r>
            <a:r>
              <a:rPr b="1" lang="en-US" sz="1100">
                <a:solidFill>
                  <a:srgbClr val="C7DD6E"/>
                </a:solidFill>
              </a:rPr>
              <a:t>Sales &amp; Marketing</a:t>
            </a:r>
            <a:endParaRPr b="0" i="0" sz="1100" u="none" cap="none" strike="noStrike">
              <a:solidFill>
                <a:schemeClr val="dk1"/>
              </a:solidFill>
              <a:latin typeface="Calibri"/>
              <a:ea typeface="Calibri"/>
              <a:cs typeface="Calibri"/>
              <a:sym typeface="Calibri"/>
            </a:endParaRPr>
          </a:p>
        </p:txBody>
      </p:sp>
      <p:sp>
        <p:nvSpPr>
          <p:cNvPr id="146" name="Google Shape;146;p8"/>
          <p:cNvSpPr/>
          <p:nvPr/>
        </p:nvSpPr>
        <p:spPr>
          <a:xfrm>
            <a:off x="411480" y="1170432"/>
            <a:ext cx="11368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Channel Selection</a:t>
            </a:r>
            <a:endParaRPr b="0" i="0" sz="2700" u="none" cap="none" strike="noStrike">
              <a:solidFill>
                <a:schemeClr val="dk1"/>
              </a:solidFill>
              <a:latin typeface="Calibri"/>
              <a:ea typeface="Calibri"/>
              <a:cs typeface="Calibri"/>
              <a:sym typeface="Calibri"/>
            </a:endParaRPr>
          </a:p>
        </p:txBody>
      </p:sp>
      <p:sp>
        <p:nvSpPr>
          <p:cNvPr id="147" name="Google Shape;147;p8"/>
          <p:cNvSpPr/>
          <p:nvPr/>
        </p:nvSpPr>
        <p:spPr>
          <a:xfrm>
            <a:off x="411480" y="1700784"/>
            <a:ext cx="822900" cy="411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411480" y="1828800"/>
            <a:ext cx="11368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Choose 1–2 channels to test first. Duplicate the card below if testing a second.</a:t>
            </a:r>
            <a:endParaRPr b="0" i="0" sz="1250" u="none" cap="none" strike="noStrike">
              <a:solidFill>
                <a:schemeClr val="dk1"/>
              </a:solidFill>
              <a:latin typeface="Calibri"/>
              <a:ea typeface="Calibri"/>
              <a:cs typeface="Calibri"/>
              <a:sym typeface="Calibri"/>
            </a:endParaRPr>
          </a:p>
        </p:txBody>
      </p:sp>
      <p:sp>
        <p:nvSpPr>
          <p:cNvPr id="149" name="Google Shape;149;p8"/>
          <p:cNvSpPr/>
          <p:nvPr/>
        </p:nvSpPr>
        <p:spPr>
          <a:xfrm>
            <a:off x="411480" y="2331720"/>
            <a:ext cx="5409900" cy="32004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411480" y="2331720"/>
            <a:ext cx="1463100" cy="310800"/>
          </a:xfrm>
          <a:prstGeom prst="rect">
            <a:avLst/>
          </a:prstGeom>
          <a:solidFill>
            <a:srgbClr val="264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411480" y="2331720"/>
            <a:ext cx="14631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CHANNEL 1</a:t>
            </a:r>
            <a:endParaRPr b="0" i="0" sz="950" u="none" cap="none" strike="noStrike">
              <a:solidFill>
                <a:schemeClr val="dk1"/>
              </a:solidFill>
              <a:latin typeface="Calibri"/>
              <a:ea typeface="Calibri"/>
              <a:cs typeface="Calibri"/>
              <a:sym typeface="Calibri"/>
            </a:endParaRPr>
          </a:p>
        </p:txBody>
      </p:sp>
      <p:sp>
        <p:nvSpPr>
          <p:cNvPr id="152" name="Google Shape;152;p8"/>
          <p:cNvSpPr/>
          <p:nvPr/>
        </p:nvSpPr>
        <p:spPr>
          <a:xfrm>
            <a:off x="640080" y="2834640"/>
            <a:ext cx="4952700" cy="7773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768096" y="2907792"/>
            <a:ext cx="469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CHANNEL NAME</a:t>
            </a:r>
            <a:endParaRPr b="0" i="0" sz="1050" u="none" cap="none" strike="noStrike">
              <a:solidFill>
                <a:schemeClr val="dk1"/>
              </a:solidFill>
              <a:latin typeface="Calibri"/>
              <a:ea typeface="Calibri"/>
              <a:cs typeface="Calibri"/>
              <a:sym typeface="Calibri"/>
            </a:endParaRPr>
          </a:p>
        </p:txBody>
      </p:sp>
      <p:sp>
        <p:nvSpPr>
          <p:cNvPr id="154" name="Google Shape;154;p8"/>
          <p:cNvSpPr/>
          <p:nvPr/>
        </p:nvSpPr>
        <p:spPr>
          <a:xfrm>
            <a:off x="768096" y="3182112"/>
            <a:ext cx="4696800" cy="35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1000">
                <a:solidFill>
                  <a:srgbClr val="9298AC"/>
                </a:solidFill>
                <a:latin typeface="Arial"/>
              </a:rPr>
              <a:t>Direct, personalised email and WhatsApp outreach</a:t>
            </a:r>
            <a:endParaRPr b="0" i="0" sz="1050" u="none" cap="none" strike="noStrike">
              <a:solidFill>
                <a:schemeClr val="dk1"/>
              </a:solidFill>
              <a:latin typeface="Calibri"/>
              <a:ea typeface="Calibri"/>
              <a:cs typeface="Calibri"/>
              <a:sym typeface="Calibri"/>
            </a:endParaRPr>
          </a:p>
        </p:txBody>
      </p:sp>
      <p:sp>
        <p:nvSpPr>
          <p:cNvPr id="155" name="Google Shape;155;p8"/>
          <p:cNvSpPr/>
          <p:nvPr/>
        </p:nvSpPr>
        <p:spPr>
          <a:xfrm>
            <a:off x="640080" y="3749040"/>
            <a:ext cx="4952700" cy="7773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768096" y="3822192"/>
            <a:ext cx="469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TARGET AUDIENCE IT REACHES</a:t>
            </a:r>
            <a:endParaRPr b="0" i="0" sz="1050" u="none" cap="none" strike="noStrike">
              <a:solidFill>
                <a:schemeClr val="dk1"/>
              </a:solidFill>
              <a:latin typeface="Calibri"/>
              <a:ea typeface="Calibri"/>
              <a:cs typeface="Calibri"/>
              <a:sym typeface="Calibri"/>
            </a:endParaRPr>
          </a:p>
        </p:txBody>
      </p:sp>
      <p:sp>
        <p:nvSpPr>
          <p:cNvPr id="157" name="Google Shape;157;p8"/>
          <p:cNvSpPr/>
          <p:nvPr/>
        </p:nvSpPr>
        <p:spPr>
          <a:xfrm>
            <a:off x="768096" y="4096512"/>
            <a:ext cx="4696800" cy="35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1000">
                <a:solidFill>
                  <a:srgbClr val="9298AC"/>
                </a:solidFill>
                <a:latin typeface="Arial"/>
              </a:rPr>
              <a:t>Independent course creators and small training providers in Rwanda</a:t>
            </a:r>
            <a:endParaRPr b="0" i="0" sz="1050" u="none" cap="none" strike="noStrike">
              <a:solidFill>
                <a:schemeClr val="dk1"/>
              </a:solidFill>
              <a:latin typeface="Calibri"/>
              <a:ea typeface="Calibri"/>
              <a:cs typeface="Calibri"/>
              <a:sym typeface="Calibri"/>
            </a:endParaRPr>
          </a:p>
        </p:txBody>
      </p:sp>
      <p:sp>
        <p:nvSpPr>
          <p:cNvPr id="158" name="Google Shape;158;p8"/>
          <p:cNvSpPr/>
          <p:nvPr/>
        </p:nvSpPr>
        <p:spPr>
          <a:xfrm>
            <a:off x="640080" y="4663440"/>
            <a:ext cx="4952700" cy="6858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768096" y="4736592"/>
            <a:ext cx="469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CONTENT / APPROACH + SUCCESS METRIC</a:t>
            </a:r>
            <a:endParaRPr b="0" i="0" sz="1050" u="none" cap="none" strike="noStrike">
              <a:solidFill>
                <a:schemeClr val="dk1"/>
              </a:solidFill>
              <a:latin typeface="Calibri"/>
              <a:ea typeface="Calibri"/>
              <a:cs typeface="Calibri"/>
              <a:sym typeface="Calibri"/>
            </a:endParaRPr>
          </a:p>
        </p:txBody>
      </p:sp>
      <p:sp>
        <p:nvSpPr>
          <p:cNvPr id="160" name="Google Shape;160;p8"/>
          <p:cNvSpPr/>
          <p:nvPr/>
        </p:nvSpPr>
        <p:spPr>
          <a:xfrm>
            <a:off x="768096" y="5010912"/>
            <a:ext cx="4696800" cy="265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1000">
                <a:solidFill>
                  <a:srgbClr val="9298AC"/>
                </a:solidFill>
                <a:latin typeface="Arial"/>
              </a:rPr>
              <a:t>Contact 30 prospects; aim for 10 interviews in 30 days. Track replies, calls, proposals and paid pilots.</a:t>
            </a:r>
            <a:endParaRPr b="0" i="0" sz="1050" u="none" cap="none" strike="noStrike">
              <a:solidFill>
                <a:schemeClr val="dk1"/>
              </a:solidFill>
              <a:latin typeface="Calibri"/>
              <a:ea typeface="Calibri"/>
              <a:cs typeface="Calibri"/>
              <a:sym typeface="Calibri"/>
            </a:endParaRPr>
          </a:p>
        </p:txBody>
      </p:sp>
      <p:sp>
        <p:nvSpPr>
          <p:cNvPr id="161" name="Google Shape;161;p8"/>
          <p:cNvSpPr/>
          <p:nvPr/>
        </p:nvSpPr>
        <p:spPr>
          <a:xfrm>
            <a:off x="6208776" y="2331720"/>
            <a:ext cx="5409900" cy="32004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6208776" y="2331720"/>
            <a:ext cx="1463100" cy="310800"/>
          </a:xfrm>
          <a:prstGeom prst="rect">
            <a:avLst/>
          </a:prstGeom>
          <a:solidFill>
            <a:srgbClr val="264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6208776" y="2331720"/>
            <a:ext cx="14631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CHANNEL 2 (optional)</a:t>
            </a:r>
            <a:endParaRPr b="0" i="0" sz="950" u="none" cap="none" strike="noStrike">
              <a:solidFill>
                <a:schemeClr val="dk1"/>
              </a:solidFill>
              <a:latin typeface="Calibri"/>
              <a:ea typeface="Calibri"/>
              <a:cs typeface="Calibri"/>
              <a:sym typeface="Calibri"/>
            </a:endParaRPr>
          </a:p>
        </p:txBody>
      </p:sp>
      <p:sp>
        <p:nvSpPr>
          <p:cNvPr id="164" name="Google Shape;164;p8"/>
          <p:cNvSpPr/>
          <p:nvPr/>
        </p:nvSpPr>
        <p:spPr>
          <a:xfrm>
            <a:off x="6437376" y="2834640"/>
            <a:ext cx="4952700" cy="7773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6565392" y="2907792"/>
            <a:ext cx="469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CHANNEL NAME</a:t>
            </a:r>
            <a:endParaRPr b="0" i="0" sz="1050" u="none" cap="none" strike="noStrike">
              <a:solidFill>
                <a:schemeClr val="dk1"/>
              </a:solidFill>
              <a:latin typeface="Calibri"/>
              <a:ea typeface="Calibri"/>
              <a:cs typeface="Calibri"/>
              <a:sym typeface="Calibri"/>
            </a:endParaRPr>
          </a:p>
        </p:txBody>
      </p:sp>
      <p:sp>
        <p:nvSpPr>
          <p:cNvPr id="166" name="Google Shape;166;p8"/>
          <p:cNvSpPr/>
          <p:nvPr/>
        </p:nvSpPr>
        <p:spPr>
          <a:xfrm>
            <a:off x="6565392" y="3182112"/>
            <a:ext cx="4696800" cy="35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1000">
                <a:solidFill>
                  <a:srgbClr val="9298AC"/>
                </a:solidFill>
                <a:latin typeface="Arial"/>
              </a:rPr>
              <a:t>LearnReach website + LinkedIn / educator referrals</a:t>
            </a:r>
            <a:endParaRPr b="0" i="0" sz="1050" u="none" cap="none" strike="noStrike">
              <a:solidFill>
                <a:schemeClr val="dk1"/>
              </a:solidFill>
              <a:latin typeface="Calibri"/>
              <a:ea typeface="Calibri"/>
              <a:cs typeface="Calibri"/>
              <a:sym typeface="Calibri"/>
            </a:endParaRPr>
          </a:p>
        </p:txBody>
      </p:sp>
      <p:sp>
        <p:nvSpPr>
          <p:cNvPr id="167" name="Google Shape;167;p8"/>
          <p:cNvSpPr/>
          <p:nvPr/>
        </p:nvSpPr>
        <p:spPr>
          <a:xfrm>
            <a:off x="6437376" y="3749040"/>
            <a:ext cx="4952700" cy="7773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6565392" y="3822192"/>
            <a:ext cx="469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TARGET AUDIENCE IT REACHES</a:t>
            </a:r>
            <a:endParaRPr b="0" i="0" sz="1050" u="none" cap="none" strike="noStrike">
              <a:solidFill>
                <a:schemeClr val="dk1"/>
              </a:solidFill>
              <a:latin typeface="Calibri"/>
              <a:ea typeface="Calibri"/>
              <a:cs typeface="Calibri"/>
              <a:sym typeface="Calibri"/>
            </a:endParaRPr>
          </a:p>
        </p:txBody>
      </p:sp>
      <p:sp>
        <p:nvSpPr>
          <p:cNvPr id="169" name="Google Shape;169;p8"/>
          <p:cNvSpPr/>
          <p:nvPr/>
        </p:nvSpPr>
        <p:spPr>
          <a:xfrm>
            <a:off x="6565392" y="4096512"/>
            <a:ext cx="4696800" cy="35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1000">
                <a:solidFill>
                  <a:srgbClr val="9298AC"/>
                </a:solidFill>
                <a:latin typeface="Arial"/>
              </a:rPr>
              <a:t>Tutors, training centres and course creators who need more student enquiries</a:t>
            </a:r>
            <a:endParaRPr b="0" i="0" sz="1050" u="none" cap="none" strike="noStrike">
              <a:solidFill>
                <a:schemeClr val="dk1"/>
              </a:solidFill>
              <a:latin typeface="Calibri"/>
              <a:ea typeface="Calibri"/>
              <a:cs typeface="Calibri"/>
              <a:sym typeface="Calibri"/>
            </a:endParaRPr>
          </a:p>
        </p:txBody>
      </p:sp>
      <p:sp>
        <p:nvSpPr>
          <p:cNvPr id="170" name="Google Shape;170;p8"/>
          <p:cNvSpPr/>
          <p:nvPr/>
        </p:nvSpPr>
        <p:spPr>
          <a:xfrm>
            <a:off x="6437376" y="4663440"/>
            <a:ext cx="4952700" cy="6858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6565392" y="4736592"/>
            <a:ext cx="4696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CONTENT / APPROACH + SUCCESS METRIC</a:t>
            </a:r>
            <a:endParaRPr b="0" i="0" sz="1050" u="none" cap="none" strike="noStrike">
              <a:solidFill>
                <a:schemeClr val="dk1"/>
              </a:solidFill>
              <a:latin typeface="Calibri"/>
              <a:ea typeface="Calibri"/>
              <a:cs typeface="Calibri"/>
              <a:sym typeface="Calibri"/>
            </a:endParaRPr>
          </a:p>
        </p:txBody>
      </p:sp>
      <p:sp>
        <p:nvSpPr>
          <p:cNvPr id="172" name="Google Shape;172;p8"/>
          <p:cNvSpPr/>
          <p:nvPr/>
        </p:nvSpPr>
        <p:spPr>
          <a:xfrm>
            <a:off x="6565392" y="5010912"/>
            <a:ext cx="4696800" cy="265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1000">
                <a:solidFill>
                  <a:srgbClr val="9298AC"/>
                </a:solidFill>
                <a:latin typeface="Arial"/>
              </a:rPr>
              <a:t>Show the four service areas and invite visitors to use the contact form. Track qualified enquiries and calls booked.</a:t>
            </a:r>
            <a:endParaRPr b="0" i="0" sz="1050" u="none" cap="none" strike="noStrike">
              <a:solidFill>
                <a:schemeClr val="dk1"/>
              </a:solidFill>
              <a:latin typeface="Calibri"/>
              <a:ea typeface="Calibri"/>
              <a:cs typeface="Calibri"/>
              <a:sym typeface="Calibri"/>
            </a:endParaRPr>
          </a:p>
        </p:txBody>
      </p:sp>
      <p:sp>
        <p:nvSpPr>
          <p:cNvPr id="173" name="Google Shape;173;p8"/>
          <p:cNvSpPr/>
          <p:nvPr/>
        </p:nvSpPr>
        <p:spPr>
          <a:xfrm>
            <a:off x="411480" y="649224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1: GTM &amp; Marketing Strategy</a:t>
            </a:r>
            <a:endParaRPr b="0" i="0" sz="900" u="none" cap="none" strike="noStrike">
              <a:solidFill>
                <a:schemeClr val="dk1"/>
              </a:solidFill>
              <a:latin typeface="Calibri"/>
              <a:ea typeface="Calibri"/>
              <a:cs typeface="Calibri"/>
              <a:sym typeface="Calibri"/>
            </a:endParaRPr>
          </a:p>
        </p:txBody>
      </p:sp>
      <p:sp>
        <p:nvSpPr>
          <p:cNvPr id="174" name="Google Shape;174;p8"/>
          <p:cNvSpPr/>
          <p:nvPr/>
        </p:nvSpPr>
        <p:spPr>
          <a:xfrm>
            <a:off x="11368735" y="6492240"/>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8</a:t>
            </a:r>
            <a:endParaRPr b="0" i="0" sz="900" u="none" cap="none" strike="noStrike">
              <a:solidFill>
                <a:schemeClr val="dk1"/>
              </a:solidFill>
              <a:latin typeface="Calibri"/>
              <a:ea typeface="Calibri"/>
              <a:cs typeface="Calibri"/>
              <a:sym typeface="Calibri"/>
            </a:endParaRPr>
          </a:p>
        </p:txBody>
      </p:sp>
      <p:cxnSp>
        <p:nvCxnSpPr>
          <p:cNvPr id="175" name="Google Shape;175;p8"/>
          <p:cNvCxnSpPr/>
          <p:nvPr/>
        </p:nvCxnSpPr>
        <p:spPr>
          <a:xfrm>
            <a:off x="411480" y="6437376"/>
            <a:ext cx="11368800"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4B"/>
        </a:solidFill>
      </p:bgPr>
    </p:bg>
    <p:spTree>
      <p:nvGrpSpPr>
        <p:cNvPr id="180" name="Shape 180"/>
        <p:cNvGrpSpPr/>
        <p:nvPr/>
      </p:nvGrpSpPr>
      <p:grpSpPr>
        <a:xfrm>
          <a:off x="0" y="0"/>
          <a:ext cx="0" cy="0"/>
          <a:chOff x="0" y="0"/>
          <a:chExt cx="0" cy="0"/>
        </a:xfrm>
      </p:grpSpPr>
      <p:sp>
        <p:nvSpPr>
          <p:cNvPr id="181" name="Google Shape;181;p9"/>
          <p:cNvSpPr/>
          <p:nvPr/>
        </p:nvSpPr>
        <p:spPr>
          <a:xfrm>
            <a:off x="8412480" y="-2377440"/>
            <a:ext cx="6400800" cy="6400800"/>
          </a:xfrm>
          <a:prstGeom prst="ellipse">
            <a:avLst/>
          </a:prstGeom>
          <a:solidFill>
            <a:srgbClr val="5B7FF0">
              <a:alpha val="18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2377440" y="4206240"/>
            <a:ext cx="4755000" cy="4755000"/>
          </a:xfrm>
          <a:prstGeom prst="ellipse">
            <a:avLst/>
          </a:prstGeom>
          <a:solidFill>
            <a:srgbClr val="C7DD6E">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502920" y="1417320"/>
            <a:ext cx="777300" cy="777300"/>
          </a:xfrm>
          <a:prstGeom prst="ellipse">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chartline2_0E1B4B.png" id="184" name="Google Shape;184;p9"/>
          <p:cNvPicPr preferRelativeResize="0"/>
          <p:nvPr/>
        </p:nvPicPr>
        <p:blipFill rotWithShape="1">
          <a:blip r:embed="rId3">
            <a:alphaModFix/>
          </a:blip>
          <a:srcRect b="0" l="0" r="0" t="0"/>
          <a:stretch/>
        </p:blipFill>
        <p:spPr>
          <a:xfrm>
            <a:off x="705002" y="1619402"/>
            <a:ext cx="373075" cy="373075"/>
          </a:xfrm>
          <a:prstGeom prst="rect">
            <a:avLst/>
          </a:prstGeom>
          <a:noFill/>
          <a:ln>
            <a:noFill/>
          </a:ln>
        </p:spPr>
      </p:pic>
      <p:sp>
        <p:nvSpPr>
          <p:cNvPr id="185" name="Google Shape;185;p9"/>
          <p:cNvSpPr/>
          <p:nvPr/>
        </p:nvSpPr>
        <p:spPr>
          <a:xfrm>
            <a:off x="1463040" y="1463040"/>
            <a:ext cx="3657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SECTION </a:t>
            </a:r>
            <a:r>
              <a:rPr b="1" lang="en-US" sz="1300">
                <a:solidFill>
                  <a:srgbClr val="C7DD6E"/>
                </a:solidFill>
              </a:rPr>
              <a:t>2</a:t>
            </a:r>
            <a:endParaRPr b="0" i="0" sz="1300" u="none" cap="none" strike="noStrike">
              <a:solidFill>
                <a:schemeClr val="dk1"/>
              </a:solidFill>
              <a:latin typeface="Calibri"/>
              <a:ea typeface="Calibri"/>
              <a:cs typeface="Calibri"/>
              <a:sym typeface="Calibri"/>
            </a:endParaRPr>
          </a:p>
        </p:txBody>
      </p:sp>
      <p:sp>
        <p:nvSpPr>
          <p:cNvPr id="186" name="Google Shape;186;p9"/>
          <p:cNvSpPr/>
          <p:nvPr/>
        </p:nvSpPr>
        <p:spPr>
          <a:xfrm>
            <a:off x="502920" y="2834640"/>
            <a:ext cx="8686800" cy="118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Financial Model</a:t>
            </a:r>
            <a:endParaRPr b="0" i="0" sz="4000" u="none" cap="none" strike="noStrike">
              <a:solidFill>
                <a:schemeClr val="dk1"/>
              </a:solidFill>
              <a:latin typeface="Calibri"/>
              <a:ea typeface="Calibri"/>
              <a:cs typeface="Calibri"/>
              <a:sym typeface="Calibri"/>
            </a:endParaRPr>
          </a:p>
        </p:txBody>
      </p:sp>
      <p:sp>
        <p:nvSpPr>
          <p:cNvPr id="187" name="Google Shape;187;p9"/>
          <p:cNvSpPr/>
          <p:nvPr/>
        </p:nvSpPr>
        <p:spPr>
          <a:xfrm>
            <a:off x="502920" y="3977640"/>
            <a:ext cx="1005900" cy="456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502920" y="4160520"/>
            <a:ext cx="78639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1500"/>
              <a:buFont typeface="Arial"/>
              <a:buNone/>
            </a:pPr>
            <a:r>
              <a:rPr b="0" i="0" lang="en-US" sz="1500" u="none" cap="none" strike="noStrike">
                <a:solidFill>
                  <a:srgbClr val="A9C2F7"/>
                </a:solidFill>
                <a:latin typeface="Arial"/>
                <a:ea typeface="Arial"/>
                <a:cs typeface="Arial"/>
                <a:sym typeface="Arial"/>
              </a:rPr>
              <a:t>This section builds your financial foundation. Draw on your pricing strategy, revenue projections, cash flow tracker, and burn rate calculations from the module.</a:t>
            </a:r>
            <a:endParaRPr b="0" i="0" sz="1500" u="none" cap="none" strike="noStrike">
              <a:solidFill>
                <a:schemeClr val="dk1"/>
              </a:solidFill>
              <a:latin typeface="Calibri"/>
              <a:ea typeface="Calibri"/>
              <a:cs typeface="Calibri"/>
              <a:sym typeface="Calibri"/>
            </a:endParaRPr>
          </a:p>
        </p:txBody>
      </p:sp>
      <p:sp>
        <p:nvSpPr>
          <p:cNvPr id="189" name="Google Shape;189;p9"/>
          <p:cNvSpPr/>
          <p:nvPr/>
        </p:nvSpPr>
        <p:spPr>
          <a:xfrm>
            <a:off x="502920" y="6309360"/>
            <a:ext cx="9144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900"/>
              <a:buFont typeface="Arial"/>
              <a:buNone/>
            </a:pPr>
            <a:r>
              <a:rPr b="0" i="0" lang="en-US" sz="900" u="none" cap="none" strike="noStrike">
                <a:solidFill>
                  <a:srgbClr val="A9C2F7"/>
                </a:solidFill>
                <a:latin typeface="Arial"/>
                <a:ea typeface="Arial"/>
                <a:cs typeface="Arial"/>
                <a:sym typeface="Arial"/>
              </a:rPr>
              <a:t>FOUNDER WORKBOOK · STARTUP OPERATIONS &amp; LAUNCH PLAN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0"/>
          <p:cNvSpPr/>
          <p:nvPr/>
        </p:nvSpPr>
        <p:spPr>
          <a:xfrm>
            <a:off x="0" y="0"/>
            <a:ext cx="12191700" cy="5670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0" y="566928"/>
            <a:ext cx="12191700" cy="456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411480" y="777240"/>
            <a:ext cx="3529500" cy="3108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p:nvPr/>
        </p:nvSpPr>
        <p:spPr>
          <a:xfrm>
            <a:off x="411480" y="777240"/>
            <a:ext cx="35295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4 · FINANCIAL</a:t>
            </a:r>
            <a:endParaRPr b="0" i="0" sz="1100" u="none" cap="none" strike="noStrike">
              <a:solidFill>
                <a:schemeClr val="dk1"/>
              </a:solidFill>
              <a:latin typeface="Calibri"/>
              <a:ea typeface="Calibri"/>
              <a:cs typeface="Calibri"/>
              <a:sym typeface="Calibri"/>
            </a:endParaRPr>
          </a:p>
        </p:txBody>
      </p:sp>
      <p:sp>
        <p:nvSpPr>
          <p:cNvPr id="199" name="Google Shape;199;p10"/>
          <p:cNvSpPr/>
          <p:nvPr/>
        </p:nvSpPr>
        <p:spPr>
          <a:xfrm>
            <a:off x="411480" y="1170432"/>
            <a:ext cx="11368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Pricing Strategy</a:t>
            </a:r>
            <a:endParaRPr b="0" i="0" sz="2700" u="none" cap="none" strike="noStrike">
              <a:solidFill>
                <a:schemeClr val="dk1"/>
              </a:solidFill>
              <a:latin typeface="Calibri"/>
              <a:ea typeface="Calibri"/>
              <a:cs typeface="Calibri"/>
              <a:sym typeface="Calibri"/>
            </a:endParaRPr>
          </a:p>
        </p:txBody>
      </p:sp>
      <p:sp>
        <p:nvSpPr>
          <p:cNvPr id="200" name="Google Shape;200;p10"/>
          <p:cNvSpPr/>
          <p:nvPr/>
        </p:nvSpPr>
        <p:spPr>
          <a:xfrm>
            <a:off x="411480" y="1700784"/>
            <a:ext cx="822900" cy="411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411480" y="1828800"/>
            <a:ext cx="11368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State which pricing approach you're using and why it's the right fit for your venture — then justify your price point in terms of customer value.</a:t>
            </a:r>
            <a:endParaRPr b="0" i="0" sz="1250" u="none" cap="none" strike="noStrike">
              <a:solidFill>
                <a:schemeClr val="dk1"/>
              </a:solidFill>
              <a:latin typeface="Calibri"/>
              <a:ea typeface="Calibri"/>
              <a:cs typeface="Calibri"/>
              <a:sym typeface="Calibri"/>
            </a:endParaRPr>
          </a:p>
        </p:txBody>
      </p:sp>
      <p:sp>
        <p:nvSpPr>
          <p:cNvPr id="202" name="Google Shape;202;p10"/>
          <p:cNvSpPr/>
          <p:nvPr/>
        </p:nvSpPr>
        <p:spPr>
          <a:xfrm>
            <a:off x="411480" y="2286000"/>
            <a:ext cx="3606600" cy="594300"/>
          </a:xfrm>
          <a:prstGeom prst="rect">
            <a:avLst/>
          </a:prstGeom>
          <a:solidFill>
            <a:srgbClr val="EDEEF3"/>
          </a:solidFill>
          <a:ln cap="flat" cmpd="sng" w="15875">
            <a:solidFill>
              <a:srgbClr val="2647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411480" y="2286000"/>
            <a:ext cx="36066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300"/>
              <a:buFont typeface="Arial"/>
              <a:buNone/>
            </a:pPr>
            <a:r>
              <a:rPr b="1" i="0" lang="en-US" sz="1300" u="none" cap="none" strike="noStrike">
                <a:solidFill>
                  <a:srgbClr val="0E1B4B"/>
                </a:solidFill>
                <a:latin typeface="Arial"/>
                <a:ea typeface="Arial"/>
                <a:cs typeface="Arial"/>
                <a:sym typeface="Arial"/>
              </a:rPr>
              <a:t>Cost-Plus</a:t>
            </a:r>
            <a:endParaRPr b="0" i="0" sz="1300" u="none" cap="none" strike="noStrike">
              <a:solidFill>
                <a:schemeClr val="dk1"/>
              </a:solidFill>
              <a:latin typeface="Calibri"/>
              <a:ea typeface="Calibri"/>
              <a:cs typeface="Calibri"/>
              <a:sym typeface="Calibri"/>
            </a:endParaRPr>
          </a:p>
        </p:txBody>
      </p:sp>
      <p:sp>
        <p:nvSpPr>
          <p:cNvPr id="204" name="Google Shape;204;p10"/>
          <p:cNvSpPr/>
          <p:nvPr/>
        </p:nvSpPr>
        <p:spPr>
          <a:xfrm>
            <a:off x="4292498" y="2286000"/>
            <a:ext cx="3606600" cy="594300"/>
          </a:xfrm>
          <a:prstGeom prst="rect">
            <a:avLst/>
          </a:prstGeom>
          <a:solidFill>
            <a:srgbClr val="EDEEF3"/>
          </a:solidFill>
          <a:ln cap="flat" cmpd="sng" w="15875">
            <a:solidFill>
              <a:srgbClr val="2647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4292498" y="2286000"/>
            <a:ext cx="36066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300"/>
              <a:buFont typeface="Arial"/>
              <a:buNone/>
            </a:pPr>
            <a:r>
              <a:rPr b="1" i="0" lang="en-US" sz="1300" u="none" cap="none" strike="noStrike">
                <a:solidFill>
                  <a:srgbClr val="0E1B4B"/>
                </a:solidFill>
                <a:latin typeface="Arial"/>
                <a:ea typeface="Arial"/>
                <a:cs typeface="Arial"/>
                <a:sym typeface="Arial"/>
              </a:rPr>
              <a:t>Competitor-Based</a:t>
            </a:r>
            <a:endParaRPr b="0" i="0" sz="1300" u="none" cap="none" strike="noStrike">
              <a:solidFill>
                <a:schemeClr val="dk1"/>
              </a:solidFill>
              <a:latin typeface="Calibri"/>
              <a:ea typeface="Calibri"/>
              <a:cs typeface="Calibri"/>
              <a:sym typeface="Calibri"/>
            </a:endParaRPr>
          </a:p>
        </p:txBody>
      </p:sp>
      <p:sp>
        <p:nvSpPr>
          <p:cNvPr id="206" name="Google Shape;206;p10"/>
          <p:cNvSpPr/>
          <p:nvPr/>
        </p:nvSpPr>
        <p:spPr>
          <a:xfrm>
            <a:off x="8173517" y="2286000"/>
            <a:ext cx="3606600" cy="594300"/>
          </a:xfrm>
          <a:prstGeom prst="rect">
            <a:avLst/>
          </a:prstGeom>
          <a:solidFill>
            <a:srgbClr val="EDEEF3"/>
          </a:solidFill>
          <a:ln cap="flat" cmpd="sng" w="15875">
            <a:solidFill>
              <a:srgbClr val="2647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8173517" y="2286000"/>
            <a:ext cx="36066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300"/>
              <a:buFont typeface="Arial"/>
              <a:buNone/>
            </a:pPr>
            <a:r>
              <a:rPr b="1" i="0" lang="en-US" sz="1300" u="none" cap="none" strike="noStrike">
                <a:solidFill>
                  <a:srgbClr val="0E1B4B"/>
                </a:solidFill>
                <a:latin typeface="Arial"/>
                <a:ea typeface="Arial"/>
                <a:cs typeface="Arial"/>
                <a:sym typeface="Arial"/>
              </a:rPr>
              <a:t>Value-Based</a:t>
            </a:r>
            <a:endParaRPr b="0" i="0" sz="1300" u="none" cap="none" strike="noStrike">
              <a:solidFill>
                <a:schemeClr val="dk1"/>
              </a:solidFill>
              <a:latin typeface="Calibri"/>
              <a:ea typeface="Calibri"/>
              <a:cs typeface="Calibri"/>
              <a:sym typeface="Calibri"/>
            </a:endParaRPr>
          </a:p>
        </p:txBody>
      </p:sp>
      <p:sp>
        <p:nvSpPr>
          <p:cNvPr id="208" name="Google Shape;208;p10"/>
          <p:cNvSpPr/>
          <p:nvPr/>
        </p:nvSpPr>
        <p:spPr>
          <a:xfrm>
            <a:off x="411480" y="2999232"/>
            <a:ext cx="11368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298AC"/>
              </a:buClr>
              <a:buSzPts val="1050"/>
              <a:buFont typeface="Arial"/>
              <a:buNone/>
            </a:pPr>
            <a:r>
              <a:rPr b="0" i="1">
                <a:solidFill>
                  <a:srgbClr val="9298AC"/>
                </a:solidFill>
                <a:latin typeface="Arial"/>
              </a:rPr>
              <a:t>Working hypothesis: VALUE-BASED pricing (test with customers before finalising).</a:t>
            </a:r>
            <a:endParaRPr b="0" i="0" sz="1050" u="none" cap="none" strike="noStrike">
              <a:solidFill>
                <a:schemeClr val="dk1"/>
              </a:solidFill>
              <a:latin typeface="Calibri"/>
              <a:ea typeface="Calibri"/>
              <a:cs typeface="Calibri"/>
              <a:sym typeface="Calibri"/>
            </a:endParaRPr>
          </a:p>
        </p:txBody>
      </p:sp>
      <p:sp>
        <p:nvSpPr>
          <p:cNvPr id="209" name="Google Shape;209;p10"/>
          <p:cNvSpPr/>
          <p:nvPr/>
        </p:nvSpPr>
        <p:spPr>
          <a:xfrm>
            <a:off x="411480" y="3429000"/>
            <a:ext cx="11368800" cy="9144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539496" y="3502152"/>
            <a:ext cx="11112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WHY THIS APPROACH FITS YOUR VENTURE</a:t>
            </a:r>
            <a:endParaRPr b="0" i="0" sz="1050" u="none" cap="none" strike="noStrike">
              <a:solidFill>
                <a:schemeClr val="dk1"/>
              </a:solidFill>
              <a:latin typeface="Calibri"/>
              <a:ea typeface="Calibri"/>
              <a:cs typeface="Calibri"/>
              <a:sym typeface="Calibri"/>
            </a:endParaRPr>
          </a:p>
        </p:txBody>
      </p:sp>
      <p:sp>
        <p:nvSpPr>
          <p:cNvPr id="211" name="Google Shape;211;p10"/>
          <p:cNvSpPr/>
          <p:nvPr/>
        </p:nvSpPr>
        <p:spPr>
          <a:xfrm>
            <a:off x="539496" y="3776472"/>
            <a:ext cx="11112600" cy="49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A value-based approach connects the fee to campaign scope and the value of clearer promotion, organised enquiries and reporting. Validate willingness to pay during interviews and pilots.</a:t>
            </a:r>
            <a:endParaRPr b="0" i="0" sz="1050" u="none" cap="none" strike="noStrike">
              <a:solidFill>
                <a:schemeClr val="dk1"/>
              </a:solidFill>
              <a:latin typeface="Calibri"/>
              <a:ea typeface="Calibri"/>
              <a:cs typeface="Calibri"/>
              <a:sym typeface="Calibri"/>
            </a:endParaRPr>
          </a:p>
        </p:txBody>
      </p:sp>
      <p:sp>
        <p:nvSpPr>
          <p:cNvPr id="212" name="Google Shape;212;p10"/>
          <p:cNvSpPr/>
          <p:nvPr/>
        </p:nvSpPr>
        <p:spPr>
          <a:xfrm>
            <a:off x="411480" y="4480560"/>
            <a:ext cx="5547300" cy="13716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539496" y="4553712"/>
            <a:ext cx="52911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YOUR PRICE POINT(S)</a:t>
            </a:r>
            <a:endParaRPr b="0" i="0" sz="1050" u="none" cap="none" strike="noStrike">
              <a:solidFill>
                <a:schemeClr val="dk1"/>
              </a:solidFill>
              <a:latin typeface="Calibri"/>
              <a:ea typeface="Calibri"/>
              <a:cs typeface="Calibri"/>
              <a:sym typeface="Calibri"/>
            </a:endParaRPr>
          </a:p>
        </p:txBody>
      </p:sp>
      <p:sp>
        <p:nvSpPr>
          <p:cNvPr id="214" name="Google Shape;214;p10"/>
          <p:cNvSpPr/>
          <p:nvPr/>
        </p:nvSpPr>
        <p:spPr>
          <a:xfrm>
            <a:off x="539496" y="4828032"/>
            <a:ext cx="5291100" cy="95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Working price hypothesis: RWF 150,000 per month for a clearly defined support package.</a:t>
            </a:r>
            <a:endParaRPr b="0" i="0" sz="1050" u="none" cap="none" strike="noStrike">
              <a:solidFill>
                <a:schemeClr val="dk1"/>
              </a:solidFill>
              <a:latin typeface="Calibri"/>
              <a:ea typeface="Calibri"/>
              <a:cs typeface="Calibri"/>
              <a:sym typeface="Calibri"/>
            </a:endParaRPr>
          </a:p>
        </p:txBody>
      </p:sp>
      <p:sp>
        <p:nvSpPr>
          <p:cNvPr id="215" name="Google Shape;215;p10"/>
          <p:cNvSpPr/>
          <p:nvPr/>
        </p:nvSpPr>
        <p:spPr>
          <a:xfrm>
            <a:off x="6233008" y="4480560"/>
            <a:ext cx="5547300" cy="13716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6361024" y="4553712"/>
            <a:ext cx="52911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VALUE JUSTIFICATION</a:t>
            </a:r>
            <a:endParaRPr b="0" i="0" sz="1050" u="none" cap="none" strike="noStrike">
              <a:solidFill>
                <a:schemeClr val="dk1"/>
              </a:solidFill>
              <a:latin typeface="Calibri"/>
              <a:ea typeface="Calibri"/>
              <a:cs typeface="Calibri"/>
              <a:sym typeface="Calibri"/>
            </a:endParaRPr>
          </a:p>
        </p:txBody>
      </p:sp>
      <p:sp>
        <p:nvSpPr>
          <p:cNvPr id="217" name="Google Shape;217;p10"/>
          <p:cNvSpPr/>
          <p:nvPr/>
        </p:nvSpPr>
        <p:spPr>
          <a:xfrm>
            <a:off x="6361024" y="4828032"/>
            <a:ext cx="5291100" cy="95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The package should deliver agreed campaign tasks, useful reporting and reliable follow-up. Confirm deliverables, time and customer willingness to pay before treating this as a final price.</a:t>
            </a:r>
            <a:endParaRPr b="0" i="0" sz="1050" u="none" cap="none" strike="noStrike">
              <a:solidFill>
                <a:schemeClr val="dk1"/>
              </a:solidFill>
              <a:latin typeface="Calibri"/>
              <a:ea typeface="Calibri"/>
              <a:cs typeface="Calibri"/>
              <a:sym typeface="Calibri"/>
            </a:endParaRPr>
          </a:p>
        </p:txBody>
      </p:sp>
      <p:sp>
        <p:nvSpPr>
          <p:cNvPr id="218" name="Google Shape;218;p10"/>
          <p:cNvSpPr/>
          <p:nvPr/>
        </p:nvSpPr>
        <p:spPr>
          <a:xfrm>
            <a:off x="411480" y="649224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4: Financial Model</a:t>
            </a:r>
            <a:endParaRPr b="0" i="0" sz="900" u="none" cap="none" strike="noStrike">
              <a:solidFill>
                <a:schemeClr val="dk1"/>
              </a:solidFill>
              <a:latin typeface="Calibri"/>
              <a:ea typeface="Calibri"/>
              <a:cs typeface="Calibri"/>
              <a:sym typeface="Calibri"/>
            </a:endParaRPr>
          </a:p>
        </p:txBody>
      </p:sp>
      <p:sp>
        <p:nvSpPr>
          <p:cNvPr id="219" name="Google Shape;219;p10"/>
          <p:cNvSpPr/>
          <p:nvPr/>
        </p:nvSpPr>
        <p:spPr>
          <a:xfrm>
            <a:off x="11368735" y="6492240"/>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19</a:t>
            </a:r>
            <a:endParaRPr b="0" i="0" sz="900" u="none" cap="none" strike="noStrike">
              <a:solidFill>
                <a:schemeClr val="dk1"/>
              </a:solidFill>
              <a:latin typeface="Calibri"/>
              <a:ea typeface="Calibri"/>
              <a:cs typeface="Calibri"/>
              <a:sym typeface="Calibri"/>
            </a:endParaRPr>
          </a:p>
        </p:txBody>
      </p:sp>
      <p:cxnSp>
        <p:nvCxnSpPr>
          <p:cNvPr id="220" name="Google Shape;220;p10"/>
          <p:cNvCxnSpPr/>
          <p:nvPr/>
        </p:nvCxnSpPr>
        <p:spPr>
          <a:xfrm>
            <a:off x="411480" y="6437376"/>
            <a:ext cx="11368800"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1"/>
          <p:cNvSpPr/>
          <p:nvPr/>
        </p:nvSpPr>
        <p:spPr>
          <a:xfrm>
            <a:off x="0" y="0"/>
            <a:ext cx="12191700" cy="5670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0" y="566928"/>
            <a:ext cx="12191700" cy="456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411480" y="777240"/>
            <a:ext cx="3529500" cy="3108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411480" y="777240"/>
            <a:ext cx="35295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4 · FINANCIAL</a:t>
            </a:r>
            <a:endParaRPr b="0" i="0" sz="1100" u="none" cap="none" strike="noStrike">
              <a:solidFill>
                <a:schemeClr val="dk1"/>
              </a:solidFill>
              <a:latin typeface="Calibri"/>
              <a:ea typeface="Calibri"/>
              <a:cs typeface="Calibri"/>
              <a:sym typeface="Calibri"/>
            </a:endParaRPr>
          </a:p>
        </p:txBody>
      </p:sp>
      <p:sp>
        <p:nvSpPr>
          <p:cNvPr id="230" name="Google Shape;230;p11"/>
          <p:cNvSpPr/>
          <p:nvPr/>
        </p:nvSpPr>
        <p:spPr>
          <a:xfrm>
            <a:off x="411480" y="1170432"/>
            <a:ext cx="11368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Revenue Projections</a:t>
            </a:r>
            <a:endParaRPr b="0" i="0" sz="2700" u="none" cap="none" strike="noStrike">
              <a:solidFill>
                <a:schemeClr val="dk1"/>
              </a:solidFill>
              <a:latin typeface="Calibri"/>
              <a:ea typeface="Calibri"/>
              <a:cs typeface="Calibri"/>
              <a:sym typeface="Calibri"/>
            </a:endParaRPr>
          </a:p>
        </p:txBody>
      </p:sp>
      <p:sp>
        <p:nvSpPr>
          <p:cNvPr id="231" name="Google Shape;231;p11"/>
          <p:cNvSpPr/>
          <p:nvPr/>
        </p:nvSpPr>
        <p:spPr>
          <a:xfrm>
            <a:off x="411480" y="1700784"/>
            <a:ext cx="822900" cy="411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411480" y="1828800"/>
            <a:ext cx="11368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Use the Bottom-Up method — show your realistic reach, conversion rate, units sold, and resulting revenue for at least Months 1, 3, and 6.</a:t>
            </a:r>
            <a:endParaRPr b="0" i="0" sz="1250" u="none" cap="none" strike="noStrike">
              <a:solidFill>
                <a:schemeClr val="dk1"/>
              </a:solidFill>
              <a:latin typeface="Calibri"/>
              <a:ea typeface="Calibri"/>
              <a:cs typeface="Calibri"/>
              <a:sym typeface="Calibri"/>
            </a:endParaRPr>
          </a:p>
        </p:txBody>
      </p:sp>
      <p:sp>
        <p:nvSpPr>
          <p:cNvPr id="233" name="Google Shape;233;p11"/>
          <p:cNvSpPr/>
          <p:nvPr/>
        </p:nvSpPr>
        <p:spPr>
          <a:xfrm>
            <a:off x="411480" y="2240280"/>
            <a:ext cx="11368800" cy="694800"/>
          </a:xfrm>
          <a:prstGeom prst="rect">
            <a:avLst/>
          </a:prstGeom>
          <a:solidFill>
            <a:srgbClr val="E4EAFB"/>
          </a:solidFill>
          <a:ln cap="flat" cmpd="sng" w="9525">
            <a:solidFill>
              <a:srgbClr val="A9C2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411480" y="2240280"/>
            <a:ext cx="54900" cy="694800"/>
          </a:xfrm>
          <a:prstGeom prst="rect">
            <a:avLst/>
          </a:prstGeom>
          <a:solidFill>
            <a:srgbClr val="264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621792" y="2295144"/>
            <a:ext cx="11003100" cy="585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150"/>
              <a:buFont typeface="Arial"/>
              <a:buNone/>
            </a:pPr>
            <a:r>
              <a:rPr b="0" i="1" lang="en-US" sz="1150" u="none" cap="none" strike="noStrike">
                <a:solidFill>
                  <a:srgbClr val="0E1B4B"/>
                </a:solidFill>
                <a:latin typeface="Arial"/>
                <a:ea typeface="Arial"/>
                <a:cs typeface="Arial"/>
                <a:sym typeface="Arial"/>
              </a:rPr>
              <a:t>THE FORMULA:  Revenue = Realistic Reach  ×  Conversion Rate  ×  Price per Unit. Every number should be one you can defend, not one that sounds good.</a:t>
            </a:r>
            <a:endParaRPr b="0" i="0" sz="1150" u="none" cap="none" strike="noStrike">
              <a:solidFill>
                <a:schemeClr val="dk1"/>
              </a:solidFill>
              <a:latin typeface="Calibri"/>
              <a:ea typeface="Calibri"/>
              <a:cs typeface="Calibri"/>
              <a:sym typeface="Calibri"/>
            </a:endParaRPr>
          </a:p>
        </p:txBody>
      </p:sp>
      <p:sp>
        <p:nvSpPr>
          <p:cNvPr id="236" name="Google Shape;236;p11"/>
          <p:cNvSpPr/>
          <p:nvPr/>
        </p:nvSpPr>
        <p:spPr>
          <a:xfrm>
            <a:off x="411480" y="3118104"/>
            <a:ext cx="14172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484632" y="3118104"/>
            <a:ext cx="12711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MONTH</a:t>
            </a:r>
            <a:endParaRPr b="0" i="0" sz="950" u="none" cap="none" strike="noStrike">
              <a:solidFill>
                <a:schemeClr val="dk1"/>
              </a:solidFill>
              <a:latin typeface="Calibri"/>
              <a:ea typeface="Calibri"/>
              <a:cs typeface="Calibri"/>
              <a:sym typeface="Calibri"/>
            </a:endParaRPr>
          </a:p>
        </p:txBody>
      </p:sp>
      <p:sp>
        <p:nvSpPr>
          <p:cNvPr id="238" name="Google Shape;238;p11"/>
          <p:cNvSpPr/>
          <p:nvPr/>
        </p:nvSpPr>
        <p:spPr>
          <a:xfrm>
            <a:off x="1828800" y="3118104"/>
            <a:ext cx="21489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1901952" y="3118104"/>
            <a:ext cx="20025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REALISTIC REACH</a:t>
            </a:r>
            <a:endParaRPr b="0" i="0" sz="950" u="none" cap="none" strike="noStrike">
              <a:solidFill>
                <a:schemeClr val="dk1"/>
              </a:solidFill>
              <a:latin typeface="Calibri"/>
              <a:ea typeface="Calibri"/>
              <a:cs typeface="Calibri"/>
              <a:sym typeface="Calibri"/>
            </a:endParaRPr>
          </a:p>
        </p:txBody>
      </p:sp>
      <p:sp>
        <p:nvSpPr>
          <p:cNvPr id="240" name="Google Shape;240;p11"/>
          <p:cNvSpPr/>
          <p:nvPr/>
        </p:nvSpPr>
        <p:spPr>
          <a:xfrm>
            <a:off x="3977640" y="3118104"/>
            <a:ext cx="19203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4050792" y="3118104"/>
            <a:ext cx="1773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CONVERSION RATE</a:t>
            </a:r>
            <a:endParaRPr b="0" i="0" sz="950" u="none" cap="none" strike="noStrike">
              <a:solidFill>
                <a:schemeClr val="dk1"/>
              </a:solidFill>
              <a:latin typeface="Calibri"/>
              <a:ea typeface="Calibri"/>
              <a:cs typeface="Calibri"/>
              <a:sym typeface="Calibri"/>
            </a:endParaRPr>
          </a:p>
        </p:txBody>
      </p:sp>
      <p:sp>
        <p:nvSpPr>
          <p:cNvPr id="242" name="Google Shape;242;p11"/>
          <p:cNvSpPr/>
          <p:nvPr/>
        </p:nvSpPr>
        <p:spPr>
          <a:xfrm>
            <a:off x="5897880" y="3118104"/>
            <a:ext cx="16917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5971032" y="3118104"/>
            <a:ext cx="1545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UNITS SOLD</a:t>
            </a:r>
            <a:endParaRPr b="0" i="0" sz="950" u="none" cap="none" strike="noStrike">
              <a:solidFill>
                <a:schemeClr val="dk1"/>
              </a:solidFill>
              <a:latin typeface="Calibri"/>
              <a:ea typeface="Calibri"/>
              <a:cs typeface="Calibri"/>
              <a:sym typeface="Calibri"/>
            </a:endParaRPr>
          </a:p>
        </p:txBody>
      </p:sp>
      <p:sp>
        <p:nvSpPr>
          <p:cNvPr id="244" name="Google Shape;244;p11"/>
          <p:cNvSpPr/>
          <p:nvPr/>
        </p:nvSpPr>
        <p:spPr>
          <a:xfrm>
            <a:off x="7589520" y="3118104"/>
            <a:ext cx="16917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7662672" y="3118104"/>
            <a:ext cx="1545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PRICE / UNIT</a:t>
            </a:r>
            <a:endParaRPr b="0" i="0" sz="950" u="none" cap="none" strike="noStrike">
              <a:solidFill>
                <a:schemeClr val="dk1"/>
              </a:solidFill>
              <a:latin typeface="Calibri"/>
              <a:ea typeface="Calibri"/>
              <a:cs typeface="Calibri"/>
              <a:sym typeface="Calibri"/>
            </a:endParaRPr>
          </a:p>
        </p:txBody>
      </p:sp>
      <p:sp>
        <p:nvSpPr>
          <p:cNvPr id="246" name="Google Shape;246;p11"/>
          <p:cNvSpPr/>
          <p:nvPr/>
        </p:nvSpPr>
        <p:spPr>
          <a:xfrm>
            <a:off x="9281160" y="3118104"/>
            <a:ext cx="24507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9354312" y="3118104"/>
            <a:ext cx="2304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REVENUE</a:t>
            </a:r>
            <a:endParaRPr b="0" i="0" sz="950" u="none" cap="none" strike="noStrike">
              <a:solidFill>
                <a:schemeClr val="dk1"/>
              </a:solidFill>
              <a:latin typeface="Calibri"/>
              <a:ea typeface="Calibri"/>
              <a:cs typeface="Calibri"/>
              <a:sym typeface="Calibri"/>
            </a:endParaRPr>
          </a:p>
        </p:txBody>
      </p:sp>
      <p:sp>
        <p:nvSpPr>
          <p:cNvPr id="248" name="Google Shape;248;p11"/>
          <p:cNvSpPr/>
          <p:nvPr/>
        </p:nvSpPr>
        <p:spPr>
          <a:xfrm>
            <a:off x="411480" y="3621024"/>
            <a:ext cx="14172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484632" y="3621024"/>
            <a:ext cx="12711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000"/>
              <a:buFont typeface="Arial"/>
              <a:buNone/>
            </a:pPr>
            <a:r>
              <a:rPr b="1" i="0" lang="en-US" sz="1000" u="none" cap="none" strike="noStrike">
                <a:solidFill>
                  <a:srgbClr val="0E1B4B"/>
                </a:solidFill>
                <a:latin typeface="Arial"/>
                <a:ea typeface="Arial"/>
                <a:cs typeface="Arial"/>
                <a:sym typeface="Arial"/>
              </a:rPr>
              <a:t>Month 1</a:t>
            </a:r>
            <a:endParaRPr b="0" i="0" sz="1000" u="none" cap="none" strike="noStrike">
              <a:solidFill>
                <a:schemeClr val="dk1"/>
              </a:solidFill>
              <a:latin typeface="Calibri"/>
              <a:ea typeface="Calibri"/>
              <a:cs typeface="Calibri"/>
              <a:sym typeface="Calibri"/>
            </a:endParaRPr>
          </a:p>
        </p:txBody>
      </p:sp>
      <p:sp>
        <p:nvSpPr>
          <p:cNvPr id="250" name="Google Shape;250;p11"/>
          <p:cNvSpPr/>
          <p:nvPr/>
        </p:nvSpPr>
        <p:spPr>
          <a:xfrm>
            <a:off x="1828800" y="3621024"/>
            <a:ext cx="21489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1901952" y="3621024"/>
            <a:ext cx="20025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30 prospects</a:t>
            </a:r>
            <a:endParaRPr b="0" i="0" sz="900" u="none" cap="none" strike="noStrike">
              <a:solidFill>
                <a:schemeClr val="dk1"/>
              </a:solidFill>
              <a:latin typeface="Calibri"/>
              <a:ea typeface="Calibri"/>
              <a:cs typeface="Calibri"/>
              <a:sym typeface="Calibri"/>
            </a:endParaRPr>
          </a:p>
        </p:txBody>
      </p:sp>
      <p:sp>
        <p:nvSpPr>
          <p:cNvPr id="252" name="Google Shape;252;p11"/>
          <p:cNvSpPr/>
          <p:nvPr/>
        </p:nvSpPr>
        <p:spPr>
          <a:xfrm>
            <a:off x="3977640" y="3621024"/>
            <a:ext cx="19203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4050792" y="3621024"/>
            <a:ext cx="1773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0% paid</a:t>
            </a:r>
            <a:endParaRPr b="0" i="0" sz="900" u="none" cap="none" strike="noStrike">
              <a:solidFill>
                <a:schemeClr val="dk1"/>
              </a:solidFill>
              <a:latin typeface="Calibri"/>
              <a:ea typeface="Calibri"/>
              <a:cs typeface="Calibri"/>
              <a:sym typeface="Calibri"/>
            </a:endParaRPr>
          </a:p>
        </p:txBody>
      </p:sp>
      <p:sp>
        <p:nvSpPr>
          <p:cNvPr id="254" name="Google Shape;254;p11"/>
          <p:cNvSpPr/>
          <p:nvPr/>
        </p:nvSpPr>
        <p:spPr>
          <a:xfrm>
            <a:off x="5897880" y="3621024"/>
            <a:ext cx="16917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5971032" y="3621024"/>
            <a:ext cx="1545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0 clients</a:t>
            </a:r>
            <a:endParaRPr b="0" i="0" sz="900" u="none" cap="none" strike="noStrike">
              <a:solidFill>
                <a:schemeClr val="dk1"/>
              </a:solidFill>
              <a:latin typeface="Calibri"/>
              <a:ea typeface="Calibri"/>
              <a:cs typeface="Calibri"/>
              <a:sym typeface="Calibri"/>
            </a:endParaRPr>
          </a:p>
        </p:txBody>
      </p:sp>
      <p:sp>
        <p:nvSpPr>
          <p:cNvPr id="256" name="Google Shape;256;p11"/>
          <p:cNvSpPr/>
          <p:nvPr/>
        </p:nvSpPr>
        <p:spPr>
          <a:xfrm>
            <a:off x="7589520" y="3621024"/>
            <a:ext cx="16917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7662672" y="3621024"/>
            <a:ext cx="1545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RWF 150k</a:t>
            </a:r>
            <a:endParaRPr b="0" i="0" sz="900" u="none" cap="none" strike="noStrike">
              <a:solidFill>
                <a:schemeClr val="dk1"/>
              </a:solidFill>
              <a:latin typeface="Calibri"/>
              <a:ea typeface="Calibri"/>
              <a:cs typeface="Calibri"/>
              <a:sym typeface="Calibri"/>
            </a:endParaRPr>
          </a:p>
        </p:txBody>
      </p:sp>
      <p:sp>
        <p:nvSpPr>
          <p:cNvPr id="258" name="Google Shape;258;p11"/>
          <p:cNvSpPr/>
          <p:nvPr/>
        </p:nvSpPr>
        <p:spPr>
          <a:xfrm>
            <a:off x="9281160" y="3621024"/>
            <a:ext cx="24507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9354312" y="3621024"/>
            <a:ext cx="2304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RWF 0</a:t>
            </a:r>
            <a:endParaRPr b="0" i="0" sz="900" u="none" cap="none" strike="noStrike">
              <a:solidFill>
                <a:schemeClr val="dk1"/>
              </a:solidFill>
              <a:latin typeface="Calibri"/>
              <a:ea typeface="Calibri"/>
              <a:cs typeface="Calibri"/>
              <a:sym typeface="Calibri"/>
            </a:endParaRPr>
          </a:p>
        </p:txBody>
      </p:sp>
      <p:sp>
        <p:nvSpPr>
          <p:cNvPr id="260" name="Google Shape;260;p11"/>
          <p:cNvSpPr/>
          <p:nvPr/>
        </p:nvSpPr>
        <p:spPr>
          <a:xfrm>
            <a:off x="411480" y="4123944"/>
            <a:ext cx="14172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484632" y="4123944"/>
            <a:ext cx="12711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000"/>
              <a:buFont typeface="Arial"/>
              <a:buNone/>
            </a:pPr>
            <a:r>
              <a:rPr b="1" i="0" lang="en-US" sz="1000" u="none" cap="none" strike="noStrike">
                <a:solidFill>
                  <a:srgbClr val="0E1B4B"/>
                </a:solidFill>
                <a:latin typeface="Arial"/>
                <a:ea typeface="Arial"/>
                <a:cs typeface="Arial"/>
                <a:sym typeface="Arial"/>
              </a:rPr>
              <a:t>Month 3</a:t>
            </a:r>
            <a:endParaRPr b="0" i="0" sz="1000" u="none" cap="none" strike="noStrike">
              <a:solidFill>
                <a:schemeClr val="dk1"/>
              </a:solidFill>
              <a:latin typeface="Calibri"/>
              <a:ea typeface="Calibri"/>
              <a:cs typeface="Calibri"/>
              <a:sym typeface="Calibri"/>
            </a:endParaRPr>
          </a:p>
        </p:txBody>
      </p:sp>
      <p:sp>
        <p:nvSpPr>
          <p:cNvPr id="262" name="Google Shape;262;p11"/>
          <p:cNvSpPr/>
          <p:nvPr/>
        </p:nvSpPr>
        <p:spPr>
          <a:xfrm>
            <a:off x="1828800" y="4123944"/>
            <a:ext cx="21489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60 prospects</a:t>
            </a:r>
            <a:endParaRPr/>
          </a:p>
        </p:txBody>
      </p:sp>
      <p:sp>
        <p:nvSpPr>
          <p:cNvPr id="263" name="Google Shape;263;p11"/>
          <p:cNvSpPr/>
          <p:nvPr/>
        </p:nvSpPr>
        <p:spPr>
          <a:xfrm>
            <a:off x="1901952" y="4123944"/>
            <a:ext cx="20025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64" name="Google Shape;264;p11"/>
          <p:cNvSpPr/>
          <p:nvPr/>
        </p:nvSpPr>
        <p:spPr>
          <a:xfrm>
            <a:off x="3977640" y="4123944"/>
            <a:ext cx="19203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3.3%</a:t>
            </a:r>
            <a:endParaRPr/>
          </a:p>
        </p:txBody>
      </p:sp>
      <p:sp>
        <p:nvSpPr>
          <p:cNvPr id="265" name="Google Shape;265;p11"/>
          <p:cNvSpPr/>
          <p:nvPr/>
        </p:nvSpPr>
        <p:spPr>
          <a:xfrm>
            <a:off x="4050792" y="4123944"/>
            <a:ext cx="1773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66" name="Google Shape;266;p11"/>
          <p:cNvSpPr/>
          <p:nvPr/>
        </p:nvSpPr>
        <p:spPr>
          <a:xfrm>
            <a:off x="5897880" y="4123944"/>
            <a:ext cx="16917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2 clients</a:t>
            </a:r>
            <a:endParaRPr/>
          </a:p>
        </p:txBody>
      </p:sp>
      <p:sp>
        <p:nvSpPr>
          <p:cNvPr id="267" name="Google Shape;267;p11"/>
          <p:cNvSpPr/>
          <p:nvPr/>
        </p:nvSpPr>
        <p:spPr>
          <a:xfrm>
            <a:off x="5971032" y="4123944"/>
            <a:ext cx="1545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68" name="Google Shape;268;p11"/>
          <p:cNvSpPr/>
          <p:nvPr/>
        </p:nvSpPr>
        <p:spPr>
          <a:xfrm>
            <a:off x="7589520" y="4123944"/>
            <a:ext cx="16917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RWF 150k</a:t>
            </a:r>
            <a:endParaRPr/>
          </a:p>
        </p:txBody>
      </p:sp>
      <p:sp>
        <p:nvSpPr>
          <p:cNvPr id="269" name="Google Shape;269;p11"/>
          <p:cNvSpPr/>
          <p:nvPr/>
        </p:nvSpPr>
        <p:spPr>
          <a:xfrm>
            <a:off x="7662672" y="4123944"/>
            <a:ext cx="1545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70" name="Google Shape;270;p11"/>
          <p:cNvSpPr/>
          <p:nvPr/>
        </p:nvSpPr>
        <p:spPr>
          <a:xfrm>
            <a:off x="9281160" y="4123944"/>
            <a:ext cx="24507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RWF 300k</a:t>
            </a:r>
            <a:endParaRPr/>
          </a:p>
        </p:txBody>
      </p:sp>
      <p:sp>
        <p:nvSpPr>
          <p:cNvPr id="271" name="Google Shape;271;p11"/>
          <p:cNvSpPr/>
          <p:nvPr/>
        </p:nvSpPr>
        <p:spPr>
          <a:xfrm>
            <a:off x="9354312" y="4123944"/>
            <a:ext cx="2304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72" name="Google Shape;272;p11"/>
          <p:cNvSpPr/>
          <p:nvPr/>
        </p:nvSpPr>
        <p:spPr>
          <a:xfrm>
            <a:off x="411480" y="4626864"/>
            <a:ext cx="14172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484632" y="4626864"/>
            <a:ext cx="12711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000"/>
              <a:buFont typeface="Arial"/>
              <a:buNone/>
            </a:pPr>
            <a:r>
              <a:rPr b="1" i="0" lang="en-US" sz="1000" u="none" cap="none" strike="noStrike">
                <a:solidFill>
                  <a:srgbClr val="0E1B4B"/>
                </a:solidFill>
                <a:latin typeface="Arial"/>
                <a:ea typeface="Arial"/>
                <a:cs typeface="Arial"/>
                <a:sym typeface="Arial"/>
              </a:rPr>
              <a:t>Month 6</a:t>
            </a:r>
            <a:endParaRPr b="0" i="0" sz="1000" u="none" cap="none" strike="noStrike">
              <a:solidFill>
                <a:schemeClr val="dk1"/>
              </a:solidFill>
              <a:latin typeface="Calibri"/>
              <a:ea typeface="Calibri"/>
              <a:cs typeface="Calibri"/>
              <a:sym typeface="Calibri"/>
            </a:endParaRPr>
          </a:p>
        </p:txBody>
      </p:sp>
      <p:sp>
        <p:nvSpPr>
          <p:cNvPr id="274" name="Google Shape;274;p11"/>
          <p:cNvSpPr/>
          <p:nvPr/>
        </p:nvSpPr>
        <p:spPr>
          <a:xfrm>
            <a:off x="1828800" y="4626864"/>
            <a:ext cx="21489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90 prospects</a:t>
            </a:r>
            <a:endParaRPr/>
          </a:p>
        </p:txBody>
      </p:sp>
      <p:sp>
        <p:nvSpPr>
          <p:cNvPr id="275" name="Google Shape;275;p11"/>
          <p:cNvSpPr/>
          <p:nvPr/>
        </p:nvSpPr>
        <p:spPr>
          <a:xfrm>
            <a:off x="1901952" y="4626864"/>
            <a:ext cx="20025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76" name="Google Shape;276;p11"/>
          <p:cNvSpPr/>
          <p:nvPr/>
        </p:nvSpPr>
        <p:spPr>
          <a:xfrm>
            <a:off x="3977640" y="4626864"/>
            <a:ext cx="19203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3.3%</a:t>
            </a:r>
            <a:endParaRPr/>
          </a:p>
        </p:txBody>
      </p:sp>
      <p:sp>
        <p:nvSpPr>
          <p:cNvPr id="277" name="Google Shape;277;p11"/>
          <p:cNvSpPr/>
          <p:nvPr/>
        </p:nvSpPr>
        <p:spPr>
          <a:xfrm>
            <a:off x="4050792" y="4626864"/>
            <a:ext cx="1773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78" name="Google Shape;278;p11"/>
          <p:cNvSpPr/>
          <p:nvPr/>
        </p:nvSpPr>
        <p:spPr>
          <a:xfrm>
            <a:off x="5897880" y="4626864"/>
            <a:ext cx="16917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3 clients</a:t>
            </a:r>
            <a:endParaRPr/>
          </a:p>
        </p:txBody>
      </p:sp>
      <p:sp>
        <p:nvSpPr>
          <p:cNvPr id="279" name="Google Shape;279;p11"/>
          <p:cNvSpPr/>
          <p:nvPr/>
        </p:nvSpPr>
        <p:spPr>
          <a:xfrm>
            <a:off x="5971032" y="4626864"/>
            <a:ext cx="1545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80" name="Google Shape;280;p11"/>
          <p:cNvSpPr/>
          <p:nvPr/>
        </p:nvSpPr>
        <p:spPr>
          <a:xfrm>
            <a:off x="7589520" y="4626864"/>
            <a:ext cx="16917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RWF 150k</a:t>
            </a:r>
            <a:endParaRPr/>
          </a:p>
        </p:txBody>
      </p:sp>
      <p:sp>
        <p:nvSpPr>
          <p:cNvPr id="281" name="Google Shape;281;p11"/>
          <p:cNvSpPr/>
          <p:nvPr/>
        </p:nvSpPr>
        <p:spPr>
          <a:xfrm>
            <a:off x="7662672" y="4626864"/>
            <a:ext cx="1545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82" name="Google Shape;282;p11"/>
          <p:cNvSpPr/>
          <p:nvPr/>
        </p:nvSpPr>
        <p:spPr>
          <a:xfrm>
            <a:off x="9281160" y="4626864"/>
            <a:ext cx="24507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sz="1000"/>
              <a:t>RWF 450k</a:t>
            </a:r>
            <a:endParaRPr/>
          </a:p>
        </p:txBody>
      </p:sp>
      <p:sp>
        <p:nvSpPr>
          <p:cNvPr id="283" name="Google Shape;283;p11"/>
          <p:cNvSpPr/>
          <p:nvPr/>
        </p:nvSpPr>
        <p:spPr>
          <a:xfrm>
            <a:off x="9354312" y="4626864"/>
            <a:ext cx="2304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84" name="Google Shape;284;p11"/>
          <p:cNvSpPr/>
          <p:nvPr/>
        </p:nvSpPr>
        <p:spPr>
          <a:xfrm>
            <a:off x="411480" y="649224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4: Financial Model</a:t>
            </a:r>
            <a:endParaRPr b="0" i="0" sz="900" u="none" cap="none" strike="noStrike">
              <a:solidFill>
                <a:schemeClr val="dk1"/>
              </a:solidFill>
              <a:latin typeface="Calibri"/>
              <a:ea typeface="Calibri"/>
              <a:cs typeface="Calibri"/>
              <a:sym typeface="Calibri"/>
            </a:endParaRPr>
          </a:p>
        </p:txBody>
      </p:sp>
      <p:sp>
        <p:nvSpPr>
          <p:cNvPr id="285" name="Google Shape;285;p11"/>
          <p:cNvSpPr/>
          <p:nvPr/>
        </p:nvSpPr>
        <p:spPr>
          <a:xfrm>
            <a:off x="11368735" y="6492240"/>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20</a:t>
            </a:r>
            <a:endParaRPr b="0" i="0" sz="900" u="none" cap="none" strike="noStrike">
              <a:solidFill>
                <a:schemeClr val="dk1"/>
              </a:solidFill>
              <a:latin typeface="Calibri"/>
              <a:ea typeface="Calibri"/>
              <a:cs typeface="Calibri"/>
              <a:sym typeface="Calibri"/>
            </a:endParaRPr>
          </a:p>
        </p:txBody>
      </p:sp>
      <p:cxnSp>
        <p:nvCxnSpPr>
          <p:cNvPr id="286" name="Google Shape;286;p11"/>
          <p:cNvCxnSpPr/>
          <p:nvPr/>
        </p:nvCxnSpPr>
        <p:spPr>
          <a:xfrm>
            <a:off x="411480" y="6437376"/>
            <a:ext cx="11368800"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2"/>
          <p:cNvSpPr/>
          <p:nvPr/>
        </p:nvSpPr>
        <p:spPr>
          <a:xfrm>
            <a:off x="0" y="0"/>
            <a:ext cx="12191700" cy="5670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0" y="566928"/>
            <a:ext cx="12191700" cy="456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11480" y="777240"/>
            <a:ext cx="3529500" cy="3108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2"/>
          <p:cNvSpPr/>
          <p:nvPr/>
        </p:nvSpPr>
        <p:spPr>
          <a:xfrm>
            <a:off x="411480" y="777240"/>
            <a:ext cx="35295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4 · FINANCIAL</a:t>
            </a:r>
            <a:endParaRPr b="0" i="0" sz="1100" u="none" cap="none" strike="noStrike">
              <a:solidFill>
                <a:schemeClr val="dk1"/>
              </a:solidFill>
              <a:latin typeface="Calibri"/>
              <a:ea typeface="Calibri"/>
              <a:cs typeface="Calibri"/>
              <a:sym typeface="Calibri"/>
            </a:endParaRPr>
          </a:p>
        </p:txBody>
      </p:sp>
      <p:sp>
        <p:nvSpPr>
          <p:cNvPr id="296" name="Google Shape;296;p12"/>
          <p:cNvSpPr/>
          <p:nvPr/>
        </p:nvSpPr>
        <p:spPr>
          <a:xfrm>
            <a:off x="411480" y="1170432"/>
            <a:ext cx="11368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Cash Flow Tracker</a:t>
            </a:r>
            <a:endParaRPr b="0" i="0" sz="2700" u="none" cap="none" strike="noStrike">
              <a:solidFill>
                <a:schemeClr val="dk1"/>
              </a:solidFill>
              <a:latin typeface="Calibri"/>
              <a:ea typeface="Calibri"/>
              <a:cs typeface="Calibri"/>
              <a:sym typeface="Calibri"/>
            </a:endParaRPr>
          </a:p>
        </p:txBody>
      </p:sp>
      <p:sp>
        <p:nvSpPr>
          <p:cNvPr id="297" name="Google Shape;297;p12"/>
          <p:cNvSpPr/>
          <p:nvPr/>
        </p:nvSpPr>
        <p:spPr>
          <a:xfrm>
            <a:off x="411480" y="1700784"/>
            <a:ext cx="822900" cy="411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2"/>
          <p:cNvSpPr/>
          <p:nvPr/>
        </p:nvSpPr>
        <p:spPr>
          <a:xfrm>
            <a:off x="411480" y="1828800"/>
            <a:ext cx="11368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Track what's actually moving in and out of your account each month — cash flow, not revenue, is what keeps a venture alive.</a:t>
            </a:r>
            <a:endParaRPr b="0" i="0" sz="1250" u="none" cap="none" strike="noStrike">
              <a:solidFill>
                <a:schemeClr val="dk1"/>
              </a:solidFill>
              <a:latin typeface="Calibri"/>
              <a:ea typeface="Calibri"/>
              <a:cs typeface="Calibri"/>
              <a:sym typeface="Calibri"/>
            </a:endParaRPr>
          </a:p>
        </p:txBody>
      </p:sp>
      <p:sp>
        <p:nvSpPr>
          <p:cNvPr id="299" name="Google Shape;299;p12"/>
          <p:cNvSpPr/>
          <p:nvPr/>
        </p:nvSpPr>
        <p:spPr>
          <a:xfrm>
            <a:off x="411480" y="2331720"/>
            <a:ext cx="14631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2"/>
          <p:cNvSpPr/>
          <p:nvPr/>
        </p:nvSpPr>
        <p:spPr>
          <a:xfrm>
            <a:off x="484632" y="2331720"/>
            <a:ext cx="13167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MONTH</a:t>
            </a:r>
            <a:endParaRPr b="0" i="0" sz="950" u="none" cap="none" strike="noStrike">
              <a:solidFill>
                <a:schemeClr val="dk1"/>
              </a:solidFill>
              <a:latin typeface="Calibri"/>
              <a:ea typeface="Calibri"/>
              <a:cs typeface="Calibri"/>
              <a:sym typeface="Calibri"/>
            </a:endParaRPr>
          </a:p>
        </p:txBody>
      </p:sp>
      <p:sp>
        <p:nvSpPr>
          <p:cNvPr id="301" name="Google Shape;301;p12"/>
          <p:cNvSpPr/>
          <p:nvPr/>
        </p:nvSpPr>
        <p:spPr>
          <a:xfrm>
            <a:off x="1874520" y="2331720"/>
            <a:ext cx="28347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2"/>
          <p:cNvSpPr/>
          <p:nvPr/>
        </p:nvSpPr>
        <p:spPr>
          <a:xfrm>
            <a:off x="1947672" y="2331720"/>
            <a:ext cx="2688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CASH IN (Revenue + Other)</a:t>
            </a:r>
            <a:endParaRPr b="0" i="0" sz="950" u="none" cap="none" strike="noStrike">
              <a:solidFill>
                <a:schemeClr val="dk1"/>
              </a:solidFill>
              <a:latin typeface="Calibri"/>
              <a:ea typeface="Calibri"/>
              <a:cs typeface="Calibri"/>
              <a:sym typeface="Calibri"/>
            </a:endParaRPr>
          </a:p>
        </p:txBody>
      </p:sp>
      <p:sp>
        <p:nvSpPr>
          <p:cNvPr id="303" name="Google Shape;303;p12"/>
          <p:cNvSpPr/>
          <p:nvPr/>
        </p:nvSpPr>
        <p:spPr>
          <a:xfrm>
            <a:off x="4709160" y="2331720"/>
            <a:ext cx="25146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
          <p:cNvSpPr/>
          <p:nvPr/>
        </p:nvSpPr>
        <p:spPr>
          <a:xfrm>
            <a:off x="4782312" y="2331720"/>
            <a:ext cx="2368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CASH OUT (Expenses)</a:t>
            </a:r>
            <a:endParaRPr b="0" i="0" sz="950" u="none" cap="none" strike="noStrike">
              <a:solidFill>
                <a:schemeClr val="dk1"/>
              </a:solidFill>
              <a:latin typeface="Calibri"/>
              <a:ea typeface="Calibri"/>
              <a:cs typeface="Calibri"/>
              <a:sym typeface="Calibri"/>
            </a:endParaRPr>
          </a:p>
        </p:txBody>
      </p:sp>
      <p:sp>
        <p:nvSpPr>
          <p:cNvPr id="305" name="Google Shape;305;p12"/>
          <p:cNvSpPr/>
          <p:nvPr/>
        </p:nvSpPr>
        <p:spPr>
          <a:xfrm>
            <a:off x="7223760" y="2331720"/>
            <a:ext cx="20118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2"/>
          <p:cNvSpPr/>
          <p:nvPr/>
        </p:nvSpPr>
        <p:spPr>
          <a:xfrm>
            <a:off x="7296912" y="2331720"/>
            <a:ext cx="1865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NET CASH FLOW</a:t>
            </a:r>
            <a:endParaRPr b="0" i="0" sz="950" u="none" cap="none" strike="noStrike">
              <a:solidFill>
                <a:schemeClr val="dk1"/>
              </a:solidFill>
              <a:latin typeface="Calibri"/>
              <a:ea typeface="Calibri"/>
              <a:cs typeface="Calibri"/>
              <a:sym typeface="Calibri"/>
            </a:endParaRPr>
          </a:p>
        </p:txBody>
      </p:sp>
      <p:sp>
        <p:nvSpPr>
          <p:cNvPr id="307" name="Google Shape;307;p12"/>
          <p:cNvSpPr/>
          <p:nvPr/>
        </p:nvSpPr>
        <p:spPr>
          <a:xfrm>
            <a:off x="9235440" y="2331720"/>
            <a:ext cx="2496300" cy="502800"/>
          </a:xfrm>
          <a:prstGeom prst="rect">
            <a:avLst/>
          </a:prstGeom>
          <a:solidFill>
            <a:srgbClr val="0E1B4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9308592" y="2331720"/>
            <a:ext cx="234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950"/>
              <a:buFont typeface="Arial"/>
              <a:buNone/>
            </a:pPr>
            <a:r>
              <a:rPr b="1" i="0" lang="en-US" sz="950" u="none" cap="none" strike="noStrike">
                <a:solidFill>
                  <a:srgbClr val="C7DD6E"/>
                </a:solidFill>
                <a:latin typeface="Arial"/>
                <a:ea typeface="Arial"/>
                <a:cs typeface="Arial"/>
                <a:sym typeface="Arial"/>
              </a:rPr>
              <a:t>ENDING BALANCE</a:t>
            </a:r>
            <a:endParaRPr b="0" i="0" sz="950" u="none" cap="none" strike="noStrike">
              <a:solidFill>
                <a:schemeClr val="dk1"/>
              </a:solidFill>
              <a:latin typeface="Calibri"/>
              <a:ea typeface="Calibri"/>
              <a:cs typeface="Calibri"/>
              <a:sym typeface="Calibri"/>
            </a:endParaRPr>
          </a:p>
        </p:txBody>
      </p:sp>
      <p:sp>
        <p:nvSpPr>
          <p:cNvPr id="309" name="Google Shape;309;p12"/>
          <p:cNvSpPr/>
          <p:nvPr/>
        </p:nvSpPr>
        <p:spPr>
          <a:xfrm>
            <a:off x="411480" y="2834640"/>
            <a:ext cx="14631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2"/>
          <p:cNvSpPr/>
          <p:nvPr/>
        </p:nvSpPr>
        <p:spPr>
          <a:xfrm>
            <a:off x="484632" y="2834640"/>
            <a:ext cx="13167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000"/>
              <a:buFont typeface="Arial"/>
              <a:buNone/>
            </a:pPr>
            <a:r>
              <a:rPr b="1" i="0" lang="en-US" sz="1000" u="none" cap="none" strike="noStrike">
                <a:solidFill>
                  <a:srgbClr val="0E1B4B"/>
                </a:solidFill>
                <a:latin typeface="Arial"/>
                <a:ea typeface="Arial"/>
                <a:cs typeface="Arial"/>
                <a:sym typeface="Arial"/>
              </a:rPr>
              <a:t>Month 1</a:t>
            </a:r>
            <a:endParaRPr b="0" i="0" sz="1000" u="none" cap="none" strike="noStrike">
              <a:solidFill>
                <a:schemeClr val="dk1"/>
              </a:solidFill>
              <a:latin typeface="Calibri"/>
              <a:ea typeface="Calibri"/>
              <a:cs typeface="Calibri"/>
              <a:sym typeface="Calibri"/>
            </a:endParaRPr>
          </a:p>
        </p:txBody>
      </p:sp>
      <p:sp>
        <p:nvSpPr>
          <p:cNvPr id="311" name="Google Shape;311;p12"/>
          <p:cNvSpPr/>
          <p:nvPr/>
        </p:nvSpPr>
        <p:spPr>
          <a:xfrm>
            <a:off x="1874520" y="2834640"/>
            <a:ext cx="28347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1947672" y="2834640"/>
            <a:ext cx="2688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RWF 0 revenue</a:t>
            </a:r>
            <a:endParaRPr b="0" i="0" sz="900" u="none" cap="none" strike="noStrike">
              <a:solidFill>
                <a:schemeClr val="dk1"/>
              </a:solidFill>
              <a:latin typeface="Calibri"/>
              <a:ea typeface="Calibri"/>
              <a:cs typeface="Calibri"/>
              <a:sym typeface="Calibri"/>
            </a:endParaRPr>
          </a:p>
        </p:txBody>
      </p:sp>
      <p:sp>
        <p:nvSpPr>
          <p:cNvPr id="313" name="Google Shape;313;p12"/>
          <p:cNvSpPr/>
          <p:nvPr/>
        </p:nvSpPr>
        <p:spPr>
          <a:xfrm>
            <a:off x="4709160" y="2834640"/>
            <a:ext cx="25146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4782312" y="2834640"/>
            <a:ext cx="2368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Record actual costs</a:t>
            </a:r>
            <a:endParaRPr b="0" i="0" sz="900" u="none" cap="none" strike="noStrike">
              <a:solidFill>
                <a:schemeClr val="dk1"/>
              </a:solidFill>
              <a:latin typeface="Calibri"/>
              <a:ea typeface="Calibri"/>
              <a:cs typeface="Calibri"/>
              <a:sym typeface="Calibri"/>
            </a:endParaRPr>
          </a:p>
        </p:txBody>
      </p:sp>
      <p:sp>
        <p:nvSpPr>
          <p:cNvPr id="315" name="Google Shape;315;p12"/>
          <p:cNvSpPr/>
          <p:nvPr/>
        </p:nvSpPr>
        <p:spPr>
          <a:xfrm>
            <a:off x="7223760" y="2834640"/>
            <a:ext cx="20118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2"/>
          <p:cNvSpPr/>
          <p:nvPr/>
        </p:nvSpPr>
        <p:spPr>
          <a:xfrm>
            <a:off x="7296912" y="2834640"/>
            <a:ext cx="1865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Calculate actual net</a:t>
            </a:r>
            <a:endParaRPr b="0" i="0" sz="900" u="none" cap="none" strike="noStrike">
              <a:solidFill>
                <a:schemeClr val="dk1"/>
              </a:solidFill>
              <a:latin typeface="Calibri"/>
              <a:ea typeface="Calibri"/>
              <a:cs typeface="Calibri"/>
              <a:sym typeface="Calibri"/>
            </a:endParaRPr>
          </a:p>
        </p:txBody>
      </p:sp>
      <p:sp>
        <p:nvSpPr>
          <p:cNvPr id="317" name="Google Shape;317;p12"/>
          <p:cNvSpPr/>
          <p:nvPr/>
        </p:nvSpPr>
        <p:spPr>
          <a:xfrm>
            <a:off x="9235440" y="2834640"/>
            <a:ext cx="24963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9308592" y="2834640"/>
            <a:ext cx="234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900"/>
              <a:buFont typeface="Arial"/>
              <a:buNone/>
            </a:pPr>
            <a:r>
              <a:rPr b="0" i="1">
                <a:solidFill>
                  <a:srgbClr val="9298AC"/>
                </a:solidFill>
                <a:latin typeface="Arial"/>
              </a:rPr>
              <a:t>Track actual balance</a:t>
            </a:r>
            <a:endParaRPr b="0" i="0" sz="900" u="none" cap="none" strike="noStrike">
              <a:solidFill>
                <a:schemeClr val="dk1"/>
              </a:solidFill>
              <a:latin typeface="Calibri"/>
              <a:ea typeface="Calibri"/>
              <a:cs typeface="Calibri"/>
              <a:sym typeface="Calibri"/>
            </a:endParaRPr>
          </a:p>
        </p:txBody>
      </p:sp>
      <p:sp>
        <p:nvSpPr>
          <p:cNvPr id="319" name="Google Shape;319;p12"/>
          <p:cNvSpPr/>
          <p:nvPr/>
        </p:nvSpPr>
        <p:spPr>
          <a:xfrm>
            <a:off x="411480" y="3337560"/>
            <a:ext cx="14631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2"/>
          <p:cNvSpPr/>
          <p:nvPr/>
        </p:nvSpPr>
        <p:spPr>
          <a:xfrm>
            <a:off x="484632" y="3337560"/>
            <a:ext cx="13167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000"/>
              <a:buFont typeface="Arial"/>
              <a:buNone/>
            </a:pPr>
            <a:r>
              <a:rPr b="1" i="0" lang="en-US" sz="1000" u="none" cap="none" strike="noStrike">
                <a:solidFill>
                  <a:srgbClr val="0E1B4B"/>
                </a:solidFill>
                <a:latin typeface="Arial"/>
                <a:ea typeface="Arial"/>
                <a:cs typeface="Arial"/>
                <a:sym typeface="Arial"/>
              </a:rPr>
              <a:t>Month 2</a:t>
            </a:r>
            <a:endParaRPr b="0" i="0" sz="1000" u="none" cap="none" strike="noStrike">
              <a:solidFill>
                <a:schemeClr val="dk1"/>
              </a:solidFill>
              <a:latin typeface="Calibri"/>
              <a:ea typeface="Calibri"/>
              <a:cs typeface="Calibri"/>
              <a:sym typeface="Calibri"/>
            </a:endParaRPr>
          </a:p>
        </p:txBody>
      </p:sp>
      <p:sp>
        <p:nvSpPr>
          <p:cNvPr id="321" name="Google Shape;321;p12"/>
          <p:cNvSpPr/>
          <p:nvPr/>
        </p:nvSpPr>
        <p:spPr>
          <a:xfrm>
            <a:off x="1874520" y="3337560"/>
            <a:ext cx="28347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2"/>
          <p:cNvSpPr/>
          <p:nvPr/>
        </p:nvSpPr>
        <p:spPr>
          <a:xfrm>
            <a:off x="1947672" y="3337560"/>
            <a:ext cx="2688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rPr sz="900"/>
              <a:t>Record actual revenue</a:t>
            </a:r>
            <a:endParaRPr b="0" i="0" sz="900" u="none" cap="none" strike="noStrike">
              <a:solidFill>
                <a:schemeClr val="dk1"/>
              </a:solidFill>
              <a:latin typeface="Calibri"/>
              <a:ea typeface="Calibri"/>
              <a:cs typeface="Calibri"/>
              <a:sym typeface="Calibri"/>
            </a:endParaRPr>
          </a:p>
        </p:txBody>
      </p:sp>
      <p:sp>
        <p:nvSpPr>
          <p:cNvPr id="323" name="Google Shape;323;p12"/>
          <p:cNvSpPr/>
          <p:nvPr/>
        </p:nvSpPr>
        <p:spPr>
          <a:xfrm>
            <a:off x="4709160" y="3337560"/>
            <a:ext cx="25146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4782312" y="3337560"/>
            <a:ext cx="2368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rPr sz="900"/>
              <a:t>Record actual expenses</a:t>
            </a:r>
            <a:endParaRPr b="0" i="0" sz="900" u="none" cap="none" strike="noStrike">
              <a:solidFill>
                <a:schemeClr val="dk1"/>
              </a:solidFill>
              <a:latin typeface="Calibri"/>
              <a:ea typeface="Calibri"/>
              <a:cs typeface="Calibri"/>
              <a:sym typeface="Calibri"/>
            </a:endParaRPr>
          </a:p>
        </p:txBody>
      </p:sp>
      <p:sp>
        <p:nvSpPr>
          <p:cNvPr id="325" name="Google Shape;325;p12"/>
          <p:cNvSpPr/>
          <p:nvPr/>
        </p:nvSpPr>
        <p:spPr>
          <a:xfrm>
            <a:off x="7223760" y="3337560"/>
            <a:ext cx="20118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7296912" y="3337560"/>
            <a:ext cx="1865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rPr sz="900"/>
              <a:t>Calculate net cash flow</a:t>
            </a:r>
            <a:endParaRPr b="0" i="0" sz="900" u="none" cap="none" strike="noStrike">
              <a:solidFill>
                <a:schemeClr val="dk1"/>
              </a:solidFill>
              <a:latin typeface="Calibri"/>
              <a:ea typeface="Calibri"/>
              <a:cs typeface="Calibri"/>
              <a:sym typeface="Calibri"/>
            </a:endParaRPr>
          </a:p>
        </p:txBody>
      </p:sp>
      <p:sp>
        <p:nvSpPr>
          <p:cNvPr id="327" name="Google Shape;327;p12"/>
          <p:cNvSpPr/>
          <p:nvPr/>
        </p:nvSpPr>
        <p:spPr>
          <a:xfrm>
            <a:off x="9235440" y="3337560"/>
            <a:ext cx="2496300" cy="502800"/>
          </a:xfrm>
          <a:prstGeom prst="rect">
            <a:avLst/>
          </a:prstGeom>
          <a:solidFill>
            <a:srgbClr val="FFFFFF"/>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2"/>
          <p:cNvSpPr/>
          <p:nvPr/>
        </p:nvSpPr>
        <p:spPr>
          <a:xfrm>
            <a:off x="9308592" y="3337560"/>
            <a:ext cx="234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rPr sz="900"/>
              <a:t>Update balance</a:t>
            </a:r>
            <a:endParaRPr b="0" i="0" sz="900" u="none" cap="none" strike="noStrike">
              <a:solidFill>
                <a:schemeClr val="dk1"/>
              </a:solidFill>
              <a:latin typeface="Calibri"/>
              <a:ea typeface="Calibri"/>
              <a:cs typeface="Calibri"/>
              <a:sym typeface="Calibri"/>
            </a:endParaRPr>
          </a:p>
        </p:txBody>
      </p:sp>
      <p:sp>
        <p:nvSpPr>
          <p:cNvPr id="329" name="Google Shape;329;p12"/>
          <p:cNvSpPr/>
          <p:nvPr/>
        </p:nvSpPr>
        <p:spPr>
          <a:xfrm>
            <a:off x="411480" y="3840480"/>
            <a:ext cx="14631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484632" y="3840480"/>
            <a:ext cx="13167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000"/>
              <a:buFont typeface="Arial"/>
              <a:buNone/>
            </a:pPr>
            <a:r>
              <a:rPr b="1" i="0" lang="en-US" sz="1000" u="none" cap="none" strike="noStrike">
                <a:solidFill>
                  <a:srgbClr val="0E1B4B"/>
                </a:solidFill>
                <a:latin typeface="Arial"/>
                <a:ea typeface="Arial"/>
                <a:cs typeface="Arial"/>
                <a:sym typeface="Arial"/>
              </a:rPr>
              <a:t>Month 3</a:t>
            </a:r>
            <a:endParaRPr b="0" i="0" sz="1000" u="none" cap="none" strike="noStrike">
              <a:solidFill>
                <a:schemeClr val="dk1"/>
              </a:solidFill>
              <a:latin typeface="Calibri"/>
              <a:ea typeface="Calibri"/>
              <a:cs typeface="Calibri"/>
              <a:sym typeface="Calibri"/>
            </a:endParaRPr>
          </a:p>
        </p:txBody>
      </p:sp>
      <p:sp>
        <p:nvSpPr>
          <p:cNvPr id="331" name="Google Shape;331;p12"/>
          <p:cNvSpPr/>
          <p:nvPr/>
        </p:nvSpPr>
        <p:spPr>
          <a:xfrm>
            <a:off x="1874520" y="3840480"/>
            <a:ext cx="28347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p:nvPr/>
        </p:nvSpPr>
        <p:spPr>
          <a:xfrm>
            <a:off x="1947672" y="3840480"/>
            <a:ext cx="26883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rPr sz="900"/>
              <a:t>Record actual revenue</a:t>
            </a:r>
            <a:endParaRPr b="0" i="0" sz="900" u="none" cap="none" strike="noStrike">
              <a:solidFill>
                <a:schemeClr val="dk1"/>
              </a:solidFill>
              <a:latin typeface="Calibri"/>
              <a:ea typeface="Calibri"/>
              <a:cs typeface="Calibri"/>
              <a:sym typeface="Calibri"/>
            </a:endParaRPr>
          </a:p>
        </p:txBody>
      </p:sp>
      <p:sp>
        <p:nvSpPr>
          <p:cNvPr id="333" name="Google Shape;333;p12"/>
          <p:cNvSpPr/>
          <p:nvPr/>
        </p:nvSpPr>
        <p:spPr>
          <a:xfrm>
            <a:off x="4709160" y="3840480"/>
            <a:ext cx="25146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4782312" y="3840480"/>
            <a:ext cx="2368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rPr sz="900"/>
              <a:t>Record actual expenses</a:t>
            </a:r>
            <a:endParaRPr b="0" i="0" sz="900" u="none" cap="none" strike="noStrike">
              <a:solidFill>
                <a:schemeClr val="dk1"/>
              </a:solidFill>
              <a:latin typeface="Calibri"/>
              <a:ea typeface="Calibri"/>
              <a:cs typeface="Calibri"/>
              <a:sym typeface="Calibri"/>
            </a:endParaRPr>
          </a:p>
        </p:txBody>
      </p:sp>
      <p:sp>
        <p:nvSpPr>
          <p:cNvPr id="335" name="Google Shape;335;p12"/>
          <p:cNvSpPr/>
          <p:nvPr/>
        </p:nvSpPr>
        <p:spPr>
          <a:xfrm>
            <a:off x="7223760" y="3840480"/>
            <a:ext cx="20118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2"/>
          <p:cNvSpPr/>
          <p:nvPr/>
        </p:nvSpPr>
        <p:spPr>
          <a:xfrm>
            <a:off x="7296912" y="3840480"/>
            <a:ext cx="1865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rPr sz="900"/>
              <a:t>Calculate net cash flow</a:t>
            </a:r>
            <a:endParaRPr b="0" i="0" sz="900" u="none" cap="none" strike="noStrike">
              <a:solidFill>
                <a:schemeClr val="dk1"/>
              </a:solidFill>
              <a:latin typeface="Calibri"/>
              <a:ea typeface="Calibri"/>
              <a:cs typeface="Calibri"/>
              <a:sym typeface="Calibri"/>
            </a:endParaRPr>
          </a:p>
        </p:txBody>
      </p:sp>
      <p:sp>
        <p:nvSpPr>
          <p:cNvPr id="337" name="Google Shape;337;p12"/>
          <p:cNvSpPr/>
          <p:nvPr/>
        </p:nvSpPr>
        <p:spPr>
          <a:xfrm>
            <a:off x="9235440" y="3840480"/>
            <a:ext cx="2496300" cy="5028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9308592" y="3840480"/>
            <a:ext cx="234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900"/>
              <a:buFont typeface="Calibri"/>
              <a:buNone/>
            </a:pPr>
            <a:r>
              <a:rPr sz="900"/>
              <a:t>Update balance</a:t>
            </a:r>
            <a:endParaRPr b="0" i="0" sz="900" u="none" cap="none" strike="noStrike">
              <a:solidFill>
                <a:schemeClr val="dk1"/>
              </a:solidFill>
              <a:latin typeface="Calibri"/>
              <a:ea typeface="Calibri"/>
              <a:cs typeface="Calibri"/>
              <a:sym typeface="Calibri"/>
            </a:endParaRPr>
          </a:p>
        </p:txBody>
      </p:sp>
      <p:sp>
        <p:nvSpPr>
          <p:cNvPr id="339" name="Google Shape;339;p12"/>
          <p:cNvSpPr/>
          <p:nvPr/>
        </p:nvSpPr>
        <p:spPr>
          <a:xfrm>
            <a:off x="411480" y="4480560"/>
            <a:ext cx="11368800" cy="694800"/>
          </a:xfrm>
          <a:prstGeom prst="rect">
            <a:avLst/>
          </a:prstGeom>
          <a:solidFill>
            <a:srgbClr val="E4EAFB"/>
          </a:solidFill>
          <a:ln cap="flat" cmpd="sng" w="9525">
            <a:solidFill>
              <a:srgbClr val="A9C2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p:nvPr/>
        </p:nvSpPr>
        <p:spPr>
          <a:xfrm>
            <a:off x="411480" y="4480560"/>
            <a:ext cx="54900" cy="694800"/>
          </a:xfrm>
          <a:prstGeom prst="rect">
            <a:avLst/>
          </a:prstGeom>
          <a:solidFill>
            <a:srgbClr val="264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621792" y="4535424"/>
            <a:ext cx="11003100" cy="585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150"/>
              <a:buFont typeface="Arial"/>
              <a:buNone/>
            </a:pPr>
            <a:r>
              <a:rPr b="0" i="1" lang="en-US" sz="1150" u="none" cap="none" strike="noStrike">
                <a:solidFill>
                  <a:srgbClr val="0E1B4B"/>
                </a:solidFill>
                <a:latin typeface="Arial"/>
                <a:ea typeface="Arial"/>
                <a:cs typeface="Arial"/>
                <a:sym typeface="Arial"/>
              </a:rPr>
              <a:t>Starting cash balance carries over from the prior month's ending balance — add rows if you're tracking beyond three months.</a:t>
            </a:r>
            <a:endParaRPr b="0" i="0" sz="1150" u="none" cap="none" strike="noStrike">
              <a:solidFill>
                <a:schemeClr val="dk1"/>
              </a:solidFill>
              <a:latin typeface="Calibri"/>
              <a:ea typeface="Calibri"/>
              <a:cs typeface="Calibri"/>
              <a:sym typeface="Calibri"/>
            </a:endParaRPr>
          </a:p>
        </p:txBody>
      </p:sp>
      <p:sp>
        <p:nvSpPr>
          <p:cNvPr id="342" name="Google Shape;342;p12"/>
          <p:cNvSpPr/>
          <p:nvPr/>
        </p:nvSpPr>
        <p:spPr>
          <a:xfrm>
            <a:off x="411480" y="649224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4: Financial Model</a:t>
            </a:r>
            <a:endParaRPr b="0" i="0" sz="900" u="none" cap="none" strike="noStrike">
              <a:solidFill>
                <a:schemeClr val="dk1"/>
              </a:solidFill>
              <a:latin typeface="Calibri"/>
              <a:ea typeface="Calibri"/>
              <a:cs typeface="Calibri"/>
              <a:sym typeface="Calibri"/>
            </a:endParaRPr>
          </a:p>
        </p:txBody>
      </p:sp>
      <p:sp>
        <p:nvSpPr>
          <p:cNvPr id="343" name="Google Shape;343;p12"/>
          <p:cNvSpPr/>
          <p:nvPr/>
        </p:nvSpPr>
        <p:spPr>
          <a:xfrm>
            <a:off x="11368735" y="6492240"/>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21</a:t>
            </a:r>
            <a:endParaRPr b="0" i="0" sz="900" u="none" cap="none" strike="noStrike">
              <a:solidFill>
                <a:schemeClr val="dk1"/>
              </a:solidFill>
              <a:latin typeface="Calibri"/>
              <a:ea typeface="Calibri"/>
              <a:cs typeface="Calibri"/>
              <a:sym typeface="Calibri"/>
            </a:endParaRPr>
          </a:p>
        </p:txBody>
      </p:sp>
      <p:cxnSp>
        <p:nvCxnSpPr>
          <p:cNvPr id="344" name="Google Shape;344;p12"/>
          <p:cNvCxnSpPr/>
          <p:nvPr/>
        </p:nvCxnSpPr>
        <p:spPr>
          <a:xfrm>
            <a:off x="411480" y="6437376"/>
            <a:ext cx="11368800"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3"/>
          <p:cNvSpPr/>
          <p:nvPr/>
        </p:nvSpPr>
        <p:spPr>
          <a:xfrm>
            <a:off x="0" y="0"/>
            <a:ext cx="12191700" cy="5670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0" y="566928"/>
            <a:ext cx="12191700" cy="456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411480" y="777240"/>
            <a:ext cx="3529500" cy="310800"/>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411480" y="777240"/>
            <a:ext cx="35295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4 · FINANCIAL</a:t>
            </a:r>
            <a:endParaRPr b="0" i="0" sz="1100" u="none" cap="none" strike="noStrike">
              <a:solidFill>
                <a:schemeClr val="dk1"/>
              </a:solidFill>
              <a:latin typeface="Calibri"/>
              <a:ea typeface="Calibri"/>
              <a:cs typeface="Calibri"/>
              <a:sym typeface="Calibri"/>
            </a:endParaRPr>
          </a:p>
        </p:txBody>
      </p:sp>
      <p:sp>
        <p:nvSpPr>
          <p:cNvPr id="354" name="Google Shape;354;p13"/>
          <p:cNvSpPr/>
          <p:nvPr/>
        </p:nvSpPr>
        <p:spPr>
          <a:xfrm>
            <a:off x="411480" y="1170432"/>
            <a:ext cx="11368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Burn Rate &amp; Runway</a:t>
            </a:r>
            <a:endParaRPr b="0" i="0" sz="2700" u="none" cap="none" strike="noStrike">
              <a:solidFill>
                <a:schemeClr val="dk1"/>
              </a:solidFill>
              <a:latin typeface="Calibri"/>
              <a:ea typeface="Calibri"/>
              <a:cs typeface="Calibri"/>
              <a:sym typeface="Calibri"/>
            </a:endParaRPr>
          </a:p>
        </p:txBody>
      </p:sp>
      <p:sp>
        <p:nvSpPr>
          <p:cNvPr id="355" name="Google Shape;355;p13"/>
          <p:cNvSpPr/>
          <p:nvPr/>
        </p:nvSpPr>
        <p:spPr>
          <a:xfrm>
            <a:off x="411480" y="1700784"/>
            <a:ext cx="822900" cy="411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411480" y="1828800"/>
            <a:ext cx="11368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Know exactly how many months you have before you need more cash — or more revenue — to keep operating.</a:t>
            </a:r>
            <a:endParaRPr b="0" i="0" sz="1250" u="none" cap="none" strike="noStrike">
              <a:solidFill>
                <a:schemeClr val="dk1"/>
              </a:solidFill>
              <a:latin typeface="Calibri"/>
              <a:ea typeface="Calibri"/>
              <a:cs typeface="Calibri"/>
              <a:sym typeface="Calibri"/>
            </a:endParaRPr>
          </a:p>
        </p:txBody>
      </p:sp>
      <p:sp>
        <p:nvSpPr>
          <p:cNvPr id="357" name="Google Shape;357;p13"/>
          <p:cNvSpPr/>
          <p:nvPr/>
        </p:nvSpPr>
        <p:spPr>
          <a:xfrm>
            <a:off x="411480" y="2240280"/>
            <a:ext cx="11368800" cy="493800"/>
          </a:xfrm>
          <a:prstGeom prst="rect">
            <a:avLst/>
          </a:prstGeom>
          <a:solidFill>
            <a:srgbClr val="E4EAFB"/>
          </a:solidFill>
          <a:ln cap="flat" cmpd="sng" w="9525">
            <a:solidFill>
              <a:srgbClr val="A9C2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3"/>
          <p:cNvSpPr/>
          <p:nvPr/>
        </p:nvSpPr>
        <p:spPr>
          <a:xfrm>
            <a:off x="411480" y="2240280"/>
            <a:ext cx="54900" cy="493800"/>
          </a:xfrm>
          <a:prstGeom prst="rect">
            <a:avLst/>
          </a:prstGeom>
          <a:solidFill>
            <a:srgbClr val="264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a:off x="621792" y="2295144"/>
            <a:ext cx="110031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150"/>
              <a:buFont typeface="Arial"/>
              <a:buNone/>
            </a:pPr>
            <a:r>
              <a:rPr b="0" i="1" lang="en-US" sz="1150" u="none" cap="none" strike="noStrike">
                <a:solidFill>
                  <a:srgbClr val="0E1B4B"/>
                </a:solidFill>
                <a:latin typeface="Arial"/>
                <a:ea typeface="Arial"/>
                <a:cs typeface="Arial"/>
                <a:sym typeface="Arial"/>
              </a:rPr>
              <a:t>BURN RATE = (Starting Cash − Ending Cash) ÷ Number of Months        RUNWAY = Cash on Hand ÷ Monthly Burn Rate</a:t>
            </a:r>
            <a:endParaRPr b="0" i="0" sz="1150" u="none" cap="none" strike="noStrike">
              <a:solidFill>
                <a:schemeClr val="dk1"/>
              </a:solidFill>
              <a:latin typeface="Calibri"/>
              <a:ea typeface="Calibri"/>
              <a:cs typeface="Calibri"/>
              <a:sym typeface="Calibri"/>
            </a:endParaRPr>
          </a:p>
        </p:txBody>
      </p:sp>
      <p:sp>
        <p:nvSpPr>
          <p:cNvPr id="360" name="Google Shape;360;p13"/>
          <p:cNvSpPr/>
          <p:nvPr/>
        </p:nvSpPr>
        <p:spPr>
          <a:xfrm>
            <a:off x="411480" y="2962656"/>
            <a:ext cx="3606600" cy="17373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a:off x="1958797" y="3163824"/>
            <a:ext cx="512100" cy="51210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heartbeat_C7DD6E.png" id="362" name="Google Shape;362;p13"/>
          <p:cNvPicPr preferRelativeResize="0"/>
          <p:nvPr/>
        </p:nvPicPr>
        <p:blipFill rotWithShape="1">
          <a:blip r:embed="rId3">
            <a:alphaModFix/>
          </a:blip>
          <a:srcRect b="0" l="0" r="0" t="0"/>
          <a:stretch/>
        </p:blipFill>
        <p:spPr>
          <a:xfrm>
            <a:off x="2091934" y="3296961"/>
            <a:ext cx="245791" cy="245791"/>
          </a:xfrm>
          <a:prstGeom prst="rect">
            <a:avLst/>
          </a:prstGeom>
          <a:noFill/>
          <a:ln>
            <a:noFill/>
          </a:ln>
        </p:spPr>
      </p:pic>
      <p:sp>
        <p:nvSpPr>
          <p:cNvPr id="363" name="Google Shape;363;p13"/>
          <p:cNvSpPr/>
          <p:nvPr/>
        </p:nvSpPr>
        <p:spPr>
          <a:xfrm>
            <a:off x="548640" y="3831336"/>
            <a:ext cx="33324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050"/>
              <a:buFont typeface="Arial"/>
              <a:buNone/>
            </a:pPr>
            <a:r>
              <a:rPr b="1" i="0" lang="en-US" sz="1050" u="none" cap="none" strike="noStrike">
                <a:solidFill>
                  <a:srgbClr val="0E1B4B"/>
                </a:solidFill>
                <a:latin typeface="Arial"/>
                <a:ea typeface="Arial"/>
                <a:cs typeface="Arial"/>
                <a:sym typeface="Arial"/>
              </a:rPr>
              <a:t>CURRENT MONTHLY BURN RATE</a:t>
            </a:r>
            <a:endParaRPr b="0" i="0" sz="1050" u="none" cap="none" strike="noStrike">
              <a:solidFill>
                <a:schemeClr val="dk1"/>
              </a:solidFill>
              <a:latin typeface="Calibri"/>
              <a:ea typeface="Calibri"/>
              <a:cs typeface="Calibri"/>
              <a:sym typeface="Calibri"/>
            </a:endParaRPr>
          </a:p>
        </p:txBody>
      </p:sp>
      <p:sp>
        <p:nvSpPr>
          <p:cNvPr id="364" name="Google Shape;364;p13"/>
          <p:cNvSpPr/>
          <p:nvPr/>
        </p:nvSpPr>
        <p:spPr>
          <a:xfrm>
            <a:off x="594360" y="4197096"/>
            <a:ext cx="32409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298AC"/>
              </a:buClr>
              <a:buSzPts val="1000"/>
              <a:buFont typeface="Arial"/>
              <a:buNone/>
            </a:pPr>
            <a:r>
              <a:rPr b="0" i="1">
                <a:solidFill>
                  <a:srgbClr val="9298AC"/>
                </a:solidFill>
                <a:latin typeface="Arial"/>
              </a:rPr>
              <a:t>To be calculated from actual expenses</a:t>
            </a:r>
            <a:endParaRPr b="0" i="0" sz="1000" u="none" cap="none" strike="noStrike">
              <a:solidFill>
                <a:schemeClr val="dk1"/>
              </a:solidFill>
              <a:latin typeface="Calibri"/>
              <a:ea typeface="Calibri"/>
              <a:cs typeface="Calibri"/>
              <a:sym typeface="Calibri"/>
            </a:endParaRPr>
          </a:p>
        </p:txBody>
      </p:sp>
      <p:sp>
        <p:nvSpPr>
          <p:cNvPr id="365" name="Google Shape;365;p13"/>
          <p:cNvSpPr/>
          <p:nvPr/>
        </p:nvSpPr>
        <p:spPr>
          <a:xfrm>
            <a:off x="4292498" y="2962656"/>
            <a:ext cx="3606600" cy="17373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5839816" y="3163824"/>
            <a:ext cx="512100" cy="51210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database_C7DD6E.png" id="367" name="Google Shape;367;p13"/>
          <p:cNvPicPr preferRelativeResize="0"/>
          <p:nvPr/>
        </p:nvPicPr>
        <p:blipFill rotWithShape="1">
          <a:blip r:embed="rId4">
            <a:alphaModFix/>
          </a:blip>
          <a:srcRect b="0" l="0" r="0" t="0"/>
          <a:stretch/>
        </p:blipFill>
        <p:spPr>
          <a:xfrm>
            <a:off x="5972952" y="3296961"/>
            <a:ext cx="245791" cy="245791"/>
          </a:xfrm>
          <a:prstGeom prst="rect">
            <a:avLst/>
          </a:prstGeom>
          <a:noFill/>
          <a:ln>
            <a:noFill/>
          </a:ln>
        </p:spPr>
      </p:pic>
      <p:sp>
        <p:nvSpPr>
          <p:cNvPr id="368" name="Google Shape;368;p13"/>
          <p:cNvSpPr/>
          <p:nvPr/>
        </p:nvSpPr>
        <p:spPr>
          <a:xfrm>
            <a:off x="4429658" y="3831336"/>
            <a:ext cx="33324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050"/>
              <a:buFont typeface="Arial"/>
              <a:buNone/>
            </a:pPr>
            <a:r>
              <a:rPr b="1" i="0" lang="en-US" sz="1050" u="none" cap="none" strike="noStrike">
                <a:solidFill>
                  <a:srgbClr val="0E1B4B"/>
                </a:solidFill>
                <a:latin typeface="Arial"/>
                <a:ea typeface="Arial"/>
                <a:cs typeface="Arial"/>
                <a:sym typeface="Arial"/>
              </a:rPr>
              <a:t>CASH ON HAND TODAY</a:t>
            </a:r>
            <a:endParaRPr b="0" i="0" sz="1050" u="none" cap="none" strike="noStrike">
              <a:solidFill>
                <a:schemeClr val="dk1"/>
              </a:solidFill>
              <a:latin typeface="Calibri"/>
              <a:ea typeface="Calibri"/>
              <a:cs typeface="Calibri"/>
              <a:sym typeface="Calibri"/>
            </a:endParaRPr>
          </a:p>
        </p:txBody>
      </p:sp>
      <p:sp>
        <p:nvSpPr>
          <p:cNvPr id="369" name="Google Shape;369;p13"/>
          <p:cNvSpPr/>
          <p:nvPr/>
        </p:nvSpPr>
        <p:spPr>
          <a:xfrm>
            <a:off x="4475378" y="4197096"/>
            <a:ext cx="32409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298AC"/>
              </a:buClr>
              <a:buSzPts val="1000"/>
              <a:buFont typeface="Arial"/>
              <a:buNone/>
            </a:pPr>
            <a:r>
              <a:rPr b="0" i="1">
                <a:solidFill>
                  <a:srgbClr val="9298AC"/>
                </a:solidFill>
                <a:latin typeface="Arial"/>
              </a:rPr>
              <a:t>Enter actual available cash</a:t>
            </a:r>
            <a:endParaRPr b="0" i="0" sz="1000" u="none" cap="none" strike="noStrike">
              <a:solidFill>
                <a:schemeClr val="dk1"/>
              </a:solidFill>
              <a:latin typeface="Calibri"/>
              <a:ea typeface="Calibri"/>
              <a:cs typeface="Calibri"/>
              <a:sym typeface="Calibri"/>
            </a:endParaRPr>
          </a:p>
        </p:txBody>
      </p:sp>
      <p:sp>
        <p:nvSpPr>
          <p:cNvPr id="370" name="Google Shape;370;p13"/>
          <p:cNvSpPr/>
          <p:nvPr/>
        </p:nvSpPr>
        <p:spPr>
          <a:xfrm>
            <a:off x="8173517" y="2962656"/>
            <a:ext cx="3606600" cy="17373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a:off x="9720834" y="3163824"/>
            <a:ext cx="512100" cy="51210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chartline2_C7DD6E.png" id="372" name="Google Shape;372;p13"/>
          <p:cNvPicPr preferRelativeResize="0"/>
          <p:nvPr/>
        </p:nvPicPr>
        <p:blipFill rotWithShape="1">
          <a:blip r:embed="rId5">
            <a:alphaModFix/>
          </a:blip>
          <a:srcRect b="0" l="0" r="0" t="0"/>
          <a:stretch/>
        </p:blipFill>
        <p:spPr>
          <a:xfrm>
            <a:off x="9853971" y="3296961"/>
            <a:ext cx="245791" cy="245791"/>
          </a:xfrm>
          <a:prstGeom prst="rect">
            <a:avLst/>
          </a:prstGeom>
          <a:noFill/>
          <a:ln>
            <a:noFill/>
          </a:ln>
        </p:spPr>
      </p:pic>
      <p:sp>
        <p:nvSpPr>
          <p:cNvPr id="373" name="Google Shape;373;p13"/>
          <p:cNvSpPr/>
          <p:nvPr/>
        </p:nvSpPr>
        <p:spPr>
          <a:xfrm>
            <a:off x="8310677" y="3831336"/>
            <a:ext cx="33324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050"/>
              <a:buFont typeface="Arial"/>
              <a:buNone/>
            </a:pPr>
            <a:r>
              <a:rPr b="1" i="0" lang="en-US" sz="1050" u="none" cap="none" strike="noStrike">
                <a:solidFill>
                  <a:srgbClr val="0E1B4B"/>
                </a:solidFill>
                <a:latin typeface="Arial"/>
                <a:ea typeface="Arial"/>
                <a:cs typeface="Arial"/>
                <a:sym typeface="Arial"/>
              </a:rPr>
              <a:t>RUNWAY (MONTHS)</a:t>
            </a:r>
            <a:endParaRPr b="0" i="0" sz="1050" u="none" cap="none" strike="noStrike">
              <a:solidFill>
                <a:schemeClr val="dk1"/>
              </a:solidFill>
              <a:latin typeface="Calibri"/>
              <a:ea typeface="Calibri"/>
              <a:cs typeface="Calibri"/>
              <a:sym typeface="Calibri"/>
            </a:endParaRPr>
          </a:p>
        </p:txBody>
      </p:sp>
      <p:sp>
        <p:nvSpPr>
          <p:cNvPr id="374" name="Google Shape;374;p13"/>
          <p:cNvSpPr/>
          <p:nvPr/>
        </p:nvSpPr>
        <p:spPr>
          <a:xfrm>
            <a:off x="8356397" y="4197096"/>
            <a:ext cx="32409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298AC"/>
              </a:buClr>
              <a:buSzPts val="1000"/>
              <a:buFont typeface="Arial"/>
              <a:buNone/>
            </a:pPr>
            <a:r>
              <a:rPr b="0" i="1">
                <a:solidFill>
                  <a:srgbClr val="9298AC"/>
                </a:solidFill>
                <a:latin typeface="Arial"/>
              </a:rPr>
              <a:t>Calculate once cash and burn are known</a:t>
            </a:r>
            <a:endParaRPr b="0" i="0" sz="1000" u="none" cap="none" strike="noStrike">
              <a:solidFill>
                <a:schemeClr val="dk1"/>
              </a:solidFill>
              <a:latin typeface="Calibri"/>
              <a:ea typeface="Calibri"/>
              <a:cs typeface="Calibri"/>
              <a:sym typeface="Calibri"/>
            </a:endParaRPr>
          </a:p>
        </p:txBody>
      </p:sp>
      <p:sp>
        <p:nvSpPr>
          <p:cNvPr id="375" name="Google Shape;375;p13"/>
          <p:cNvSpPr/>
          <p:nvPr/>
        </p:nvSpPr>
        <p:spPr>
          <a:xfrm>
            <a:off x="411480" y="4928616"/>
            <a:ext cx="11368800" cy="96000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p:nvPr/>
        </p:nvSpPr>
        <p:spPr>
          <a:xfrm>
            <a:off x="539496" y="5001768"/>
            <a:ext cx="11112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WHAT CHANGES IF REVENUE GROWS SLOWER THAN PLANNED?</a:t>
            </a:r>
            <a:endParaRPr b="0" i="0" sz="1050" u="none" cap="none" strike="noStrike">
              <a:solidFill>
                <a:schemeClr val="dk1"/>
              </a:solidFill>
              <a:latin typeface="Calibri"/>
              <a:ea typeface="Calibri"/>
              <a:cs typeface="Calibri"/>
              <a:sym typeface="Calibri"/>
            </a:endParaRPr>
          </a:p>
        </p:txBody>
      </p:sp>
      <p:sp>
        <p:nvSpPr>
          <p:cNvPr id="377" name="Google Shape;377;p13"/>
          <p:cNvSpPr/>
          <p:nvPr/>
        </p:nvSpPr>
        <p:spPr>
          <a:xfrm>
            <a:off x="539496" y="5276088"/>
            <a:ext cx="11112600" cy="539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If revenue is below plan, pause paid promotion, keep delivery lean, prioritise direct outreach, and review costs before committing to new spending.</a:t>
            </a:r>
            <a:endParaRPr b="0" i="0" sz="1050" u="none" cap="none" strike="noStrike">
              <a:solidFill>
                <a:schemeClr val="dk1"/>
              </a:solidFill>
              <a:latin typeface="Calibri"/>
              <a:ea typeface="Calibri"/>
              <a:cs typeface="Calibri"/>
              <a:sym typeface="Calibri"/>
            </a:endParaRPr>
          </a:p>
        </p:txBody>
      </p:sp>
      <p:sp>
        <p:nvSpPr>
          <p:cNvPr id="378" name="Google Shape;378;p13"/>
          <p:cNvSpPr/>
          <p:nvPr/>
        </p:nvSpPr>
        <p:spPr>
          <a:xfrm>
            <a:off x="411480" y="649224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4: Financial Model</a:t>
            </a:r>
            <a:endParaRPr b="0" i="0" sz="900" u="none" cap="none" strike="noStrike">
              <a:solidFill>
                <a:schemeClr val="dk1"/>
              </a:solidFill>
              <a:latin typeface="Calibri"/>
              <a:ea typeface="Calibri"/>
              <a:cs typeface="Calibri"/>
              <a:sym typeface="Calibri"/>
            </a:endParaRPr>
          </a:p>
        </p:txBody>
      </p:sp>
      <p:sp>
        <p:nvSpPr>
          <p:cNvPr id="379" name="Google Shape;379;p13"/>
          <p:cNvSpPr/>
          <p:nvPr/>
        </p:nvSpPr>
        <p:spPr>
          <a:xfrm>
            <a:off x="11368735" y="6492240"/>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22</a:t>
            </a:r>
            <a:endParaRPr b="0" i="0" sz="900" u="none" cap="none" strike="noStrike">
              <a:solidFill>
                <a:schemeClr val="dk1"/>
              </a:solidFill>
              <a:latin typeface="Calibri"/>
              <a:ea typeface="Calibri"/>
              <a:cs typeface="Calibri"/>
              <a:sym typeface="Calibri"/>
            </a:endParaRPr>
          </a:p>
        </p:txBody>
      </p:sp>
      <p:cxnSp>
        <p:nvCxnSpPr>
          <p:cNvPr id="380" name="Google Shape;380;p13"/>
          <p:cNvCxnSpPr/>
          <p:nvPr/>
        </p:nvCxnSpPr>
        <p:spPr>
          <a:xfrm>
            <a:off x="411480" y="6437376"/>
            <a:ext cx="11368800"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4B"/>
        </a:solidFill>
      </p:bgPr>
    </p:bg>
    <p:spTree>
      <p:nvGrpSpPr>
        <p:cNvPr id="385" name="Shape 385"/>
        <p:cNvGrpSpPr/>
        <p:nvPr/>
      </p:nvGrpSpPr>
      <p:grpSpPr>
        <a:xfrm>
          <a:off x="0" y="0"/>
          <a:ext cx="0" cy="0"/>
          <a:chOff x="0" y="0"/>
          <a:chExt cx="0" cy="0"/>
        </a:xfrm>
      </p:grpSpPr>
      <p:sp>
        <p:nvSpPr>
          <p:cNvPr id="386" name="Google Shape;386;p14"/>
          <p:cNvSpPr/>
          <p:nvPr/>
        </p:nvSpPr>
        <p:spPr>
          <a:xfrm>
            <a:off x="8412480" y="-2377440"/>
            <a:ext cx="6400800" cy="6400800"/>
          </a:xfrm>
          <a:prstGeom prst="ellipse">
            <a:avLst/>
          </a:prstGeom>
          <a:solidFill>
            <a:srgbClr val="5B7FF0">
              <a:alpha val="18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2377440" y="4206240"/>
            <a:ext cx="4755000" cy="4755000"/>
          </a:xfrm>
          <a:prstGeom prst="ellipse">
            <a:avLst/>
          </a:prstGeom>
          <a:solidFill>
            <a:srgbClr val="C7DD6E">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502920" y="1417320"/>
            <a:ext cx="777300" cy="777300"/>
          </a:xfrm>
          <a:prstGeom prst="ellipse">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cogs_0E1B4B.png" id="389" name="Google Shape;389;p14"/>
          <p:cNvPicPr preferRelativeResize="0"/>
          <p:nvPr/>
        </p:nvPicPr>
        <p:blipFill rotWithShape="1">
          <a:blip r:embed="rId3">
            <a:alphaModFix/>
          </a:blip>
          <a:srcRect b="0" l="0" r="0" t="0"/>
          <a:stretch/>
        </p:blipFill>
        <p:spPr>
          <a:xfrm>
            <a:off x="705002" y="1619402"/>
            <a:ext cx="373075" cy="373075"/>
          </a:xfrm>
          <a:prstGeom prst="rect">
            <a:avLst/>
          </a:prstGeom>
          <a:noFill/>
          <a:ln>
            <a:noFill/>
          </a:ln>
        </p:spPr>
      </p:pic>
      <p:sp>
        <p:nvSpPr>
          <p:cNvPr id="390" name="Google Shape;390;p14"/>
          <p:cNvSpPr/>
          <p:nvPr/>
        </p:nvSpPr>
        <p:spPr>
          <a:xfrm>
            <a:off x="1463040" y="1463040"/>
            <a:ext cx="3657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SECTION </a:t>
            </a:r>
            <a:r>
              <a:rPr b="1" lang="en-US" sz="1300">
                <a:solidFill>
                  <a:srgbClr val="C7DD6E"/>
                </a:solidFill>
              </a:rPr>
              <a:t>3</a:t>
            </a:r>
            <a:endParaRPr b="0" i="0" sz="1300" u="none" cap="none" strike="noStrike">
              <a:solidFill>
                <a:schemeClr val="dk1"/>
              </a:solidFill>
              <a:latin typeface="Calibri"/>
              <a:ea typeface="Calibri"/>
              <a:cs typeface="Calibri"/>
              <a:sym typeface="Calibri"/>
            </a:endParaRPr>
          </a:p>
        </p:txBody>
      </p:sp>
      <p:sp>
        <p:nvSpPr>
          <p:cNvPr id="391" name="Google Shape;391;p14"/>
          <p:cNvSpPr/>
          <p:nvPr/>
        </p:nvSpPr>
        <p:spPr>
          <a:xfrm>
            <a:off x="502920" y="2834640"/>
            <a:ext cx="8686800" cy="118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Operations Plan</a:t>
            </a:r>
            <a:endParaRPr b="0" i="0" sz="4000" u="none" cap="none" strike="noStrike">
              <a:solidFill>
                <a:schemeClr val="dk1"/>
              </a:solidFill>
              <a:latin typeface="Calibri"/>
              <a:ea typeface="Calibri"/>
              <a:cs typeface="Calibri"/>
              <a:sym typeface="Calibri"/>
            </a:endParaRPr>
          </a:p>
        </p:txBody>
      </p:sp>
      <p:sp>
        <p:nvSpPr>
          <p:cNvPr id="392" name="Google Shape;392;p14"/>
          <p:cNvSpPr/>
          <p:nvPr/>
        </p:nvSpPr>
        <p:spPr>
          <a:xfrm>
            <a:off x="502920" y="3977640"/>
            <a:ext cx="1005900" cy="4560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502920" y="4160520"/>
            <a:ext cx="78639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1500"/>
              <a:buFont typeface="Arial"/>
              <a:buNone/>
            </a:pPr>
            <a:r>
              <a:rPr b="0" i="0" lang="en-US" sz="1500" u="none" cap="none" strike="noStrike">
                <a:solidFill>
                  <a:srgbClr val="A9C2F7"/>
                </a:solidFill>
                <a:latin typeface="Arial"/>
                <a:ea typeface="Arial"/>
                <a:cs typeface="Arial"/>
                <a:sym typeface="Arial"/>
              </a:rPr>
              <a:t>Document the systems that let your venture run consistently — without everything going through you. Draws on your SOP work and Weekly Pulse design.</a:t>
            </a:r>
            <a:endParaRPr b="0" i="0" sz="1500" u="none" cap="none" strike="noStrike">
              <a:solidFill>
                <a:schemeClr val="dk1"/>
              </a:solidFill>
              <a:latin typeface="Calibri"/>
              <a:ea typeface="Calibri"/>
              <a:cs typeface="Calibri"/>
              <a:sym typeface="Calibri"/>
            </a:endParaRPr>
          </a:p>
        </p:txBody>
      </p:sp>
      <p:sp>
        <p:nvSpPr>
          <p:cNvPr id="394" name="Google Shape;394;p14"/>
          <p:cNvSpPr/>
          <p:nvPr/>
        </p:nvSpPr>
        <p:spPr>
          <a:xfrm>
            <a:off x="502920" y="6309360"/>
            <a:ext cx="9144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900"/>
              <a:buFont typeface="Arial"/>
              <a:buNone/>
            </a:pPr>
            <a:r>
              <a:rPr b="0" i="0" lang="en-US" sz="900" u="none" cap="none" strike="noStrike">
                <a:solidFill>
                  <a:srgbClr val="A9C2F7"/>
                </a:solidFill>
                <a:latin typeface="Arial"/>
                <a:ea typeface="Arial"/>
                <a:cs typeface="Arial"/>
                <a:sym typeface="Arial"/>
              </a:rPr>
              <a:t>FOUNDER WORKBOOK · STARTUP OPERATIONS &amp; LAUNCH PLAN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15"/>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5"/>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p:nvPr/>
        </p:nvSpPr>
        <p:spPr>
          <a:xfrm>
            <a:off x="411480" y="777240"/>
            <a:ext cx="2651760"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5"/>
          <p:cNvSpPr/>
          <p:nvPr/>
        </p:nvSpPr>
        <p:spPr>
          <a:xfrm>
            <a:off x="411480" y="777240"/>
            <a:ext cx="2651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a:t>
            </a:r>
            <a:r>
              <a:rPr b="1" lang="en-US" sz="1100">
                <a:solidFill>
                  <a:srgbClr val="C7DD6E"/>
                </a:solidFill>
              </a:rPr>
              <a:t>3</a:t>
            </a:r>
            <a:r>
              <a:rPr b="1" i="0" lang="en-US" sz="1100" u="none" cap="none" strike="noStrike">
                <a:solidFill>
                  <a:srgbClr val="C7DD6E"/>
                </a:solidFill>
                <a:latin typeface="Arial"/>
                <a:ea typeface="Arial"/>
                <a:cs typeface="Arial"/>
                <a:sym typeface="Arial"/>
              </a:rPr>
              <a:t> · OPS</a:t>
            </a:r>
            <a:endParaRPr b="0" i="0" sz="1100" u="none" cap="none" strike="noStrike">
              <a:solidFill>
                <a:schemeClr val="dk1"/>
              </a:solidFill>
              <a:latin typeface="Calibri"/>
              <a:ea typeface="Calibri"/>
              <a:cs typeface="Calibri"/>
              <a:sym typeface="Calibri"/>
            </a:endParaRPr>
          </a:p>
        </p:txBody>
      </p:sp>
      <p:sp>
        <p:nvSpPr>
          <p:cNvPr id="404" name="Google Shape;404;p15"/>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Three Core SOPs — Field Guide</a:t>
            </a:r>
            <a:endParaRPr b="0" i="0" sz="2700" u="none" cap="none" strike="noStrike">
              <a:solidFill>
                <a:schemeClr val="dk1"/>
              </a:solidFill>
              <a:latin typeface="Calibri"/>
              <a:ea typeface="Calibri"/>
              <a:cs typeface="Calibri"/>
              <a:sym typeface="Calibri"/>
            </a:endParaRPr>
          </a:p>
        </p:txBody>
      </p:sp>
      <p:sp>
        <p:nvSpPr>
          <p:cNvPr id="405" name="Google Shape;405;p15"/>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p:nvPr/>
        </p:nvSpPr>
        <p:spPr>
          <a:xfrm>
            <a:off x="411480" y="1965960"/>
            <a:ext cx="11368735" cy="694944"/>
          </a:xfrm>
          <a:prstGeom prst="rect">
            <a:avLst/>
          </a:prstGeom>
          <a:solidFill>
            <a:srgbClr val="E4EAFB"/>
          </a:solidFill>
          <a:ln cap="flat" cmpd="sng" w="9525">
            <a:solidFill>
              <a:srgbClr val="A9C2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411480" y="1965960"/>
            <a:ext cx="54864" cy="694944"/>
          </a:xfrm>
          <a:prstGeom prst="rect">
            <a:avLst/>
          </a:prstGeom>
          <a:solidFill>
            <a:srgbClr val="264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621792" y="2020824"/>
            <a:ext cx="11002975" cy="5852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150"/>
              <a:buFont typeface="Arial"/>
              <a:buNone/>
            </a:pPr>
            <a:r>
              <a:rPr b="0" i="1" lang="en-US" sz="1150" u="none" cap="none" strike="noStrike">
                <a:solidFill>
                  <a:srgbClr val="0E1B4B"/>
                </a:solidFill>
                <a:latin typeface="Arial"/>
                <a:ea typeface="Arial"/>
                <a:cs typeface="Arial"/>
                <a:sym typeface="Arial"/>
              </a:rPr>
              <a:t>Every SOP on the next slide follows this same five-field structure. Suggested starting points: Customer Onboarding, Customer Support, Financial Keep-the-Lights-On.</a:t>
            </a:r>
            <a:endParaRPr b="0" i="0" sz="1150" u="none" cap="none" strike="noStrike">
              <a:solidFill>
                <a:schemeClr val="dk1"/>
              </a:solidFill>
              <a:latin typeface="Calibri"/>
              <a:ea typeface="Calibri"/>
              <a:cs typeface="Calibri"/>
              <a:sym typeface="Calibri"/>
            </a:endParaRPr>
          </a:p>
        </p:txBody>
      </p:sp>
      <p:sp>
        <p:nvSpPr>
          <p:cNvPr id="409" name="Google Shape;409;p15"/>
          <p:cNvSpPr/>
          <p:nvPr/>
        </p:nvSpPr>
        <p:spPr>
          <a:xfrm>
            <a:off x="411475" y="2788926"/>
            <a:ext cx="2142000" cy="35196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a:off x="1226485" y="2990088"/>
            <a:ext cx="512064" cy="51206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userswho_C7DD6E.png" id="411" name="Google Shape;411;p15"/>
          <p:cNvPicPr preferRelativeResize="0"/>
          <p:nvPr/>
        </p:nvPicPr>
        <p:blipFill rotWithShape="1">
          <a:blip r:embed="rId3">
            <a:alphaModFix/>
          </a:blip>
          <a:srcRect b="0" l="0" r="0" t="0"/>
          <a:stretch/>
        </p:blipFill>
        <p:spPr>
          <a:xfrm>
            <a:off x="1359621" y="3123225"/>
            <a:ext cx="245791" cy="245791"/>
          </a:xfrm>
          <a:prstGeom prst="rect">
            <a:avLst/>
          </a:prstGeom>
          <a:noFill/>
          <a:ln>
            <a:noFill/>
          </a:ln>
        </p:spPr>
      </p:pic>
      <p:sp>
        <p:nvSpPr>
          <p:cNvPr id="412" name="Google Shape;412;p15"/>
          <p:cNvSpPr/>
          <p:nvPr/>
        </p:nvSpPr>
        <p:spPr>
          <a:xfrm>
            <a:off x="521208" y="3611880"/>
            <a:ext cx="1922617"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050"/>
              <a:buFont typeface="Arial"/>
              <a:buNone/>
            </a:pPr>
            <a:r>
              <a:rPr b="1" i="0" lang="en-US" sz="1050" u="none" cap="none" strike="noStrike">
                <a:solidFill>
                  <a:srgbClr val="0E1B4B"/>
                </a:solidFill>
                <a:latin typeface="Arial"/>
                <a:ea typeface="Arial"/>
                <a:cs typeface="Arial"/>
                <a:sym typeface="Arial"/>
              </a:rPr>
              <a:t>SOP Name</a:t>
            </a:r>
            <a:endParaRPr b="0" i="0" sz="1050" u="none" cap="none" strike="noStrike">
              <a:solidFill>
                <a:schemeClr val="dk1"/>
              </a:solidFill>
              <a:latin typeface="Calibri"/>
              <a:ea typeface="Calibri"/>
              <a:cs typeface="Calibri"/>
              <a:sym typeface="Calibri"/>
            </a:endParaRPr>
          </a:p>
        </p:txBody>
      </p:sp>
      <p:sp>
        <p:nvSpPr>
          <p:cNvPr id="413" name="Google Shape;413;p15"/>
          <p:cNvSpPr/>
          <p:nvPr/>
        </p:nvSpPr>
        <p:spPr>
          <a:xfrm>
            <a:off x="539496" y="4114800"/>
            <a:ext cx="1886041"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079"/>
              </a:buClr>
              <a:buSzPts val="850"/>
              <a:buFont typeface="Arial"/>
              <a:buNone/>
            </a:pPr>
            <a:r>
              <a:rPr b="0" i="1" lang="en-US" sz="850" u="none" cap="none" strike="noStrike">
                <a:solidFill>
                  <a:srgbClr val="5B6079"/>
                </a:solidFill>
                <a:latin typeface="Arial"/>
                <a:ea typeface="Arial"/>
                <a:cs typeface="Arial"/>
                <a:sym typeface="Arial"/>
              </a:rPr>
              <a:t>What process is this?</a:t>
            </a:r>
            <a:endParaRPr b="0" i="0" sz="850" u="none" cap="none" strike="noStrike">
              <a:solidFill>
                <a:schemeClr val="dk1"/>
              </a:solidFill>
              <a:latin typeface="Calibri"/>
              <a:ea typeface="Calibri"/>
              <a:cs typeface="Calibri"/>
              <a:sym typeface="Calibri"/>
            </a:endParaRPr>
          </a:p>
        </p:txBody>
      </p:sp>
      <p:cxnSp>
        <p:nvCxnSpPr>
          <p:cNvPr id="414" name="Google Shape;414;p15"/>
          <p:cNvCxnSpPr/>
          <p:nvPr/>
        </p:nvCxnSpPr>
        <p:spPr>
          <a:xfrm>
            <a:off x="594360" y="4983480"/>
            <a:ext cx="1776313" cy="0"/>
          </a:xfrm>
          <a:prstGeom prst="straightConnector1">
            <a:avLst/>
          </a:prstGeom>
          <a:noFill/>
          <a:ln cap="flat" cmpd="sng" w="9525">
            <a:solidFill>
              <a:srgbClr val="DADCE6"/>
            </a:solidFill>
            <a:prstDash val="solid"/>
            <a:round/>
            <a:headEnd len="sm" w="sm" type="none"/>
            <a:tailEnd len="sm" w="sm" type="none"/>
          </a:ln>
        </p:spPr>
      </p:cxnSp>
      <p:sp>
        <p:nvSpPr>
          <p:cNvPr id="415" name="Google Shape;415;p15"/>
          <p:cNvSpPr/>
          <p:nvPr/>
        </p:nvSpPr>
        <p:spPr>
          <a:xfrm>
            <a:off x="539491" y="5415596"/>
            <a:ext cx="1886100" cy="788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B2450"/>
              </a:buClr>
              <a:buSzPts val="800"/>
              <a:buFont typeface="Arial"/>
              <a:buNone/>
            </a:pPr>
            <a:r>
              <a:rPr b="0" i="0" lang="en-US" sz="800" u="none" cap="none" strike="noStrike">
                <a:solidFill>
                  <a:srgbClr val="1B2450"/>
                </a:solidFill>
                <a:latin typeface="Arial"/>
                <a:ea typeface="Arial"/>
                <a:cs typeface="Arial"/>
                <a:sym typeface="Arial"/>
              </a:rPr>
              <a:t>Customer Onboarding</a:t>
            </a:r>
            <a:endParaRPr b="0" i="0" sz="800" u="none" cap="none" strike="noStrike">
              <a:solidFill>
                <a:schemeClr val="dk1"/>
              </a:solidFill>
              <a:latin typeface="Calibri"/>
              <a:ea typeface="Calibri"/>
              <a:cs typeface="Calibri"/>
              <a:sym typeface="Calibri"/>
            </a:endParaRPr>
          </a:p>
        </p:txBody>
      </p:sp>
      <p:sp>
        <p:nvSpPr>
          <p:cNvPr id="416" name="Google Shape;416;p15"/>
          <p:cNvSpPr/>
          <p:nvPr/>
        </p:nvSpPr>
        <p:spPr>
          <a:xfrm>
            <a:off x="2718143" y="2788926"/>
            <a:ext cx="2142000" cy="35196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p:nvPr/>
        </p:nvSpPr>
        <p:spPr>
          <a:xfrm>
            <a:off x="3533150" y="2990088"/>
            <a:ext cx="512064" cy="51206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bullseye_C7DD6E.png" id="418" name="Google Shape;418;p15"/>
          <p:cNvPicPr preferRelativeResize="0"/>
          <p:nvPr/>
        </p:nvPicPr>
        <p:blipFill rotWithShape="1">
          <a:blip r:embed="rId4">
            <a:alphaModFix/>
          </a:blip>
          <a:srcRect b="0" l="0" r="0" t="0"/>
          <a:stretch/>
        </p:blipFill>
        <p:spPr>
          <a:xfrm>
            <a:off x="3666287" y="3123225"/>
            <a:ext cx="245791" cy="245791"/>
          </a:xfrm>
          <a:prstGeom prst="rect">
            <a:avLst/>
          </a:prstGeom>
          <a:noFill/>
          <a:ln>
            <a:noFill/>
          </a:ln>
        </p:spPr>
      </p:pic>
      <p:sp>
        <p:nvSpPr>
          <p:cNvPr id="419" name="Google Shape;419;p15"/>
          <p:cNvSpPr/>
          <p:nvPr/>
        </p:nvSpPr>
        <p:spPr>
          <a:xfrm>
            <a:off x="2827873" y="3611880"/>
            <a:ext cx="1922617"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050"/>
              <a:buFont typeface="Arial"/>
              <a:buNone/>
            </a:pPr>
            <a:r>
              <a:rPr b="1" i="0" lang="en-US" sz="1050" u="none" cap="none" strike="noStrike">
                <a:solidFill>
                  <a:srgbClr val="0E1B4B"/>
                </a:solidFill>
                <a:latin typeface="Arial"/>
                <a:ea typeface="Arial"/>
                <a:cs typeface="Arial"/>
                <a:sym typeface="Arial"/>
              </a:rPr>
              <a:t>Trigger</a:t>
            </a:r>
            <a:endParaRPr b="0" i="0" sz="1050" u="none" cap="none" strike="noStrike">
              <a:solidFill>
                <a:schemeClr val="dk1"/>
              </a:solidFill>
              <a:latin typeface="Calibri"/>
              <a:ea typeface="Calibri"/>
              <a:cs typeface="Calibri"/>
              <a:sym typeface="Calibri"/>
            </a:endParaRPr>
          </a:p>
        </p:txBody>
      </p:sp>
      <p:sp>
        <p:nvSpPr>
          <p:cNvPr id="420" name="Google Shape;420;p15"/>
          <p:cNvSpPr/>
          <p:nvPr/>
        </p:nvSpPr>
        <p:spPr>
          <a:xfrm>
            <a:off x="2846161" y="4114800"/>
            <a:ext cx="1886041"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079"/>
              </a:buClr>
              <a:buSzPts val="850"/>
              <a:buFont typeface="Arial"/>
              <a:buNone/>
            </a:pPr>
            <a:r>
              <a:rPr b="0" i="1" lang="en-US" sz="850" u="none" cap="none" strike="noStrike">
                <a:solidFill>
                  <a:srgbClr val="5B6079"/>
                </a:solidFill>
                <a:latin typeface="Arial"/>
                <a:ea typeface="Arial"/>
                <a:cs typeface="Arial"/>
                <a:sym typeface="Arial"/>
              </a:rPr>
              <a:t>When is it used — what kicks it off?</a:t>
            </a:r>
            <a:endParaRPr b="0" i="0" sz="850" u="none" cap="none" strike="noStrike">
              <a:solidFill>
                <a:schemeClr val="dk1"/>
              </a:solidFill>
              <a:latin typeface="Calibri"/>
              <a:ea typeface="Calibri"/>
              <a:cs typeface="Calibri"/>
              <a:sym typeface="Calibri"/>
            </a:endParaRPr>
          </a:p>
        </p:txBody>
      </p:sp>
      <p:cxnSp>
        <p:nvCxnSpPr>
          <p:cNvPr id="421" name="Google Shape;421;p15"/>
          <p:cNvCxnSpPr/>
          <p:nvPr/>
        </p:nvCxnSpPr>
        <p:spPr>
          <a:xfrm>
            <a:off x="2901025" y="4983480"/>
            <a:ext cx="1776313" cy="0"/>
          </a:xfrm>
          <a:prstGeom prst="straightConnector1">
            <a:avLst/>
          </a:prstGeom>
          <a:noFill/>
          <a:ln cap="flat" cmpd="sng" w="9525">
            <a:solidFill>
              <a:srgbClr val="DADCE6"/>
            </a:solidFill>
            <a:prstDash val="solid"/>
            <a:round/>
            <a:headEnd len="sm" w="sm" type="none"/>
            <a:tailEnd len="sm" w="sm" type="none"/>
          </a:ln>
        </p:spPr>
      </p:cxnSp>
      <p:sp>
        <p:nvSpPr>
          <p:cNvPr id="422" name="Google Shape;422;p15"/>
          <p:cNvSpPr/>
          <p:nvPr/>
        </p:nvSpPr>
        <p:spPr>
          <a:xfrm>
            <a:off x="2846159" y="5415596"/>
            <a:ext cx="1886100" cy="788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B2450"/>
              </a:buClr>
              <a:buSzPts val="800"/>
              <a:buFont typeface="Arial"/>
              <a:buNone/>
            </a:pPr>
            <a:r>
              <a:rPr b="0" i="0" lang="en-US" sz="800" u="none" cap="none" strike="noStrike">
                <a:solidFill>
                  <a:srgbClr val="1B2450"/>
                </a:solidFill>
                <a:latin typeface="Arial"/>
                <a:ea typeface="Arial"/>
                <a:cs typeface="Arial"/>
                <a:sym typeface="Arial"/>
              </a:rPr>
              <a:t>New customer completes checkout and makes payment</a:t>
            </a:r>
            <a:endParaRPr b="0" i="0" sz="800" u="none" cap="none" strike="noStrike">
              <a:solidFill>
                <a:schemeClr val="dk1"/>
              </a:solidFill>
              <a:latin typeface="Calibri"/>
              <a:ea typeface="Calibri"/>
              <a:cs typeface="Calibri"/>
              <a:sym typeface="Calibri"/>
            </a:endParaRPr>
          </a:p>
        </p:txBody>
      </p:sp>
      <p:sp>
        <p:nvSpPr>
          <p:cNvPr id="423" name="Google Shape;423;p15"/>
          <p:cNvSpPr/>
          <p:nvPr/>
        </p:nvSpPr>
        <p:spPr>
          <a:xfrm>
            <a:off x="5024812" y="2788926"/>
            <a:ext cx="2142000" cy="35196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a:off x="5839816" y="2990088"/>
            <a:ext cx="512064" cy="51206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sitemap_C7DD6E.png" id="425" name="Google Shape;425;p15"/>
          <p:cNvPicPr preferRelativeResize="0"/>
          <p:nvPr/>
        </p:nvPicPr>
        <p:blipFill rotWithShape="1">
          <a:blip r:embed="rId5">
            <a:alphaModFix/>
          </a:blip>
          <a:srcRect b="0" l="0" r="0" t="0"/>
          <a:stretch/>
        </p:blipFill>
        <p:spPr>
          <a:xfrm>
            <a:off x="5972952" y="3123225"/>
            <a:ext cx="245791" cy="245791"/>
          </a:xfrm>
          <a:prstGeom prst="rect">
            <a:avLst/>
          </a:prstGeom>
          <a:noFill/>
          <a:ln>
            <a:noFill/>
          </a:ln>
        </p:spPr>
      </p:pic>
      <p:sp>
        <p:nvSpPr>
          <p:cNvPr id="426" name="Google Shape;426;p15"/>
          <p:cNvSpPr/>
          <p:nvPr/>
        </p:nvSpPr>
        <p:spPr>
          <a:xfrm>
            <a:off x="5134539" y="3611880"/>
            <a:ext cx="1922617"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050"/>
              <a:buFont typeface="Arial"/>
              <a:buNone/>
            </a:pPr>
            <a:r>
              <a:rPr b="1" i="0" lang="en-US" sz="1050" u="none" cap="none" strike="noStrike">
                <a:solidFill>
                  <a:srgbClr val="0E1B4B"/>
                </a:solidFill>
                <a:latin typeface="Arial"/>
                <a:ea typeface="Arial"/>
                <a:cs typeface="Arial"/>
                <a:sym typeface="Arial"/>
              </a:rPr>
              <a:t>Step-by-Step Process</a:t>
            </a:r>
            <a:endParaRPr b="0" i="0" sz="1050" u="none" cap="none" strike="noStrike">
              <a:solidFill>
                <a:schemeClr val="dk1"/>
              </a:solidFill>
              <a:latin typeface="Calibri"/>
              <a:ea typeface="Calibri"/>
              <a:cs typeface="Calibri"/>
              <a:sym typeface="Calibri"/>
            </a:endParaRPr>
          </a:p>
        </p:txBody>
      </p:sp>
      <p:sp>
        <p:nvSpPr>
          <p:cNvPr id="427" name="Google Shape;427;p15"/>
          <p:cNvSpPr/>
          <p:nvPr/>
        </p:nvSpPr>
        <p:spPr>
          <a:xfrm>
            <a:off x="5152827" y="4114800"/>
            <a:ext cx="1886041"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079"/>
              </a:buClr>
              <a:buSzPts val="850"/>
              <a:buFont typeface="Arial"/>
              <a:buNone/>
            </a:pPr>
            <a:r>
              <a:rPr b="0" i="1" lang="en-US" sz="850" u="none" cap="none" strike="noStrike">
                <a:solidFill>
                  <a:srgbClr val="5B6079"/>
                </a:solidFill>
                <a:latin typeface="Arial"/>
                <a:ea typeface="Arial"/>
                <a:cs typeface="Arial"/>
                <a:sym typeface="Arial"/>
              </a:rPr>
              <a:t>The lean, numbered steps — enough that someone new could follow it.</a:t>
            </a:r>
            <a:endParaRPr b="0" i="0" sz="850" u="none" cap="none" strike="noStrike">
              <a:solidFill>
                <a:schemeClr val="dk1"/>
              </a:solidFill>
              <a:latin typeface="Calibri"/>
              <a:ea typeface="Calibri"/>
              <a:cs typeface="Calibri"/>
              <a:sym typeface="Calibri"/>
            </a:endParaRPr>
          </a:p>
        </p:txBody>
      </p:sp>
      <p:cxnSp>
        <p:nvCxnSpPr>
          <p:cNvPr id="428" name="Google Shape;428;p15"/>
          <p:cNvCxnSpPr/>
          <p:nvPr/>
        </p:nvCxnSpPr>
        <p:spPr>
          <a:xfrm>
            <a:off x="5207691" y="4983480"/>
            <a:ext cx="1776313" cy="0"/>
          </a:xfrm>
          <a:prstGeom prst="straightConnector1">
            <a:avLst/>
          </a:prstGeom>
          <a:noFill/>
          <a:ln cap="flat" cmpd="sng" w="9525">
            <a:solidFill>
              <a:srgbClr val="DADCE6"/>
            </a:solidFill>
            <a:prstDash val="solid"/>
            <a:round/>
            <a:headEnd len="sm" w="sm" type="none"/>
            <a:tailEnd len="sm" w="sm" type="none"/>
          </a:ln>
        </p:spPr>
      </p:cxnSp>
      <p:sp>
        <p:nvSpPr>
          <p:cNvPr id="429" name="Google Shape;429;p15"/>
          <p:cNvSpPr/>
          <p:nvPr/>
        </p:nvSpPr>
        <p:spPr>
          <a:xfrm>
            <a:off x="5152828" y="5415596"/>
            <a:ext cx="1886100" cy="788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B2450"/>
              </a:buClr>
              <a:buSzPts val="800"/>
              <a:buFont typeface="Arial"/>
              <a:buNone/>
            </a:pPr>
            <a:r>
              <a:rPr b="0" i="0" lang="en-US" sz="800" u="none" cap="none" strike="noStrike">
                <a:solidFill>
                  <a:srgbClr val="1B2450"/>
                </a:solidFill>
                <a:latin typeface="Arial"/>
                <a:ea typeface="Arial"/>
                <a:cs typeface="Arial"/>
                <a:sym typeface="Arial"/>
              </a:rPr>
              <a:t>Automated welcome email sends within 5 minutes with login details and a "getting started" checklist. Mark onboarding complete in the tracker once they've used the product 3+ times or hit their first key action</a:t>
            </a:r>
            <a:endParaRPr b="0" i="0" sz="800" u="none" cap="none" strike="noStrike">
              <a:solidFill>
                <a:schemeClr val="dk1"/>
              </a:solidFill>
              <a:latin typeface="Calibri"/>
              <a:ea typeface="Calibri"/>
              <a:cs typeface="Calibri"/>
              <a:sym typeface="Calibri"/>
            </a:endParaRPr>
          </a:p>
        </p:txBody>
      </p:sp>
      <p:sp>
        <p:nvSpPr>
          <p:cNvPr id="430" name="Google Shape;430;p15"/>
          <p:cNvSpPr/>
          <p:nvPr/>
        </p:nvSpPr>
        <p:spPr>
          <a:xfrm>
            <a:off x="7331480" y="2788926"/>
            <a:ext cx="2142000" cy="35196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8146481" y="2990088"/>
            <a:ext cx="512064" cy="51206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cogs_C7DD6E.png" id="432" name="Google Shape;432;p15"/>
          <p:cNvPicPr preferRelativeResize="0"/>
          <p:nvPr/>
        </p:nvPicPr>
        <p:blipFill rotWithShape="1">
          <a:blip r:embed="rId6">
            <a:alphaModFix/>
          </a:blip>
          <a:srcRect b="0" l="0" r="0" t="0"/>
          <a:stretch/>
        </p:blipFill>
        <p:spPr>
          <a:xfrm>
            <a:off x="8279618" y="3123225"/>
            <a:ext cx="245791" cy="245791"/>
          </a:xfrm>
          <a:prstGeom prst="rect">
            <a:avLst/>
          </a:prstGeom>
          <a:noFill/>
          <a:ln>
            <a:noFill/>
          </a:ln>
        </p:spPr>
      </p:pic>
      <p:sp>
        <p:nvSpPr>
          <p:cNvPr id="433" name="Google Shape;433;p15"/>
          <p:cNvSpPr/>
          <p:nvPr/>
        </p:nvSpPr>
        <p:spPr>
          <a:xfrm>
            <a:off x="7441204" y="3611880"/>
            <a:ext cx="1922617"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050"/>
              <a:buFont typeface="Arial"/>
              <a:buNone/>
            </a:pPr>
            <a:r>
              <a:rPr b="1" i="0" lang="en-US" sz="1050" u="none" cap="none" strike="noStrike">
                <a:solidFill>
                  <a:srgbClr val="0E1B4B"/>
                </a:solidFill>
                <a:latin typeface="Arial"/>
                <a:ea typeface="Arial"/>
                <a:cs typeface="Arial"/>
                <a:sym typeface="Arial"/>
              </a:rPr>
              <a:t>Tools Used</a:t>
            </a:r>
            <a:endParaRPr b="0" i="0" sz="1050" u="none" cap="none" strike="noStrike">
              <a:solidFill>
                <a:schemeClr val="dk1"/>
              </a:solidFill>
              <a:latin typeface="Calibri"/>
              <a:ea typeface="Calibri"/>
              <a:cs typeface="Calibri"/>
              <a:sym typeface="Calibri"/>
            </a:endParaRPr>
          </a:p>
        </p:txBody>
      </p:sp>
      <p:sp>
        <p:nvSpPr>
          <p:cNvPr id="434" name="Google Shape;434;p15"/>
          <p:cNvSpPr/>
          <p:nvPr/>
        </p:nvSpPr>
        <p:spPr>
          <a:xfrm>
            <a:off x="7459492" y="4114800"/>
            <a:ext cx="1886041"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079"/>
              </a:buClr>
              <a:buSzPts val="850"/>
              <a:buFont typeface="Arial"/>
              <a:buNone/>
            </a:pPr>
            <a:r>
              <a:rPr b="0" i="1" lang="en-US" sz="850" u="none" cap="none" strike="noStrike">
                <a:solidFill>
                  <a:srgbClr val="5B6079"/>
                </a:solidFill>
                <a:latin typeface="Arial"/>
                <a:ea typeface="Arial"/>
                <a:cs typeface="Arial"/>
                <a:sym typeface="Arial"/>
              </a:rPr>
              <a:t>The specific apps/tools involved.</a:t>
            </a:r>
            <a:endParaRPr b="0" i="0" sz="850" u="none" cap="none" strike="noStrike">
              <a:solidFill>
                <a:schemeClr val="dk1"/>
              </a:solidFill>
              <a:latin typeface="Calibri"/>
              <a:ea typeface="Calibri"/>
              <a:cs typeface="Calibri"/>
              <a:sym typeface="Calibri"/>
            </a:endParaRPr>
          </a:p>
        </p:txBody>
      </p:sp>
      <p:cxnSp>
        <p:nvCxnSpPr>
          <p:cNvPr id="435" name="Google Shape;435;p15"/>
          <p:cNvCxnSpPr/>
          <p:nvPr/>
        </p:nvCxnSpPr>
        <p:spPr>
          <a:xfrm>
            <a:off x="7514356" y="4983480"/>
            <a:ext cx="1776313" cy="0"/>
          </a:xfrm>
          <a:prstGeom prst="straightConnector1">
            <a:avLst/>
          </a:prstGeom>
          <a:noFill/>
          <a:ln cap="flat" cmpd="sng" w="9525">
            <a:solidFill>
              <a:srgbClr val="DADCE6"/>
            </a:solidFill>
            <a:prstDash val="solid"/>
            <a:round/>
            <a:headEnd len="sm" w="sm" type="none"/>
            <a:tailEnd len="sm" w="sm" type="none"/>
          </a:ln>
        </p:spPr>
      </p:cxnSp>
      <p:sp>
        <p:nvSpPr>
          <p:cNvPr id="436" name="Google Shape;436;p15"/>
          <p:cNvSpPr/>
          <p:nvPr/>
        </p:nvSpPr>
        <p:spPr>
          <a:xfrm>
            <a:off x="7459496" y="5415596"/>
            <a:ext cx="1886100" cy="788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B2450"/>
              </a:buClr>
              <a:buSzPts val="800"/>
              <a:buFont typeface="Arial"/>
              <a:buNone/>
            </a:pPr>
            <a:r>
              <a:rPr b="0" i="0" lang="en-US" sz="800" u="none" cap="none" strike="noStrike">
                <a:solidFill>
                  <a:srgbClr val="1B2450"/>
                </a:solidFill>
                <a:latin typeface="Arial"/>
                <a:ea typeface="Arial"/>
                <a:cs typeface="Arial"/>
                <a:sym typeface="Arial"/>
              </a:rPr>
              <a:t>Gmail/Outlook (welcome email), Airtable (onboarding tracker), Zoom/Meet (support call)</a:t>
            </a:r>
            <a:endParaRPr b="0" i="0" sz="800" u="none" cap="none" strike="noStrike">
              <a:solidFill>
                <a:schemeClr val="dk1"/>
              </a:solidFill>
              <a:latin typeface="Calibri"/>
              <a:ea typeface="Calibri"/>
              <a:cs typeface="Calibri"/>
              <a:sym typeface="Calibri"/>
            </a:endParaRPr>
          </a:p>
        </p:txBody>
      </p:sp>
      <p:sp>
        <p:nvSpPr>
          <p:cNvPr id="437" name="Google Shape;437;p15"/>
          <p:cNvSpPr/>
          <p:nvPr/>
        </p:nvSpPr>
        <p:spPr>
          <a:xfrm>
            <a:off x="9638149" y="2788926"/>
            <a:ext cx="2142000" cy="351960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10453146" y="2990088"/>
            <a:ext cx="512064" cy="51206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medal_C7DD6E.png" id="439" name="Google Shape;439;p15"/>
          <p:cNvPicPr preferRelativeResize="0"/>
          <p:nvPr/>
        </p:nvPicPr>
        <p:blipFill rotWithShape="1">
          <a:blip r:embed="rId7">
            <a:alphaModFix/>
          </a:blip>
          <a:srcRect b="0" l="0" r="0" t="0"/>
          <a:stretch/>
        </p:blipFill>
        <p:spPr>
          <a:xfrm>
            <a:off x="10586283" y="3123225"/>
            <a:ext cx="245791" cy="245791"/>
          </a:xfrm>
          <a:prstGeom prst="rect">
            <a:avLst/>
          </a:prstGeom>
          <a:noFill/>
          <a:ln>
            <a:noFill/>
          </a:ln>
        </p:spPr>
      </p:pic>
      <p:sp>
        <p:nvSpPr>
          <p:cNvPr id="440" name="Google Shape;440;p15"/>
          <p:cNvSpPr/>
          <p:nvPr/>
        </p:nvSpPr>
        <p:spPr>
          <a:xfrm>
            <a:off x="9747870" y="3611880"/>
            <a:ext cx="1922617"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050"/>
              <a:buFont typeface="Arial"/>
              <a:buNone/>
            </a:pPr>
            <a:r>
              <a:rPr b="1" i="0" lang="en-US" sz="1050" u="none" cap="none" strike="noStrike">
                <a:solidFill>
                  <a:srgbClr val="0E1B4B"/>
                </a:solidFill>
                <a:latin typeface="Arial"/>
                <a:ea typeface="Arial"/>
                <a:cs typeface="Arial"/>
                <a:sym typeface="Arial"/>
              </a:rPr>
              <a:t>Owner</a:t>
            </a:r>
            <a:endParaRPr b="0" i="0" sz="1050" u="none" cap="none" strike="noStrike">
              <a:solidFill>
                <a:schemeClr val="dk1"/>
              </a:solidFill>
              <a:latin typeface="Calibri"/>
              <a:ea typeface="Calibri"/>
              <a:cs typeface="Calibri"/>
              <a:sym typeface="Calibri"/>
            </a:endParaRPr>
          </a:p>
        </p:txBody>
      </p:sp>
      <p:sp>
        <p:nvSpPr>
          <p:cNvPr id="441" name="Google Shape;441;p15"/>
          <p:cNvSpPr/>
          <p:nvPr/>
        </p:nvSpPr>
        <p:spPr>
          <a:xfrm>
            <a:off x="9766158" y="4114800"/>
            <a:ext cx="1886041"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B6079"/>
              </a:buClr>
              <a:buSzPts val="850"/>
              <a:buFont typeface="Arial"/>
              <a:buNone/>
            </a:pPr>
            <a:r>
              <a:rPr b="0" i="1" lang="en-US" sz="850" u="none" cap="none" strike="noStrike">
                <a:solidFill>
                  <a:srgbClr val="5B6079"/>
                </a:solidFill>
                <a:latin typeface="Arial"/>
                <a:ea typeface="Arial"/>
                <a:cs typeface="Arial"/>
                <a:sym typeface="Arial"/>
              </a:rPr>
              <a:t>Who is accountable for this running well?</a:t>
            </a:r>
            <a:endParaRPr b="0" i="0" sz="850" u="none" cap="none" strike="noStrike">
              <a:solidFill>
                <a:schemeClr val="dk1"/>
              </a:solidFill>
              <a:latin typeface="Calibri"/>
              <a:ea typeface="Calibri"/>
              <a:cs typeface="Calibri"/>
              <a:sym typeface="Calibri"/>
            </a:endParaRPr>
          </a:p>
        </p:txBody>
      </p:sp>
      <p:cxnSp>
        <p:nvCxnSpPr>
          <p:cNvPr id="442" name="Google Shape;442;p15"/>
          <p:cNvCxnSpPr/>
          <p:nvPr/>
        </p:nvCxnSpPr>
        <p:spPr>
          <a:xfrm>
            <a:off x="9821022" y="4983480"/>
            <a:ext cx="1776313" cy="0"/>
          </a:xfrm>
          <a:prstGeom prst="straightConnector1">
            <a:avLst/>
          </a:prstGeom>
          <a:noFill/>
          <a:ln cap="flat" cmpd="sng" w="9525">
            <a:solidFill>
              <a:srgbClr val="DADCE6"/>
            </a:solidFill>
            <a:prstDash val="solid"/>
            <a:round/>
            <a:headEnd len="sm" w="sm" type="none"/>
            <a:tailEnd len="sm" w="sm" type="none"/>
          </a:ln>
        </p:spPr>
      </p:cxnSp>
      <p:sp>
        <p:nvSpPr>
          <p:cNvPr id="443" name="Google Shape;443;p15"/>
          <p:cNvSpPr/>
          <p:nvPr/>
        </p:nvSpPr>
        <p:spPr>
          <a:xfrm>
            <a:off x="9766165" y="5415596"/>
            <a:ext cx="1886100" cy="788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B2450"/>
              </a:buClr>
              <a:buSzPts val="800"/>
              <a:buFont typeface="Arial"/>
              <a:buNone/>
            </a:pPr>
            <a:r>
              <a:rPr b="0" i="0" lang="en-US" sz="800" u="none" cap="none" strike="noStrike">
                <a:solidFill>
                  <a:srgbClr val="1B2450"/>
                </a:solidFill>
                <a:latin typeface="Arial"/>
                <a:ea typeface="Arial"/>
                <a:cs typeface="Arial"/>
                <a:sym typeface="Arial"/>
              </a:rPr>
              <a:t>Founder</a:t>
            </a:r>
            <a:endParaRPr b="0" i="0" sz="800" u="none" cap="none" strike="noStrike">
              <a:solidFill>
                <a:schemeClr val="dk1"/>
              </a:solidFill>
              <a:latin typeface="Calibri"/>
              <a:ea typeface="Calibri"/>
              <a:cs typeface="Calibri"/>
              <a:sym typeface="Calibri"/>
            </a:endParaRPr>
          </a:p>
        </p:txBody>
      </p:sp>
      <p:sp>
        <p:nvSpPr>
          <p:cNvPr id="444" name="Google Shape;444;p15"/>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2: Operations Plan</a:t>
            </a:r>
            <a:endParaRPr b="0" i="0" sz="900" u="none" cap="none" strike="noStrike">
              <a:solidFill>
                <a:schemeClr val="dk1"/>
              </a:solidFill>
              <a:latin typeface="Calibri"/>
              <a:ea typeface="Calibri"/>
              <a:cs typeface="Calibri"/>
              <a:sym typeface="Calibri"/>
            </a:endParaRPr>
          </a:p>
        </p:txBody>
      </p:sp>
      <p:sp>
        <p:nvSpPr>
          <p:cNvPr id="445" name="Google Shape;445;p15"/>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10</a:t>
            </a:r>
            <a:endParaRPr b="0" i="0" sz="900" u="none" cap="none" strike="noStrike">
              <a:solidFill>
                <a:schemeClr val="dk1"/>
              </a:solidFill>
              <a:latin typeface="Calibri"/>
              <a:ea typeface="Calibri"/>
              <a:cs typeface="Calibri"/>
              <a:sym typeface="Calibri"/>
            </a:endParaRPr>
          </a:p>
        </p:txBody>
      </p:sp>
      <p:cxnSp>
        <p:nvCxnSpPr>
          <p:cNvPr id="446" name="Google Shape;446;p15"/>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6"/>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411480" y="777240"/>
            <a:ext cx="2651760"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411480" y="777240"/>
            <a:ext cx="2651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a:t>
            </a:r>
            <a:r>
              <a:rPr b="1" lang="en-US" sz="1100">
                <a:solidFill>
                  <a:srgbClr val="C7DD6E"/>
                </a:solidFill>
              </a:rPr>
              <a:t>3</a:t>
            </a:r>
            <a:r>
              <a:rPr b="1" i="0" lang="en-US" sz="1100" u="none" cap="none" strike="noStrike">
                <a:solidFill>
                  <a:srgbClr val="C7DD6E"/>
                </a:solidFill>
                <a:latin typeface="Arial"/>
                <a:ea typeface="Arial"/>
                <a:cs typeface="Arial"/>
                <a:sym typeface="Arial"/>
              </a:rPr>
              <a:t>· OPS</a:t>
            </a:r>
            <a:endParaRPr b="0" i="0" sz="1100" u="none" cap="none" strike="noStrike">
              <a:solidFill>
                <a:schemeClr val="dk1"/>
              </a:solidFill>
              <a:latin typeface="Calibri"/>
              <a:ea typeface="Calibri"/>
              <a:cs typeface="Calibri"/>
              <a:sym typeface="Calibri"/>
            </a:endParaRPr>
          </a:p>
        </p:txBody>
      </p:sp>
      <p:sp>
        <p:nvSpPr>
          <p:cNvPr id="456" name="Google Shape;456;p16"/>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Your Three Core SOPs</a:t>
            </a:r>
            <a:endParaRPr b="0" i="0" sz="2700" u="none" cap="none" strike="noStrike">
              <a:solidFill>
                <a:schemeClr val="dk1"/>
              </a:solidFill>
              <a:latin typeface="Calibri"/>
              <a:ea typeface="Calibri"/>
              <a:cs typeface="Calibri"/>
              <a:sym typeface="Calibri"/>
            </a:endParaRPr>
          </a:p>
        </p:txBody>
      </p:sp>
      <p:sp>
        <p:nvSpPr>
          <p:cNvPr id="457" name="Google Shape;457;p16"/>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411480" y="1828800"/>
            <a:ext cx="1136873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Fill in one card per SOP. Substitute any process more relevant to your venture.</a:t>
            </a:r>
            <a:endParaRPr b="0" i="0" sz="1250" u="none" cap="none" strike="noStrike">
              <a:solidFill>
                <a:schemeClr val="dk1"/>
              </a:solidFill>
              <a:latin typeface="Calibri"/>
              <a:ea typeface="Calibri"/>
              <a:cs typeface="Calibri"/>
              <a:sym typeface="Calibri"/>
            </a:endParaRPr>
          </a:p>
        </p:txBody>
      </p:sp>
      <p:sp>
        <p:nvSpPr>
          <p:cNvPr id="459" name="Google Shape;459;p16"/>
          <p:cNvSpPr/>
          <p:nvPr/>
        </p:nvSpPr>
        <p:spPr>
          <a:xfrm>
            <a:off x="411480" y="2331720"/>
            <a:ext cx="3606698" cy="38404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521208" y="2331720"/>
            <a:ext cx="338724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SOP 1 — Customer Onboarding</a:t>
            </a:r>
            <a:endParaRPr b="0" i="0" sz="1100" u="none" cap="none" strike="noStrike">
              <a:solidFill>
                <a:schemeClr val="dk1"/>
              </a:solidFill>
              <a:latin typeface="Calibri"/>
              <a:ea typeface="Calibri"/>
              <a:cs typeface="Calibri"/>
              <a:sym typeface="Calibri"/>
            </a:endParaRPr>
          </a:p>
        </p:txBody>
      </p:sp>
      <p:sp>
        <p:nvSpPr>
          <p:cNvPr id="461" name="Google Shape;461;p16"/>
          <p:cNvSpPr/>
          <p:nvPr/>
        </p:nvSpPr>
        <p:spPr>
          <a:xfrm>
            <a:off x="411480" y="2788920"/>
            <a:ext cx="3606698" cy="530352"/>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539496" y="286207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TRIGGER</a:t>
            </a:r>
            <a:endParaRPr b="0" i="0" sz="1050" u="none" cap="none" strike="noStrike">
              <a:solidFill>
                <a:schemeClr val="dk1"/>
              </a:solidFill>
              <a:latin typeface="Calibri"/>
              <a:ea typeface="Calibri"/>
              <a:cs typeface="Calibri"/>
              <a:sym typeface="Calibri"/>
            </a:endParaRPr>
          </a:p>
        </p:txBody>
      </p:sp>
      <p:sp>
        <p:nvSpPr>
          <p:cNvPr id="463" name="Google Shape;463;p16"/>
          <p:cNvSpPr/>
          <p:nvPr/>
        </p:nvSpPr>
        <p:spPr>
          <a:xfrm>
            <a:off x="539496" y="3033264"/>
            <a:ext cx="3350700" cy="109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New client accepts proposal and agrees scope</a:t>
            </a:r>
            <a:endParaRPr b="0" i="0" sz="1050" u="none" cap="none" strike="noStrike">
              <a:solidFill>
                <a:schemeClr val="dk1"/>
              </a:solidFill>
              <a:latin typeface="Calibri"/>
              <a:ea typeface="Calibri"/>
              <a:cs typeface="Calibri"/>
              <a:sym typeface="Calibri"/>
            </a:endParaRPr>
          </a:p>
        </p:txBody>
      </p:sp>
      <p:sp>
        <p:nvSpPr>
          <p:cNvPr id="464" name="Google Shape;464;p16"/>
          <p:cNvSpPr/>
          <p:nvPr/>
        </p:nvSpPr>
        <p:spPr>
          <a:xfrm>
            <a:off x="411480" y="3374136"/>
            <a:ext cx="3606698" cy="100584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a:off x="539496" y="3447288"/>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STEP-BY-STEP</a:t>
            </a:r>
            <a:endParaRPr b="0" i="0" sz="1050" u="none" cap="none" strike="noStrike">
              <a:solidFill>
                <a:schemeClr val="dk1"/>
              </a:solidFill>
              <a:latin typeface="Calibri"/>
              <a:ea typeface="Calibri"/>
              <a:cs typeface="Calibri"/>
              <a:sym typeface="Calibri"/>
            </a:endParaRPr>
          </a:p>
        </p:txBody>
      </p:sp>
      <p:sp>
        <p:nvSpPr>
          <p:cNvPr id="466" name="Google Shape;466;p16"/>
          <p:cNvSpPr/>
          <p:nvPr/>
        </p:nvSpPr>
        <p:spPr>
          <a:xfrm>
            <a:off x="539496" y="3721608"/>
            <a:ext cx="3350666" cy="585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1) Confirm goals and audience. 2) Agree deliverables, timeline and fee. 3) Send agreement/invoice. 4) Collect assets and launch brief.</a:t>
            </a:r>
            <a:endParaRPr b="0" i="0" sz="1050" u="none" cap="none" strike="noStrike">
              <a:solidFill>
                <a:schemeClr val="dk1"/>
              </a:solidFill>
              <a:latin typeface="Calibri"/>
              <a:ea typeface="Calibri"/>
              <a:cs typeface="Calibri"/>
              <a:sym typeface="Calibri"/>
            </a:endParaRPr>
          </a:p>
        </p:txBody>
      </p:sp>
      <p:sp>
        <p:nvSpPr>
          <p:cNvPr id="467" name="Google Shape;467;p16"/>
          <p:cNvSpPr/>
          <p:nvPr/>
        </p:nvSpPr>
        <p:spPr>
          <a:xfrm>
            <a:off x="411480" y="4434840"/>
            <a:ext cx="3606698" cy="50292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539496" y="450799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TOOLS</a:t>
            </a:r>
            <a:endParaRPr b="0" i="0" sz="1050" u="none" cap="none" strike="noStrike">
              <a:solidFill>
                <a:schemeClr val="dk1"/>
              </a:solidFill>
              <a:latin typeface="Calibri"/>
              <a:ea typeface="Calibri"/>
              <a:cs typeface="Calibri"/>
              <a:sym typeface="Calibri"/>
            </a:endParaRPr>
          </a:p>
        </p:txBody>
      </p:sp>
      <p:sp>
        <p:nvSpPr>
          <p:cNvPr id="469" name="Google Shape;469;p16"/>
          <p:cNvSpPr/>
          <p:nvPr/>
        </p:nvSpPr>
        <p:spPr>
          <a:xfrm>
            <a:off x="539496" y="4696372"/>
            <a:ext cx="3350700" cy="8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Email, website form, spreadsheet, Google Drive</a:t>
            </a:r>
            <a:endParaRPr b="0" i="0" sz="1050" u="none" cap="none" strike="noStrike">
              <a:solidFill>
                <a:schemeClr val="dk1"/>
              </a:solidFill>
              <a:latin typeface="Calibri"/>
              <a:ea typeface="Calibri"/>
              <a:cs typeface="Calibri"/>
              <a:sym typeface="Calibri"/>
            </a:endParaRPr>
          </a:p>
        </p:txBody>
      </p:sp>
      <p:sp>
        <p:nvSpPr>
          <p:cNvPr id="470" name="Google Shape;470;p16"/>
          <p:cNvSpPr/>
          <p:nvPr/>
        </p:nvSpPr>
        <p:spPr>
          <a:xfrm>
            <a:off x="411480" y="4983480"/>
            <a:ext cx="3606698" cy="50292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a:off x="539496" y="505663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OWNER</a:t>
            </a:r>
            <a:endParaRPr b="0" i="0" sz="1050" u="none" cap="none" strike="noStrike">
              <a:solidFill>
                <a:schemeClr val="dk1"/>
              </a:solidFill>
              <a:latin typeface="Calibri"/>
              <a:ea typeface="Calibri"/>
              <a:cs typeface="Calibri"/>
              <a:sym typeface="Calibri"/>
            </a:endParaRPr>
          </a:p>
        </p:txBody>
      </p:sp>
      <p:sp>
        <p:nvSpPr>
          <p:cNvPr id="472" name="Google Shape;472;p16"/>
          <p:cNvSpPr/>
          <p:nvPr/>
        </p:nvSpPr>
        <p:spPr>
          <a:xfrm>
            <a:off x="539496" y="5245012"/>
            <a:ext cx="3350700" cy="8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Founder — Ferdinand Hasingizwumukiza</a:t>
            </a:r>
            <a:endParaRPr b="0" i="0" sz="1050" u="none" cap="none" strike="noStrike">
              <a:solidFill>
                <a:schemeClr val="dk1"/>
              </a:solidFill>
              <a:latin typeface="Calibri"/>
              <a:ea typeface="Calibri"/>
              <a:cs typeface="Calibri"/>
              <a:sym typeface="Calibri"/>
            </a:endParaRPr>
          </a:p>
        </p:txBody>
      </p:sp>
      <p:sp>
        <p:nvSpPr>
          <p:cNvPr id="473" name="Google Shape;473;p16"/>
          <p:cNvSpPr/>
          <p:nvPr/>
        </p:nvSpPr>
        <p:spPr>
          <a:xfrm>
            <a:off x="4292498" y="2331720"/>
            <a:ext cx="3606698" cy="38404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4402226" y="2331720"/>
            <a:ext cx="338724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SOP 2 — Customer Support</a:t>
            </a:r>
            <a:endParaRPr b="0" i="0" sz="1100" u="none" cap="none" strike="noStrike">
              <a:solidFill>
                <a:schemeClr val="dk1"/>
              </a:solidFill>
              <a:latin typeface="Calibri"/>
              <a:ea typeface="Calibri"/>
              <a:cs typeface="Calibri"/>
              <a:sym typeface="Calibri"/>
            </a:endParaRPr>
          </a:p>
        </p:txBody>
      </p:sp>
      <p:sp>
        <p:nvSpPr>
          <p:cNvPr id="475" name="Google Shape;475;p16"/>
          <p:cNvSpPr/>
          <p:nvPr/>
        </p:nvSpPr>
        <p:spPr>
          <a:xfrm>
            <a:off x="4292498" y="2788920"/>
            <a:ext cx="3606698" cy="530352"/>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4420514" y="286207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TRIGGER</a:t>
            </a:r>
            <a:endParaRPr b="0" i="0" sz="1050" u="none" cap="none" strike="noStrike">
              <a:solidFill>
                <a:schemeClr val="dk1"/>
              </a:solidFill>
              <a:latin typeface="Calibri"/>
              <a:ea typeface="Calibri"/>
              <a:cs typeface="Calibri"/>
              <a:sym typeface="Calibri"/>
            </a:endParaRPr>
          </a:p>
        </p:txBody>
      </p:sp>
      <p:sp>
        <p:nvSpPr>
          <p:cNvPr id="477" name="Google Shape;477;p16"/>
          <p:cNvSpPr/>
          <p:nvPr/>
        </p:nvSpPr>
        <p:spPr>
          <a:xfrm>
            <a:off x="4420514" y="3033264"/>
            <a:ext cx="3350700" cy="109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Client asks a question or reports a campaign issue</a:t>
            </a:r>
            <a:endParaRPr b="0" i="0" sz="1050" u="none" cap="none" strike="noStrike">
              <a:solidFill>
                <a:schemeClr val="dk1"/>
              </a:solidFill>
              <a:latin typeface="Calibri"/>
              <a:ea typeface="Calibri"/>
              <a:cs typeface="Calibri"/>
              <a:sym typeface="Calibri"/>
            </a:endParaRPr>
          </a:p>
        </p:txBody>
      </p:sp>
      <p:sp>
        <p:nvSpPr>
          <p:cNvPr id="478" name="Google Shape;478;p16"/>
          <p:cNvSpPr/>
          <p:nvPr/>
        </p:nvSpPr>
        <p:spPr>
          <a:xfrm>
            <a:off x="4292498" y="3374136"/>
            <a:ext cx="3606698" cy="100584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4420514" y="3447288"/>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STEP-BY-STEP</a:t>
            </a:r>
            <a:endParaRPr b="0" i="0" sz="1050" u="none" cap="none" strike="noStrike">
              <a:solidFill>
                <a:schemeClr val="dk1"/>
              </a:solidFill>
              <a:latin typeface="Calibri"/>
              <a:ea typeface="Calibri"/>
              <a:cs typeface="Calibri"/>
              <a:sym typeface="Calibri"/>
            </a:endParaRPr>
          </a:p>
        </p:txBody>
      </p:sp>
      <p:sp>
        <p:nvSpPr>
          <p:cNvPr id="480" name="Google Shape;480;p16"/>
          <p:cNvSpPr/>
          <p:nvPr/>
        </p:nvSpPr>
        <p:spPr>
          <a:xfrm>
            <a:off x="4420514" y="3721608"/>
            <a:ext cx="3350666" cy="585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1) Acknowledge within one business day. 2) Clarify issue and evidence. 3) Agree action and deadline. 4) Follow up and log outcome.</a:t>
            </a:r>
            <a:endParaRPr b="0" i="0" sz="1050" u="none" cap="none" strike="noStrike">
              <a:solidFill>
                <a:schemeClr val="dk1"/>
              </a:solidFill>
              <a:latin typeface="Calibri"/>
              <a:ea typeface="Calibri"/>
              <a:cs typeface="Calibri"/>
              <a:sym typeface="Calibri"/>
            </a:endParaRPr>
          </a:p>
        </p:txBody>
      </p:sp>
      <p:sp>
        <p:nvSpPr>
          <p:cNvPr id="481" name="Google Shape;481;p16"/>
          <p:cNvSpPr/>
          <p:nvPr/>
        </p:nvSpPr>
        <p:spPr>
          <a:xfrm>
            <a:off x="4292498" y="4434840"/>
            <a:ext cx="3606698" cy="50292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a:off x="4420514" y="450799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TOOLS</a:t>
            </a:r>
            <a:endParaRPr b="0" i="0" sz="1050" u="none" cap="none" strike="noStrike">
              <a:solidFill>
                <a:schemeClr val="dk1"/>
              </a:solidFill>
              <a:latin typeface="Calibri"/>
              <a:ea typeface="Calibri"/>
              <a:cs typeface="Calibri"/>
              <a:sym typeface="Calibri"/>
            </a:endParaRPr>
          </a:p>
        </p:txBody>
      </p:sp>
      <p:sp>
        <p:nvSpPr>
          <p:cNvPr id="483" name="Google Shape;483;p16"/>
          <p:cNvSpPr/>
          <p:nvPr/>
        </p:nvSpPr>
        <p:spPr>
          <a:xfrm>
            <a:off x="4420514" y="4696372"/>
            <a:ext cx="3350700" cy="8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Email, WhatsApp, campaign tracker</a:t>
            </a:r>
            <a:endParaRPr b="0" i="0" sz="1050" u="none" cap="none" strike="noStrike">
              <a:solidFill>
                <a:schemeClr val="dk1"/>
              </a:solidFill>
              <a:latin typeface="Calibri"/>
              <a:ea typeface="Calibri"/>
              <a:cs typeface="Calibri"/>
              <a:sym typeface="Calibri"/>
            </a:endParaRPr>
          </a:p>
        </p:txBody>
      </p:sp>
      <p:sp>
        <p:nvSpPr>
          <p:cNvPr id="484" name="Google Shape;484;p16"/>
          <p:cNvSpPr/>
          <p:nvPr/>
        </p:nvSpPr>
        <p:spPr>
          <a:xfrm>
            <a:off x="4292498" y="4983480"/>
            <a:ext cx="3606698" cy="50292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a:off x="4420514" y="505663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OWNER</a:t>
            </a:r>
            <a:endParaRPr b="0" i="0" sz="1050" u="none" cap="none" strike="noStrike">
              <a:solidFill>
                <a:schemeClr val="dk1"/>
              </a:solidFill>
              <a:latin typeface="Calibri"/>
              <a:ea typeface="Calibri"/>
              <a:cs typeface="Calibri"/>
              <a:sym typeface="Calibri"/>
            </a:endParaRPr>
          </a:p>
        </p:txBody>
      </p:sp>
      <p:sp>
        <p:nvSpPr>
          <p:cNvPr id="486" name="Google Shape;486;p16"/>
          <p:cNvSpPr/>
          <p:nvPr/>
        </p:nvSpPr>
        <p:spPr>
          <a:xfrm>
            <a:off x="4420514" y="5245012"/>
            <a:ext cx="3350700" cy="8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Founder — Ferdinand Hasingizwumukiza</a:t>
            </a:r>
            <a:endParaRPr b="0" i="0" sz="1050" u="none" cap="none" strike="noStrike">
              <a:solidFill>
                <a:schemeClr val="dk1"/>
              </a:solidFill>
              <a:latin typeface="Calibri"/>
              <a:ea typeface="Calibri"/>
              <a:cs typeface="Calibri"/>
              <a:sym typeface="Calibri"/>
            </a:endParaRPr>
          </a:p>
        </p:txBody>
      </p:sp>
      <p:sp>
        <p:nvSpPr>
          <p:cNvPr id="487" name="Google Shape;487;p16"/>
          <p:cNvSpPr/>
          <p:nvPr/>
        </p:nvSpPr>
        <p:spPr>
          <a:xfrm>
            <a:off x="8173517" y="2331720"/>
            <a:ext cx="3606698" cy="38404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a:off x="8283245" y="2331720"/>
            <a:ext cx="338724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SOP 3 — Financial Keep-the-Lights-On</a:t>
            </a:r>
            <a:endParaRPr b="0" i="0" sz="1100" u="none" cap="none" strike="noStrike">
              <a:solidFill>
                <a:schemeClr val="dk1"/>
              </a:solidFill>
              <a:latin typeface="Calibri"/>
              <a:ea typeface="Calibri"/>
              <a:cs typeface="Calibri"/>
              <a:sym typeface="Calibri"/>
            </a:endParaRPr>
          </a:p>
        </p:txBody>
      </p:sp>
      <p:sp>
        <p:nvSpPr>
          <p:cNvPr id="489" name="Google Shape;489;p16"/>
          <p:cNvSpPr/>
          <p:nvPr/>
        </p:nvSpPr>
        <p:spPr>
          <a:xfrm>
            <a:off x="8173517" y="2788920"/>
            <a:ext cx="3606698" cy="530352"/>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a:off x="8301533" y="286207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TRIGGER</a:t>
            </a:r>
            <a:endParaRPr b="0" i="0" sz="1050" u="none" cap="none" strike="noStrike">
              <a:solidFill>
                <a:schemeClr val="dk1"/>
              </a:solidFill>
              <a:latin typeface="Calibri"/>
              <a:ea typeface="Calibri"/>
              <a:cs typeface="Calibri"/>
              <a:sym typeface="Calibri"/>
            </a:endParaRPr>
          </a:p>
        </p:txBody>
      </p:sp>
      <p:sp>
        <p:nvSpPr>
          <p:cNvPr id="491" name="Google Shape;491;p16"/>
          <p:cNvSpPr/>
          <p:nvPr/>
        </p:nvSpPr>
        <p:spPr>
          <a:xfrm>
            <a:off x="8301533" y="3033264"/>
            <a:ext cx="3350700" cy="109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Weekly review or client payment / expense event</a:t>
            </a:r>
            <a:endParaRPr b="0" i="0" sz="1050" u="none" cap="none" strike="noStrike">
              <a:solidFill>
                <a:schemeClr val="dk1"/>
              </a:solidFill>
              <a:latin typeface="Calibri"/>
              <a:ea typeface="Calibri"/>
              <a:cs typeface="Calibri"/>
              <a:sym typeface="Calibri"/>
            </a:endParaRPr>
          </a:p>
        </p:txBody>
      </p:sp>
      <p:sp>
        <p:nvSpPr>
          <p:cNvPr id="492" name="Google Shape;492;p16"/>
          <p:cNvSpPr/>
          <p:nvPr/>
        </p:nvSpPr>
        <p:spPr>
          <a:xfrm>
            <a:off x="8173517" y="3374136"/>
            <a:ext cx="3606698" cy="100584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p:nvPr/>
        </p:nvSpPr>
        <p:spPr>
          <a:xfrm>
            <a:off x="8301533" y="3447288"/>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STEP-BY-STEP</a:t>
            </a:r>
            <a:endParaRPr b="0" i="0" sz="1050" u="none" cap="none" strike="noStrike">
              <a:solidFill>
                <a:schemeClr val="dk1"/>
              </a:solidFill>
              <a:latin typeface="Calibri"/>
              <a:ea typeface="Calibri"/>
              <a:cs typeface="Calibri"/>
              <a:sym typeface="Calibri"/>
            </a:endParaRPr>
          </a:p>
        </p:txBody>
      </p:sp>
      <p:sp>
        <p:nvSpPr>
          <p:cNvPr id="494" name="Google Shape;494;p16"/>
          <p:cNvSpPr/>
          <p:nvPr/>
        </p:nvSpPr>
        <p:spPr>
          <a:xfrm>
            <a:off x="8301533" y="3721608"/>
            <a:ext cx="3350666" cy="585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1) Record income and costs. 2) Match invoices and receipts. 3) Review cash position and pilot performance.</a:t>
            </a:r>
            <a:endParaRPr b="0" i="0" sz="1050" u="none" cap="none" strike="noStrike">
              <a:solidFill>
                <a:schemeClr val="dk1"/>
              </a:solidFill>
              <a:latin typeface="Calibri"/>
              <a:ea typeface="Calibri"/>
              <a:cs typeface="Calibri"/>
              <a:sym typeface="Calibri"/>
            </a:endParaRPr>
          </a:p>
        </p:txBody>
      </p:sp>
      <p:sp>
        <p:nvSpPr>
          <p:cNvPr id="495" name="Google Shape;495;p16"/>
          <p:cNvSpPr/>
          <p:nvPr/>
        </p:nvSpPr>
        <p:spPr>
          <a:xfrm>
            <a:off x="8173517" y="4434840"/>
            <a:ext cx="3606698" cy="50292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a:off x="8301533" y="450799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TOOLS</a:t>
            </a:r>
            <a:endParaRPr b="0" i="0" sz="1050" u="none" cap="none" strike="noStrike">
              <a:solidFill>
                <a:schemeClr val="dk1"/>
              </a:solidFill>
              <a:latin typeface="Calibri"/>
              <a:ea typeface="Calibri"/>
              <a:cs typeface="Calibri"/>
              <a:sym typeface="Calibri"/>
            </a:endParaRPr>
          </a:p>
        </p:txBody>
      </p:sp>
      <p:sp>
        <p:nvSpPr>
          <p:cNvPr id="497" name="Google Shape;497;p16"/>
          <p:cNvSpPr/>
          <p:nvPr/>
        </p:nvSpPr>
        <p:spPr>
          <a:xfrm>
            <a:off x="8301533" y="4696372"/>
            <a:ext cx="3350700" cy="8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Spreadsheet, invoices, receipts, bank/mobile-money records</a:t>
            </a:r>
            <a:endParaRPr b="0" i="0" sz="1050" u="none" cap="none" strike="noStrike">
              <a:solidFill>
                <a:schemeClr val="dk1"/>
              </a:solidFill>
              <a:latin typeface="Calibri"/>
              <a:ea typeface="Calibri"/>
              <a:cs typeface="Calibri"/>
              <a:sym typeface="Calibri"/>
            </a:endParaRPr>
          </a:p>
        </p:txBody>
      </p:sp>
      <p:sp>
        <p:nvSpPr>
          <p:cNvPr id="498" name="Google Shape;498;p16"/>
          <p:cNvSpPr/>
          <p:nvPr/>
        </p:nvSpPr>
        <p:spPr>
          <a:xfrm>
            <a:off x="8173517" y="4983480"/>
            <a:ext cx="3606698" cy="50292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a:off x="8301533" y="5056632"/>
            <a:ext cx="335066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OWNER</a:t>
            </a:r>
            <a:endParaRPr b="0" i="0" sz="1050" u="none" cap="none" strike="noStrike">
              <a:solidFill>
                <a:schemeClr val="dk1"/>
              </a:solidFill>
              <a:latin typeface="Calibri"/>
              <a:ea typeface="Calibri"/>
              <a:cs typeface="Calibri"/>
              <a:sym typeface="Calibri"/>
            </a:endParaRPr>
          </a:p>
        </p:txBody>
      </p:sp>
      <p:sp>
        <p:nvSpPr>
          <p:cNvPr id="500" name="Google Shape;500;p16"/>
          <p:cNvSpPr/>
          <p:nvPr/>
        </p:nvSpPr>
        <p:spPr>
          <a:xfrm>
            <a:off x="8301533" y="5245012"/>
            <a:ext cx="3350700" cy="8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Founder — Ferdinand Hasingizwumukiza</a:t>
            </a:r>
            <a:endParaRPr b="0" i="0" sz="1050" u="none" cap="none" strike="noStrike">
              <a:solidFill>
                <a:schemeClr val="dk1"/>
              </a:solidFill>
              <a:latin typeface="Calibri"/>
              <a:ea typeface="Calibri"/>
              <a:cs typeface="Calibri"/>
              <a:sym typeface="Calibri"/>
            </a:endParaRPr>
          </a:p>
        </p:txBody>
      </p:sp>
      <p:sp>
        <p:nvSpPr>
          <p:cNvPr id="501" name="Google Shape;501;p16"/>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2: Operations Plan</a:t>
            </a:r>
            <a:endParaRPr b="0" i="0" sz="900" u="none" cap="none" strike="noStrike">
              <a:solidFill>
                <a:schemeClr val="dk1"/>
              </a:solidFill>
              <a:latin typeface="Calibri"/>
              <a:ea typeface="Calibri"/>
              <a:cs typeface="Calibri"/>
              <a:sym typeface="Calibri"/>
            </a:endParaRPr>
          </a:p>
        </p:txBody>
      </p:sp>
      <p:sp>
        <p:nvSpPr>
          <p:cNvPr id="502" name="Google Shape;502;p16"/>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11</a:t>
            </a:r>
            <a:endParaRPr b="0" i="0" sz="900" u="none" cap="none" strike="noStrike">
              <a:solidFill>
                <a:schemeClr val="dk1"/>
              </a:solidFill>
              <a:latin typeface="Calibri"/>
              <a:ea typeface="Calibri"/>
              <a:cs typeface="Calibri"/>
              <a:sym typeface="Calibri"/>
            </a:endParaRPr>
          </a:p>
        </p:txBody>
      </p:sp>
      <p:cxnSp>
        <p:nvCxnSpPr>
          <p:cNvPr id="503" name="Google Shape;503;p16"/>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17"/>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411480" y="777240"/>
            <a:ext cx="2651760"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7"/>
          <p:cNvSpPr/>
          <p:nvPr/>
        </p:nvSpPr>
        <p:spPr>
          <a:xfrm>
            <a:off x="411480" y="777240"/>
            <a:ext cx="2651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a:t>
            </a:r>
            <a:r>
              <a:rPr b="1" lang="en-US" sz="1100">
                <a:solidFill>
                  <a:srgbClr val="C7DD6E"/>
                </a:solidFill>
              </a:rPr>
              <a:t>3</a:t>
            </a:r>
            <a:r>
              <a:rPr b="1" i="0" lang="en-US" sz="1100" u="none" cap="none" strike="noStrike">
                <a:solidFill>
                  <a:srgbClr val="C7DD6E"/>
                </a:solidFill>
                <a:latin typeface="Arial"/>
                <a:ea typeface="Arial"/>
                <a:cs typeface="Arial"/>
                <a:sym typeface="Arial"/>
              </a:rPr>
              <a:t> · OPS</a:t>
            </a:r>
            <a:endParaRPr b="0" i="0" sz="1100" u="none" cap="none" strike="noStrike">
              <a:solidFill>
                <a:schemeClr val="dk1"/>
              </a:solidFill>
              <a:latin typeface="Calibri"/>
              <a:ea typeface="Calibri"/>
              <a:cs typeface="Calibri"/>
              <a:sym typeface="Calibri"/>
            </a:endParaRPr>
          </a:p>
        </p:txBody>
      </p:sp>
      <p:sp>
        <p:nvSpPr>
          <p:cNvPr id="513" name="Google Shape;513;p17"/>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2: Operations Plan</a:t>
            </a:r>
            <a:endParaRPr b="0" i="0" sz="900" u="none" cap="none" strike="noStrike">
              <a:solidFill>
                <a:schemeClr val="dk1"/>
              </a:solidFill>
              <a:latin typeface="Calibri"/>
              <a:ea typeface="Calibri"/>
              <a:cs typeface="Calibri"/>
              <a:sym typeface="Calibri"/>
            </a:endParaRPr>
          </a:p>
        </p:txBody>
      </p:sp>
      <p:sp>
        <p:nvSpPr>
          <p:cNvPr id="514" name="Google Shape;514;p17"/>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12</a:t>
            </a:r>
            <a:endParaRPr b="0" i="0" sz="900" u="none" cap="none" strike="noStrike">
              <a:solidFill>
                <a:schemeClr val="dk1"/>
              </a:solidFill>
              <a:latin typeface="Calibri"/>
              <a:ea typeface="Calibri"/>
              <a:cs typeface="Calibri"/>
              <a:sym typeface="Calibri"/>
            </a:endParaRPr>
          </a:p>
        </p:txBody>
      </p:sp>
      <p:cxnSp>
        <p:nvCxnSpPr>
          <p:cNvPr id="515" name="Google Shape;515;p17"/>
          <p:cNvCxnSpPr/>
          <p:nvPr/>
        </p:nvCxnSpPr>
        <p:spPr>
          <a:xfrm>
            <a:off x="325540" y="6437376"/>
            <a:ext cx="11368800" cy="0"/>
          </a:xfrm>
          <a:prstGeom prst="straightConnector1">
            <a:avLst/>
          </a:prstGeom>
          <a:noFill/>
          <a:ln cap="flat" cmpd="sng" w="9525">
            <a:solidFill>
              <a:srgbClr val="DADCE6"/>
            </a:solidFill>
            <a:prstDash val="solid"/>
            <a:round/>
            <a:headEnd len="sm" w="sm" type="none"/>
            <a:tailEnd len="sm" w="sm" type="none"/>
          </a:ln>
        </p:spPr>
      </p:cxnSp>
      <p:sp>
        <p:nvSpPr>
          <p:cNvPr id="516" name="Google Shape;516;p17"/>
          <p:cNvSpPr/>
          <p:nvPr/>
        </p:nvSpPr>
        <p:spPr>
          <a:xfrm>
            <a:off x="457200" y="1027016"/>
            <a:ext cx="11274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000"/>
              <a:buFont typeface="Cambria"/>
              <a:buNone/>
            </a:pPr>
            <a:r>
              <a:rPr b="1" lang="en-US" sz="3000">
                <a:solidFill>
                  <a:srgbClr val="1E2761"/>
                </a:solidFill>
                <a:latin typeface="Cambria"/>
                <a:ea typeface="Cambria"/>
                <a:cs typeface="Cambria"/>
                <a:sym typeface="Cambria"/>
              </a:rPr>
              <a:t>The Weekly Pulse</a:t>
            </a:r>
            <a:endParaRPr sz="3000">
              <a:solidFill>
                <a:srgbClr val="000000"/>
              </a:solidFill>
              <a:latin typeface="Calibri"/>
              <a:ea typeface="Calibri"/>
              <a:cs typeface="Calibri"/>
              <a:sym typeface="Calibri"/>
            </a:endParaRPr>
          </a:p>
        </p:txBody>
      </p:sp>
      <p:sp>
        <p:nvSpPr>
          <p:cNvPr id="517" name="Google Shape;517;p17"/>
          <p:cNvSpPr/>
          <p:nvPr/>
        </p:nvSpPr>
        <p:spPr>
          <a:xfrm>
            <a:off x="457200" y="1621032"/>
            <a:ext cx="11274600" cy="457200"/>
          </a:xfrm>
          <a:prstGeom prst="roundRect">
            <a:avLst>
              <a:gd fmla="val 16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7"/>
          <p:cNvSpPr/>
          <p:nvPr/>
        </p:nvSpPr>
        <p:spPr>
          <a:xfrm>
            <a:off x="640080" y="1621032"/>
            <a:ext cx="10908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00"/>
              <a:buFont typeface="Calibri"/>
              <a:buNone/>
            </a:pPr>
            <a:r>
              <a:rPr i="1" lang="en-US" sz="1200">
                <a:solidFill>
                  <a:srgbClr val="1E2761"/>
                </a:solidFill>
                <a:latin typeface="Calibri"/>
                <a:ea typeface="Calibri"/>
                <a:cs typeface="Calibri"/>
                <a:sym typeface="Calibri"/>
              </a:rPr>
              <a:t>Describe 2–3 operational rituals. For each: when it happens, who attends, what's different vs. today.</a:t>
            </a:r>
            <a:endParaRPr sz="1200">
              <a:solidFill>
                <a:srgbClr val="000000"/>
              </a:solidFill>
              <a:latin typeface="Calibri"/>
              <a:ea typeface="Calibri"/>
              <a:cs typeface="Calibri"/>
              <a:sym typeface="Calibri"/>
            </a:endParaRPr>
          </a:p>
        </p:txBody>
      </p:sp>
      <p:sp>
        <p:nvSpPr>
          <p:cNvPr id="519" name="Google Shape;519;p17"/>
          <p:cNvSpPr/>
          <p:nvPr/>
        </p:nvSpPr>
        <p:spPr>
          <a:xfrm>
            <a:off x="457200" y="2206248"/>
            <a:ext cx="11274600" cy="1298400"/>
          </a:xfrm>
          <a:prstGeom prst="roundRect">
            <a:avLst>
              <a:gd fmla="val 5634" name="adj"/>
            </a:avLst>
          </a:prstGeom>
          <a:solidFill>
            <a:schemeClr val="lt1"/>
          </a:solidFill>
          <a:ln cap="flat" cmpd="sng" w="9525">
            <a:solidFill>
              <a:srgbClr val="2647E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640080" y="2581152"/>
            <a:ext cx="548700" cy="548700"/>
          </a:xfrm>
          <a:prstGeom prst="ellipse">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icons_calendar_FFFFFF.png" id="521" name="Google Shape;521;p17"/>
          <p:cNvPicPr preferRelativeResize="0"/>
          <p:nvPr/>
        </p:nvPicPr>
        <p:blipFill rotWithShape="1">
          <a:blip r:embed="rId3">
            <a:alphaModFix/>
          </a:blip>
          <a:srcRect b="0" l="0" r="0" t="0"/>
          <a:stretch/>
        </p:blipFill>
        <p:spPr>
          <a:xfrm>
            <a:off x="782726" y="2723798"/>
            <a:ext cx="263347" cy="263347"/>
          </a:xfrm>
          <a:prstGeom prst="rect">
            <a:avLst/>
          </a:prstGeom>
          <a:noFill/>
          <a:ln>
            <a:noFill/>
          </a:ln>
        </p:spPr>
      </p:pic>
      <p:sp>
        <p:nvSpPr>
          <p:cNvPr id="522" name="Google Shape;522;p17"/>
          <p:cNvSpPr/>
          <p:nvPr/>
        </p:nvSpPr>
        <p:spPr>
          <a:xfrm>
            <a:off x="1371600" y="2297688"/>
            <a:ext cx="2286000" cy="111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Monday Stand-up</a:t>
            </a:r>
            <a:endParaRPr sz="1300">
              <a:solidFill>
                <a:srgbClr val="000000"/>
              </a:solidFill>
              <a:latin typeface="Calibri"/>
              <a:ea typeface="Calibri"/>
              <a:cs typeface="Calibri"/>
              <a:sym typeface="Calibri"/>
            </a:endParaRPr>
          </a:p>
        </p:txBody>
      </p:sp>
      <p:sp>
        <p:nvSpPr>
          <p:cNvPr id="523" name="Google Shape;523;p17"/>
          <p:cNvSpPr/>
          <p:nvPr/>
        </p:nvSpPr>
        <p:spPr>
          <a:xfrm>
            <a:off x="3794760" y="2279400"/>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WHEN</a:t>
            </a:r>
            <a:endParaRPr sz="950">
              <a:solidFill>
                <a:srgbClr val="000000"/>
              </a:solidFill>
              <a:latin typeface="Calibri"/>
              <a:ea typeface="Calibri"/>
              <a:cs typeface="Calibri"/>
              <a:sym typeface="Calibri"/>
            </a:endParaRPr>
          </a:p>
        </p:txBody>
      </p:sp>
      <p:sp>
        <p:nvSpPr>
          <p:cNvPr id="524" name="Google Shape;524;p17"/>
          <p:cNvSpPr/>
          <p:nvPr/>
        </p:nvSpPr>
        <p:spPr>
          <a:xfrm>
            <a:off x="3794760" y="2608584"/>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3922776" y="2663448"/>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Monday, 30 minutes</a:t>
            </a:r>
            <a:endParaRPr sz="1050">
              <a:solidFill>
                <a:srgbClr val="000000"/>
              </a:solidFill>
              <a:latin typeface="Calibri"/>
              <a:ea typeface="Calibri"/>
              <a:cs typeface="Calibri"/>
              <a:sym typeface="Calibri"/>
            </a:endParaRPr>
          </a:p>
        </p:txBody>
      </p:sp>
      <p:sp>
        <p:nvSpPr>
          <p:cNvPr id="526" name="Google Shape;526;p17"/>
          <p:cNvSpPr/>
          <p:nvPr/>
        </p:nvSpPr>
        <p:spPr>
          <a:xfrm>
            <a:off x="6531864" y="2279400"/>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WHO ATTENDS</a:t>
            </a:r>
            <a:endParaRPr sz="950">
              <a:solidFill>
                <a:srgbClr val="000000"/>
              </a:solidFill>
              <a:latin typeface="Calibri"/>
              <a:ea typeface="Calibri"/>
              <a:cs typeface="Calibri"/>
              <a:sym typeface="Calibri"/>
            </a:endParaRPr>
          </a:p>
        </p:txBody>
      </p:sp>
      <p:sp>
        <p:nvSpPr>
          <p:cNvPr id="527" name="Google Shape;527;p17"/>
          <p:cNvSpPr/>
          <p:nvPr/>
        </p:nvSpPr>
        <p:spPr>
          <a:xfrm>
            <a:off x="6531864" y="2608584"/>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6659880" y="2663448"/>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Founder; invite client only when needed</a:t>
            </a:r>
            <a:endParaRPr sz="1050">
              <a:solidFill>
                <a:srgbClr val="000000"/>
              </a:solidFill>
              <a:latin typeface="Calibri"/>
              <a:ea typeface="Calibri"/>
              <a:cs typeface="Calibri"/>
              <a:sym typeface="Calibri"/>
            </a:endParaRPr>
          </a:p>
        </p:txBody>
      </p:sp>
      <p:sp>
        <p:nvSpPr>
          <p:cNvPr id="529" name="Google Shape;529;p17"/>
          <p:cNvSpPr/>
          <p:nvPr/>
        </p:nvSpPr>
        <p:spPr>
          <a:xfrm>
            <a:off x="9183028" y="2279400"/>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WHAT'S DIFFERENT</a:t>
            </a:r>
            <a:endParaRPr sz="950">
              <a:solidFill>
                <a:srgbClr val="000000"/>
              </a:solidFill>
              <a:latin typeface="Calibri"/>
              <a:ea typeface="Calibri"/>
              <a:cs typeface="Calibri"/>
              <a:sym typeface="Calibri"/>
            </a:endParaRPr>
          </a:p>
        </p:txBody>
      </p:sp>
      <p:sp>
        <p:nvSpPr>
          <p:cNvPr id="530" name="Google Shape;530;p17"/>
          <p:cNvSpPr/>
          <p:nvPr/>
        </p:nvSpPr>
        <p:spPr>
          <a:xfrm>
            <a:off x="9183028" y="2608584"/>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9311044" y="2663448"/>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Set weekly priorities, review leads, deadlines and client follow-ups.</a:t>
            </a:r>
            <a:endParaRPr sz="1050">
              <a:solidFill>
                <a:srgbClr val="000000"/>
              </a:solidFill>
              <a:latin typeface="Calibri"/>
              <a:ea typeface="Calibri"/>
              <a:cs typeface="Calibri"/>
              <a:sym typeface="Calibri"/>
            </a:endParaRPr>
          </a:p>
        </p:txBody>
      </p:sp>
      <p:sp>
        <p:nvSpPr>
          <p:cNvPr id="532" name="Google Shape;532;p17"/>
          <p:cNvSpPr/>
          <p:nvPr/>
        </p:nvSpPr>
        <p:spPr>
          <a:xfrm>
            <a:off x="457200" y="3651000"/>
            <a:ext cx="11274600" cy="1298400"/>
          </a:xfrm>
          <a:prstGeom prst="roundRect">
            <a:avLst>
              <a:gd fmla="val 5634" name="adj"/>
            </a:avLst>
          </a:prstGeom>
          <a:solidFill>
            <a:schemeClr val="lt1"/>
          </a:solidFill>
          <a:ln cap="flat" cmpd="sng" w="9525">
            <a:solidFill>
              <a:srgbClr val="2647E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p:nvPr/>
        </p:nvSpPr>
        <p:spPr>
          <a:xfrm>
            <a:off x="640080" y="4025904"/>
            <a:ext cx="548700" cy="548700"/>
          </a:xfrm>
          <a:prstGeom prst="ellipse">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icons_chart_FFFFFF.png" id="534" name="Google Shape;534;p17"/>
          <p:cNvPicPr preferRelativeResize="0"/>
          <p:nvPr/>
        </p:nvPicPr>
        <p:blipFill rotWithShape="1">
          <a:blip r:embed="rId4">
            <a:alphaModFix/>
          </a:blip>
          <a:srcRect b="0" l="0" r="0" t="0"/>
          <a:stretch/>
        </p:blipFill>
        <p:spPr>
          <a:xfrm>
            <a:off x="782726" y="4168550"/>
            <a:ext cx="263347" cy="263347"/>
          </a:xfrm>
          <a:prstGeom prst="rect">
            <a:avLst/>
          </a:prstGeom>
          <a:noFill/>
          <a:ln>
            <a:noFill/>
          </a:ln>
        </p:spPr>
      </p:pic>
      <p:sp>
        <p:nvSpPr>
          <p:cNvPr id="535" name="Google Shape;535;p17"/>
          <p:cNvSpPr/>
          <p:nvPr/>
        </p:nvSpPr>
        <p:spPr>
          <a:xfrm>
            <a:off x="1371600" y="3742440"/>
            <a:ext cx="2286000" cy="111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Friday Demo / Retro</a:t>
            </a:r>
            <a:endParaRPr sz="1300">
              <a:solidFill>
                <a:srgbClr val="000000"/>
              </a:solidFill>
              <a:latin typeface="Calibri"/>
              <a:ea typeface="Calibri"/>
              <a:cs typeface="Calibri"/>
              <a:sym typeface="Calibri"/>
            </a:endParaRPr>
          </a:p>
        </p:txBody>
      </p:sp>
      <p:sp>
        <p:nvSpPr>
          <p:cNvPr id="536" name="Google Shape;536;p17"/>
          <p:cNvSpPr/>
          <p:nvPr/>
        </p:nvSpPr>
        <p:spPr>
          <a:xfrm>
            <a:off x="3794760" y="3724152"/>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WHEN</a:t>
            </a:r>
            <a:endParaRPr sz="950">
              <a:solidFill>
                <a:srgbClr val="000000"/>
              </a:solidFill>
              <a:latin typeface="Calibri"/>
              <a:ea typeface="Calibri"/>
              <a:cs typeface="Calibri"/>
              <a:sym typeface="Calibri"/>
            </a:endParaRPr>
          </a:p>
        </p:txBody>
      </p:sp>
      <p:sp>
        <p:nvSpPr>
          <p:cNvPr id="537" name="Google Shape;537;p17"/>
          <p:cNvSpPr/>
          <p:nvPr/>
        </p:nvSpPr>
        <p:spPr>
          <a:xfrm>
            <a:off x="3794760" y="4053336"/>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7"/>
          <p:cNvSpPr/>
          <p:nvPr/>
        </p:nvSpPr>
        <p:spPr>
          <a:xfrm>
            <a:off x="3922776" y="4108200"/>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Friday, 30 minutes</a:t>
            </a:r>
            <a:endParaRPr sz="1050">
              <a:solidFill>
                <a:srgbClr val="000000"/>
              </a:solidFill>
              <a:latin typeface="Calibri"/>
              <a:ea typeface="Calibri"/>
              <a:cs typeface="Calibri"/>
              <a:sym typeface="Calibri"/>
            </a:endParaRPr>
          </a:p>
        </p:txBody>
      </p:sp>
      <p:sp>
        <p:nvSpPr>
          <p:cNvPr id="539" name="Google Shape;539;p17"/>
          <p:cNvSpPr/>
          <p:nvPr/>
        </p:nvSpPr>
        <p:spPr>
          <a:xfrm>
            <a:off x="6531864" y="3724152"/>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WHO ATTENDS</a:t>
            </a:r>
            <a:endParaRPr sz="950">
              <a:solidFill>
                <a:srgbClr val="000000"/>
              </a:solidFill>
              <a:latin typeface="Calibri"/>
              <a:ea typeface="Calibri"/>
              <a:cs typeface="Calibri"/>
              <a:sym typeface="Calibri"/>
            </a:endParaRPr>
          </a:p>
        </p:txBody>
      </p:sp>
      <p:sp>
        <p:nvSpPr>
          <p:cNvPr id="540" name="Google Shape;540;p17"/>
          <p:cNvSpPr/>
          <p:nvPr/>
        </p:nvSpPr>
        <p:spPr>
          <a:xfrm>
            <a:off x="6531864" y="4053336"/>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7"/>
          <p:cNvSpPr/>
          <p:nvPr/>
        </p:nvSpPr>
        <p:spPr>
          <a:xfrm>
            <a:off x="6659880" y="4108200"/>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Founder; client joins for campaign review when useful</a:t>
            </a:r>
            <a:endParaRPr sz="1050">
              <a:solidFill>
                <a:srgbClr val="000000"/>
              </a:solidFill>
              <a:latin typeface="Calibri"/>
              <a:ea typeface="Calibri"/>
              <a:cs typeface="Calibri"/>
              <a:sym typeface="Calibri"/>
            </a:endParaRPr>
          </a:p>
        </p:txBody>
      </p:sp>
      <p:sp>
        <p:nvSpPr>
          <p:cNvPr id="542" name="Google Shape;542;p17"/>
          <p:cNvSpPr/>
          <p:nvPr/>
        </p:nvSpPr>
        <p:spPr>
          <a:xfrm>
            <a:off x="9183028" y="3724152"/>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WHAT'S DIFFERENT</a:t>
            </a:r>
            <a:endParaRPr sz="950">
              <a:solidFill>
                <a:srgbClr val="000000"/>
              </a:solidFill>
              <a:latin typeface="Calibri"/>
              <a:ea typeface="Calibri"/>
              <a:cs typeface="Calibri"/>
              <a:sym typeface="Calibri"/>
            </a:endParaRPr>
          </a:p>
        </p:txBody>
      </p:sp>
      <p:sp>
        <p:nvSpPr>
          <p:cNvPr id="543" name="Google Shape;543;p17"/>
          <p:cNvSpPr/>
          <p:nvPr/>
        </p:nvSpPr>
        <p:spPr>
          <a:xfrm>
            <a:off x="9183028" y="4053336"/>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7"/>
          <p:cNvSpPr/>
          <p:nvPr/>
        </p:nvSpPr>
        <p:spPr>
          <a:xfrm>
            <a:off x="9311044" y="4108200"/>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Review outputs, feedback, metrics and lessons; decide next actions.</a:t>
            </a:r>
            <a:endParaRPr sz="1050">
              <a:solidFill>
                <a:srgbClr val="000000"/>
              </a:solidFill>
              <a:latin typeface="Calibri"/>
              <a:ea typeface="Calibri"/>
              <a:cs typeface="Calibri"/>
              <a:sym typeface="Calibri"/>
            </a:endParaRPr>
          </a:p>
        </p:txBody>
      </p:sp>
      <p:sp>
        <p:nvSpPr>
          <p:cNvPr id="545" name="Google Shape;545;p17"/>
          <p:cNvSpPr/>
          <p:nvPr/>
        </p:nvSpPr>
        <p:spPr>
          <a:xfrm>
            <a:off x="457200" y="5095752"/>
            <a:ext cx="11274600" cy="1298400"/>
          </a:xfrm>
          <a:prstGeom prst="roundRect">
            <a:avLst>
              <a:gd fmla="val 5634" name="adj"/>
            </a:avLst>
          </a:prstGeom>
          <a:solidFill>
            <a:schemeClr val="lt1"/>
          </a:solidFill>
          <a:ln cap="flat" cmpd="sng" w="9525">
            <a:solidFill>
              <a:srgbClr val="2647E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7"/>
          <p:cNvSpPr/>
          <p:nvPr/>
        </p:nvSpPr>
        <p:spPr>
          <a:xfrm>
            <a:off x="640080" y="5470656"/>
            <a:ext cx="548700" cy="548700"/>
          </a:xfrm>
          <a:prstGeom prst="ellipse">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icons_clipboard_FFFFFF.png" id="547" name="Google Shape;547;p17"/>
          <p:cNvPicPr preferRelativeResize="0"/>
          <p:nvPr/>
        </p:nvPicPr>
        <p:blipFill rotWithShape="1">
          <a:blip r:embed="rId5">
            <a:alphaModFix/>
          </a:blip>
          <a:srcRect b="0" l="0" r="0" t="0"/>
          <a:stretch/>
        </p:blipFill>
        <p:spPr>
          <a:xfrm>
            <a:off x="782726" y="5613302"/>
            <a:ext cx="263347" cy="263347"/>
          </a:xfrm>
          <a:prstGeom prst="rect">
            <a:avLst/>
          </a:prstGeom>
          <a:noFill/>
          <a:ln>
            <a:noFill/>
          </a:ln>
        </p:spPr>
      </p:pic>
      <p:sp>
        <p:nvSpPr>
          <p:cNvPr id="548" name="Google Shape;548;p17"/>
          <p:cNvSpPr/>
          <p:nvPr/>
        </p:nvSpPr>
        <p:spPr>
          <a:xfrm>
            <a:off x="1371600" y="5187192"/>
            <a:ext cx="2286000" cy="111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No-Meeting Zones</a:t>
            </a:r>
            <a:endParaRPr sz="1300">
              <a:solidFill>
                <a:srgbClr val="000000"/>
              </a:solidFill>
              <a:latin typeface="Calibri"/>
              <a:ea typeface="Calibri"/>
              <a:cs typeface="Calibri"/>
              <a:sym typeface="Calibri"/>
            </a:endParaRPr>
          </a:p>
        </p:txBody>
      </p:sp>
      <p:sp>
        <p:nvSpPr>
          <p:cNvPr id="549" name="Google Shape;549;p17"/>
          <p:cNvSpPr/>
          <p:nvPr/>
        </p:nvSpPr>
        <p:spPr>
          <a:xfrm>
            <a:off x="3794760" y="5168904"/>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WHEN</a:t>
            </a:r>
            <a:endParaRPr sz="950">
              <a:solidFill>
                <a:srgbClr val="000000"/>
              </a:solidFill>
              <a:latin typeface="Calibri"/>
              <a:ea typeface="Calibri"/>
              <a:cs typeface="Calibri"/>
              <a:sym typeface="Calibri"/>
            </a:endParaRPr>
          </a:p>
        </p:txBody>
      </p:sp>
      <p:sp>
        <p:nvSpPr>
          <p:cNvPr id="550" name="Google Shape;550;p17"/>
          <p:cNvSpPr/>
          <p:nvPr/>
        </p:nvSpPr>
        <p:spPr>
          <a:xfrm>
            <a:off x="3794760" y="5498088"/>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7"/>
          <p:cNvSpPr/>
          <p:nvPr/>
        </p:nvSpPr>
        <p:spPr>
          <a:xfrm>
            <a:off x="3922776" y="5552952"/>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Reserve two focused work blocks each week</a:t>
            </a:r>
            <a:endParaRPr sz="1050">
              <a:solidFill>
                <a:srgbClr val="000000"/>
              </a:solidFill>
              <a:latin typeface="Calibri"/>
              <a:ea typeface="Calibri"/>
              <a:cs typeface="Calibri"/>
              <a:sym typeface="Calibri"/>
            </a:endParaRPr>
          </a:p>
        </p:txBody>
      </p:sp>
      <p:sp>
        <p:nvSpPr>
          <p:cNvPr id="552" name="Google Shape;552;p17"/>
          <p:cNvSpPr/>
          <p:nvPr/>
        </p:nvSpPr>
        <p:spPr>
          <a:xfrm>
            <a:off x="6531864" y="5168904"/>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WHO ATTENDS</a:t>
            </a:r>
            <a:endParaRPr sz="950">
              <a:solidFill>
                <a:srgbClr val="000000"/>
              </a:solidFill>
              <a:latin typeface="Calibri"/>
              <a:ea typeface="Calibri"/>
              <a:cs typeface="Calibri"/>
              <a:sym typeface="Calibri"/>
            </a:endParaRPr>
          </a:p>
        </p:txBody>
      </p:sp>
      <p:sp>
        <p:nvSpPr>
          <p:cNvPr id="553" name="Google Shape;553;p17"/>
          <p:cNvSpPr/>
          <p:nvPr/>
        </p:nvSpPr>
        <p:spPr>
          <a:xfrm>
            <a:off x="6531864" y="5498088"/>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7"/>
          <p:cNvSpPr/>
          <p:nvPr/>
        </p:nvSpPr>
        <p:spPr>
          <a:xfrm>
            <a:off x="6659880" y="5552952"/>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Founder</a:t>
            </a:r>
            <a:endParaRPr sz="1050">
              <a:solidFill>
                <a:srgbClr val="000000"/>
              </a:solidFill>
              <a:latin typeface="Calibri"/>
              <a:ea typeface="Calibri"/>
              <a:cs typeface="Calibri"/>
              <a:sym typeface="Calibri"/>
            </a:endParaRPr>
          </a:p>
        </p:txBody>
      </p:sp>
      <p:sp>
        <p:nvSpPr>
          <p:cNvPr id="555" name="Google Shape;555;p17"/>
          <p:cNvSpPr/>
          <p:nvPr/>
        </p:nvSpPr>
        <p:spPr>
          <a:xfrm>
            <a:off x="9183028" y="5168904"/>
            <a:ext cx="2462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50"/>
              <a:buFont typeface="Calibri"/>
              <a:buNone/>
            </a:pPr>
            <a:r>
              <a:rPr b="1" lang="en-US" sz="950">
                <a:solidFill>
                  <a:srgbClr val="1E2761"/>
                </a:solidFill>
                <a:latin typeface="Calibri"/>
                <a:ea typeface="Calibri"/>
                <a:cs typeface="Calibri"/>
                <a:sym typeface="Calibri"/>
              </a:rPr>
              <a:t>WHAT'S DIFFERENT</a:t>
            </a:r>
            <a:endParaRPr sz="950">
              <a:solidFill>
                <a:srgbClr val="000000"/>
              </a:solidFill>
              <a:latin typeface="Calibri"/>
              <a:ea typeface="Calibri"/>
              <a:cs typeface="Calibri"/>
              <a:sym typeface="Calibri"/>
            </a:endParaRPr>
          </a:p>
        </p:txBody>
      </p:sp>
      <p:sp>
        <p:nvSpPr>
          <p:cNvPr id="556" name="Google Shape;556;p17"/>
          <p:cNvSpPr/>
          <p:nvPr/>
        </p:nvSpPr>
        <p:spPr>
          <a:xfrm>
            <a:off x="9183028" y="5498088"/>
            <a:ext cx="2462700" cy="822900"/>
          </a:xfrm>
          <a:prstGeom prst="roundRect">
            <a:avLst>
              <a:gd fmla="val 6667" name="adj"/>
            </a:avLst>
          </a:prstGeom>
          <a:solidFill>
            <a:srgbClr val="FFFFFF"/>
          </a:solidFill>
          <a:ln cap="flat" cmpd="sng" w="12700">
            <a:solidFill>
              <a:srgbClr val="D7DEE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7"/>
          <p:cNvSpPr/>
          <p:nvPr/>
        </p:nvSpPr>
        <p:spPr>
          <a:xfrm>
            <a:off x="9311044" y="5552952"/>
            <a:ext cx="22068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280"/>
              </a:buClr>
              <a:buSzPts val="1050"/>
              <a:buFont typeface="Calibri"/>
              <a:buNone/>
            </a:pPr>
            <a:r>
              <a:rPr i="1" sz="900">
                <a:solidFill>
                  <a:srgbClr val="6B7280"/>
                </a:solidFill>
                <a:latin typeface="Calibri"/>
              </a:rPr>
              <a:t>Protect time for campaign delivery and customer interviews; use meetings only when needed.</a:t>
            </a:r>
            <a:endParaRPr sz="1050">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18"/>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411480" y="777240"/>
            <a:ext cx="2651760"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411480" y="777240"/>
            <a:ext cx="2651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a:t>
            </a:r>
            <a:r>
              <a:rPr b="1" lang="en-US" sz="1100">
                <a:solidFill>
                  <a:srgbClr val="C7DD6E"/>
                </a:solidFill>
              </a:rPr>
              <a:t>3</a:t>
            </a:r>
            <a:r>
              <a:rPr b="1" i="0" lang="en-US" sz="1100" u="none" cap="none" strike="noStrike">
                <a:solidFill>
                  <a:srgbClr val="C7DD6E"/>
                </a:solidFill>
                <a:latin typeface="Arial"/>
                <a:ea typeface="Arial"/>
                <a:cs typeface="Arial"/>
                <a:sym typeface="Arial"/>
              </a:rPr>
              <a:t> · OPS</a:t>
            </a:r>
            <a:endParaRPr b="0" i="0" sz="1100" u="none" cap="none" strike="noStrike">
              <a:solidFill>
                <a:schemeClr val="dk1"/>
              </a:solidFill>
              <a:latin typeface="Calibri"/>
              <a:ea typeface="Calibri"/>
              <a:cs typeface="Calibri"/>
              <a:sym typeface="Calibri"/>
            </a:endParaRPr>
          </a:p>
        </p:txBody>
      </p:sp>
      <p:sp>
        <p:nvSpPr>
          <p:cNvPr id="567" name="Google Shape;567;p18"/>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Single Source of Truth</a:t>
            </a:r>
            <a:endParaRPr b="0" i="0" sz="2700" u="none" cap="none" strike="noStrike">
              <a:solidFill>
                <a:schemeClr val="dk1"/>
              </a:solidFill>
              <a:latin typeface="Calibri"/>
              <a:ea typeface="Calibri"/>
              <a:cs typeface="Calibri"/>
              <a:sym typeface="Calibri"/>
            </a:endParaRPr>
          </a:p>
        </p:txBody>
      </p:sp>
      <p:sp>
        <p:nvSpPr>
          <p:cNvPr id="568" name="Google Shape;568;p18"/>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411480" y="1828800"/>
            <a:ext cx="1136873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Name your venture's central hub and how you'll enforce Link, Don't Attach.</a:t>
            </a:r>
            <a:endParaRPr b="0" i="0" sz="1250" u="none" cap="none" strike="noStrike">
              <a:solidFill>
                <a:schemeClr val="dk1"/>
              </a:solidFill>
              <a:latin typeface="Calibri"/>
              <a:ea typeface="Calibri"/>
              <a:cs typeface="Calibri"/>
              <a:sym typeface="Calibri"/>
            </a:endParaRPr>
          </a:p>
        </p:txBody>
      </p:sp>
      <p:sp>
        <p:nvSpPr>
          <p:cNvPr id="570" name="Google Shape;570;p18"/>
          <p:cNvSpPr/>
          <p:nvPr/>
        </p:nvSpPr>
        <p:spPr>
          <a:xfrm>
            <a:off x="411480" y="2331720"/>
            <a:ext cx="822960" cy="82296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database_C7DD6E.png" id="571" name="Google Shape;571;p18"/>
          <p:cNvPicPr preferRelativeResize="0"/>
          <p:nvPr/>
        </p:nvPicPr>
        <p:blipFill rotWithShape="1">
          <a:blip r:embed="rId3">
            <a:alphaModFix/>
          </a:blip>
          <a:srcRect b="0" l="0" r="0" t="0"/>
          <a:stretch/>
        </p:blipFill>
        <p:spPr>
          <a:xfrm>
            <a:off x="625450" y="2545690"/>
            <a:ext cx="395021" cy="395021"/>
          </a:xfrm>
          <a:prstGeom prst="rect">
            <a:avLst/>
          </a:prstGeom>
          <a:noFill/>
          <a:ln>
            <a:noFill/>
          </a:ln>
        </p:spPr>
      </p:pic>
      <p:sp>
        <p:nvSpPr>
          <p:cNvPr id="572" name="Google Shape;572;p18"/>
          <p:cNvSpPr/>
          <p:nvPr/>
        </p:nvSpPr>
        <p:spPr>
          <a:xfrm>
            <a:off x="1417320" y="2377440"/>
            <a:ext cx="10362895" cy="77724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1545336" y="2450592"/>
            <a:ext cx="1010686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PLATFORM</a:t>
            </a:r>
            <a:endParaRPr b="0" i="0" sz="1050" u="none" cap="none" strike="noStrike">
              <a:solidFill>
                <a:schemeClr val="dk1"/>
              </a:solidFill>
              <a:latin typeface="Calibri"/>
              <a:ea typeface="Calibri"/>
              <a:cs typeface="Calibri"/>
              <a:sym typeface="Calibri"/>
            </a:endParaRPr>
          </a:p>
        </p:txBody>
      </p:sp>
      <p:sp>
        <p:nvSpPr>
          <p:cNvPr id="574" name="Google Shape;574;p18"/>
          <p:cNvSpPr/>
          <p:nvPr/>
        </p:nvSpPr>
        <p:spPr>
          <a:xfrm>
            <a:off x="1545336" y="2724912"/>
            <a:ext cx="10106863" cy="3566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Google Drive + a simple lead/campaign tracker spreadsheet.</a:t>
            </a:r>
            <a:endParaRPr b="0" i="0" sz="1050" u="none" cap="none" strike="noStrike">
              <a:solidFill>
                <a:schemeClr val="dk1"/>
              </a:solidFill>
              <a:latin typeface="Calibri"/>
              <a:ea typeface="Calibri"/>
              <a:cs typeface="Calibri"/>
              <a:sym typeface="Calibri"/>
            </a:endParaRPr>
          </a:p>
        </p:txBody>
      </p:sp>
      <p:sp>
        <p:nvSpPr>
          <p:cNvPr id="575" name="Google Shape;575;p18"/>
          <p:cNvSpPr/>
          <p:nvPr/>
        </p:nvSpPr>
        <p:spPr>
          <a:xfrm>
            <a:off x="411480" y="3337560"/>
            <a:ext cx="11368735" cy="77724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8"/>
          <p:cNvSpPr/>
          <p:nvPr/>
        </p:nvSpPr>
        <p:spPr>
          <a:xfrm>
            <a:off x="539496" y="3410712"/>
            <a:ext cx="1111270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WHAT LIVES THERE</a:t>
            </a:r>
            <a:endParaRPr b="0" i="0" sz="1050" u="none" cap="none" strike="noStrike">
              <a:solidFill>
                <a:schemeClr val="dk1"/>
              </a:solidFill>
              <a:latin typeface="Calibri"/>
              <a:ea typeface="Calibri"/>
              <a:cs typeface="Calibri"/>
              <a:sym typeface="Calibri"/>
            </a:endParaRPr>
          </a:p>
        </p:txBody>
      </p:sp>
      <p:sp>
        <p:nvSpPr>
          <p:cNvPr id="577" name="Google Shape;577;p18"/>
          <p:cNvSpPr/>
          <p:nvPr/>
        </p:nvSpPr>
        <p:spPr>
          <a:xfrm>
            <a:off x="539496" y="3685032"/>
            <a:ext cx="11112703" cy="3566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Client briefs, signed agreements, invoices, content plans, campaign reports, customer feedback and finance records.</a:t>
            </a:r>
            <a:endParaRPr b="0" i="0" sz="1050" u="none" cap="none" strike="noStrike">
              <a:solidFill>
                <a:schemeClr val="dk1"/>
              </a:solidFill>
              <a:latin typeface="Calibri"/>
              <a:ea typeface="Calibri"/>
              <a:cs typeface="Calibri"/>
              <a:sym typeface="Calibri"/>
            </a:endParaRPr>
          </a:p>
        </p:txBody>
      </p:sp>
      <p:sp>
        <p:nvSpPr>
          <p:cNvPr id="578" name="Google Shape;578;p18"/>
          <p:cNvSpPr/>
          <p:nvPr/>
        </p:nvSpPr>
        <p:spPr>
          <a:xfrm>
            <a:off x="411480" y="4251960"/>
            <a:ext cx="11368735" cy="169164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8"/>
          <p:cNvSpPr/>
          <p:nvPr/>
        </p:nvSpPr>
        <p:spPr>
          <a:xfrm>
            <a:off x="539496" y="4325112"/>
            <a:ext cx="1111270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ENFORCING "LINK, DON'T ATTACH"</a:t>
            </a:r>
            <a:endParaRPr b="0" i="0" sz="1050" u="none" cap="none" strike="noStrike">
              <a:solidFill>
                <a:schemeClr val="dk1"/>
              </a:solidFill>
              <a:latin typeface="Calibri"/>
              <a:ea typeface="Calibri"/>
              <a:cs typeface="Calibri"/>
              <a:sym typeface="Calibri"/>
            </a:endParaRPr>
          </a:p>
        </p:txBody>
      </p:sp>
      <p:sp>
        <p:nvSpPr>
          <p:cNvPr id="580" name="Google Shape;580;p18"/>
          <p:cNvSpPr/>
          <p:nvPr/>
        </p:nvSpPr>
        <p:spPr>
          <a:xfrm>
            <a:off x="539496" y="4599432"/>
            <a:ext cx="11112703" cy="12710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Create one folder per client and keep the master tracker linked from it. Record every enquiry, decision, deadline and deliverable in the tracker. Store documents centrally and share links rather than multiple versions.</a:t>
            </a:r>
            <a:endParaRPr b="0" i="0" sz="1050" u="none" cap="none" strike="noStrike">
              <a:solidFill>
                <a:schemeClr val="dk1"/>
              </a:solidFill>
              <a:latin typeface="Calibri"/>
              <a:ea typeface="Calibri"/>
              <a:cs typeface="Calibri"/>
              <a:sym typeface="Calibri"/>
            </a:endParaRPr>
          </a:p>
        </p:txBody>
      </p:sp>
      <p:sp>
        <p:nvSpPr>
          <p:cNvPr id="581" name="Google Shape;581;p18"/>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2: Operations Plan</a:t>
            </a:r>
            <a:endParaRPr b="0" i="0" sz="900" u="none" cap="none" strike="noStrike">
              <a:solidFill>
                <a:schemeClr val="dk1"/>
              </a:solidFill>
              <a:latin typeface="Calibri"/>
              <a:ea typeface="Calibri"/>
              <a:cs typeface="Calibri"/>
              <a:sym typeface="Calibri"/>
            </a:endParaRPr>
          </a:p>
        </p:txBody>
      </p:sp>
      <p:sp>
        <p:nvSpPr>
          <p:cNvPr id="582" name="Google Shape;582;p18"/>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13</a:t>
            </a:r>
            <a:endParaRPr b="0" i="0" sz="900" u="none" cap="none" strike="noStrike">
              <a:solidFill>
                <a:schemeClr val="dk1"/>
              </a:solidFill>
              <a:latin typeface="Calibri"/>
              <a:ea typeface="Calibri"/>
              <a:cs typeface="Calibri"/>
              <a:sym typeface="Calibri"/>
            </a:endParaRPr>
          </a:p>
        </p:txBody>
      </p:sp>
      <p:cxnSp>
        <p:nvCxnSpPr>
          <p:cNvPr id="583" name="Google Shape;583;p18"/>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4B"/>
        </a:solidFill>
      </p:bgPr>
    </p:bg>
    <p:spTree>
      <p:nvGrpSpPr>
        <p:cNvPr id="588" name="Shape 588"/>
        <p:cNvGrpSpPr/>
        <p:nvPr/>
      </p:nvGrpSpPr>
      <p:grpSpPr>
        <a:xfrm>
          <a:off x="0" y="0"/>
          <a:ext cx="0" cy="0"/>
          <a:chOff x="0" y="0"/>
          <a:chExt cx="0" cy="0"/>
        </a:xfrm>
      </p:grpSpPr>
      <p:sp>
        <p:nvSpPr>
          <p:cNvPr id="589" name="Google Shape;589;p19"/>
          <p:cNvSpPr/>
          <p:nvPr/>
        </p:nvSpPr>
        <p:spPr>
          <a:xfrm>
            <a:off x="8412480" y="-2377440"/>
            <a:ext cx="6400800" cy="6400800"/>
          </a:xfrm>
          <a:prstGeom prst="ellipse">
            <a:avLst/>
          </a:prstGeom>
          <a:solidFill>
            <a:srgbClr val="5B7FF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9"/>
          <p:cNvSpPr/>
          <p:nvPr/>
        </p:nvSpPr>
        <p:spPr>
          <a:xfrm>
            <a:off x="-2377440" y="4206240"/>
            <a:ext cx="4754880" cy="4754880"/>
          </a:xfrm>
          <a:prstGeom prst="ellipse">
            <a:avLst/>
          </a:prstGeom>
          <a:solidFill>
            <a:srgbClr val="C7DD6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9"/>
          <p:cNvSpPr/>
          <p:nvPr/>
        </p:nvSpPr>
        <p:spPr>
          <a:xfrm>
            <a:off x="502920" y="1417320"/>
            <a:ext cx="777240" cy="777240"/>
          </a:xfrm>
          <a:prstGeom prst="ellipse">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gavel_0E1B4B.png" id="592" name="Google Shape;592;p19"/>
          <p:cNvPicPr preferRelativeResize="0"/>
          <p:nvPr/>
        </p:nvPicPr>
        <p:blipFill rotWithShape="1">
          <a:blip r:embed="rId3">
            <a:alphaModFix/>
          </a:blip>
          <a:srcRect b="0" l="0" r="0" t="0"/>
          <a:stretch/>
        </p:blipFill>
        <p:spPr>
          <a:xfrm>
            <a:off x="705002" y="1619402"/>
            <a:ext cx="373075" cy="373075"/>
          </a:xfrm>
          <a:prstGeom prst="rect">
            <a:avLst/>
          </a:prstGeom>
          <a:noFill/>
          <a:ln>
            <a:noFill/>
          </a:ln>
        </p:spPr>
      </p:pic>
      <p:sp>
        <p:nvSpPr>
          <p:cNvPr id="593" name="Google Shape;593;p19"/>
          <p:cNvSpPr/>
          <p:nvPr/>
        </p:nvSpPr>
        <p:spPr>
          <a:xfrm>
            <a:off x="1463040" y="146304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SECTION </a:t>
            </a:r>
            <a:r>
              <a:rPr b="1" lang="en-US" sz="1300">
                <a:solidFill>
                  <a:srgbClr val="C7DD6E"/>
                </a:solidFill>
              </a:rPr>
              <a:t>4</a:t>
            </a:r>
            <a:endParaRPr b="0" i="0" sz="1300" u="none" cap="none" strike="noStrike">
              <a:solidFill>
                <a:schemeClr val="dk1"/>
              </a:solidFill>
              <a:latin typeface="Calibri"/>
              <a:ea typeface="Calibri"/>
              <a:cs typeface="Calibri"/>
              <a:sym typeface="Calibri"/>
            </a:endParaRPr>
          </a:p>
        </p:txBody>
      </p:sp>
      <p:sp>
        <p:nvSpPr>
          <p:cNvPr id="594" name="Google Shape;594;p19"/>
          <p:cNvSpPr/>
          <p:nvPr/>
        </p:nvSpPr>
        <p:spPr>
          <a:xfrm>
            <a:off x="502920" y="2834640"/>
            <a:ext cx="86868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Legal Structure Plan</a:t>
            </a:r>
            <a:endParaRPr b="0" i="0" sz="4000" u="none" cap="none" strike="noStrike">
              <a:solidFill>
                <a:schemeClr val="dk1"/>
              </a:solidFill>
              <a:latin typeface="Calibri"/>
              <a:ea typeface="Calibri"/>
              <a:cs typeface="Calibri"/>
              <a:sym typeface="Calibri"/>
            </a:endParaRPr>
          </a:p>
        </p:txBody>
      </p:sp>
      <p:sp>
        <p:nvSpPr>
          <p:cNvPr id="595" name="Google Shape;595;p19"/>
          <p:cNvSpPr/>
          <p:nvPr/>
        </p:nvSpPr>
        <p:spPr>
          <a:xfrm>
            <a:off x="502920" y="3977640"/>
            <a:ext cx="1005840"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502920" y="4160520"/>
            <a:ext cx="78638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1500"/>
              <a:buFont typeface="Arial"/>
              <a:buNone/>
            </a:pPr>
            <a:r>
              <a:rPr b="0" i="0" lang="en-US" sz="1500" u="none" cap="none" strike="noStrike">
                <a:solidFill>
                  <a:srgbClr val="A9C2F7"/>
                </a:solidFill>
                <a:latin typeface="Arial"/>
                <a:ea typeface="Arial"/>
                <a:cs typeface="Arial"/>
                <a:sym typeface="Arial"/>
              </a:rPr>
              <a:t>Document the legal foundation of your venture, drawing on business registration and contracts fundamentals.</a:t>
            </a:r>
            <a:endParaRPr b="0" i="0" sz="1500" u="none" cap="none" strike="noStrike">
              <a:solidFill>
                <a:schemeClr val="dk1"/>
              </a:solidFill>
              <a:latin typeface="Calibri"/>
              <a:ea typeface="Calibri"/>
              <a:cs typeface="Calibri"/>
              <a:sym typeface="Calibri"/>
            </a:endParaRPr>
          </a:p>
        </p:txBody>
      </p:sp>
      <p:sp>
        <p:nvSpPr>
          <p:cNvPr id="597" name="Google Shape;597;p19"/>
          <p:cNvSpPr/>
          <p:nvPr/>
        </p:nvSpPr>
        <p:spPr>
          <a:xfrm>
            <a:off x="502920" y="6309360"/>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C2F7"/>
              </a:buClr>
              <a:buSzPts val="900"/>
              <a:buFont typeface="Arial"/>
              <a:buNone/>
            </a:pPr>
            <a:r>
              <a:rPr b="0" i="0" lang="en-US" sz="900" u="none" cap="none" strike="noStrike">
                <a:solidFill>
                  <a:srgbClr val="A9C2F7"/>
                </a:solidFill>
                <a:latin typeface="Arial"/>
                <a:ea typeface="Arial"/>
                <a:cs typeface="Arial"/>
                <a:sym typeface="Arial"/>
              </a:rPr>
              <a:t>FOUNDER WORKBOOK · STARTUP OPERATIONS &amp; LAUNCH PLAN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20"/>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0"/>
          <p:cNvSpPr/>
          <p:nvPr/>
        </p:nvSpPr>
        <p:spPr>
          <a:xfrm>
            <a:off x="411480" y="777240"/>
            <a:ext cx="2944368"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0"/>
          <p:cNvSpPr/>
          <p:nvPr/>
        </p:nvSpPr>
        <p:spPr>
          <a:xfrm>
            <a:off x="411480" y="777240"/>
            <a:ext cx="2944368"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a:t>
            </a:r>
            <a:r>
              <a:rPr b="1" lang="en-US" sz="1100">
                <a:solidFill>
                  <a:srgbClr val="C7DD6E"/>
                </a:solidFill>
              </a:rPr>
              <a:t>4</a:t>
            </a:r>
            <a:r>
              <a:rPr b="1" i="0" lang="en-US" sz="1100" u="none" cap="none" strike="noStrike">
                <a:solidFill>
                  <a:srgbClr val="C7DD6E"/>
                </a:solidFill>
                <a:latin typeface="Arial"/>
                <a:ea typeface="Arial"/>
                <a:cs typeface="Arial"/>
                <a:sym typeface="Arial"/>
              </a:rPr>
              <a:t> · LEGAL</a:t>
            </a:r>
            <a:endParaRPr b="0" i="0" sz="1100" u="none" cap="none" strike="noStrike">
              <a:solidFill>
                <a:schemeClr val="dk1"/>
              </a:solidFill>
              <a:latin typeface="Calibri"/>
              <a:ea typeface="Calibri"/>
              <a:cs typeface="Calibri"/>
              <a:sym typeface="Calibri"/>
            </a:endParaRPr>
          </a:p>
        </p:txBody>
      </p:sp>
      <p:sp>
        <p:nvSpPr>
          <p:cNvPr id="607" name="Google Shape;607;p20"/>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Chosen Structure</a:t>
            </a:r>
            <a:endParaRPr b="0" i="0" sz="2700" u="none" cap="none" strike="noStrike">
              <a:solidFill>
                <a:schemeClr val="dk1"/>
              </a:solidFill>
              <a:latin typeface="Calibri"/>
              <a:ea typeface="Calibri"/>
              <a:cs typeface="Calibri"/>
              <a:sym typeface="Calibri"/>
            </a:endParaRPr>
          </a:p>
        </p:txBody>
      </p:sp>
      <p:sp>
        <p:nvSpPr>
          <p:cNvPr id="608" name="Google Shape;608;p20"/>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0"/>
          <p:cNvSpPr/>
          <p:nvPr/>
        </p:nvSpPr>
        <p:spPr>
          <a:xfrm>
            <a:off x="411480" y="1828800"/>
            <a:ext cx="1136873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Circle or bold your choice below, then explain why it fits your stage.</a:t>
            </a:r>
            <a:endParaRPr b="0" i="0" sz="1250" u="none" cap="none" strike="noStrike">
              <a:solidFill>
                <a:schemeClr val="dk1"/>
              </a:solidFill>
              <a:latin typeface="Calibri"/>
              <a:ea typeface="Calibri"/>
              <a:cs typeface="Calibri"/>
              <a:sym typeface="Calibri"/>
            </a:endParaRPr>
          </a:p>
        </p:txBody>
      </p:sp>
      <p:sp>
        <p:nvSpPr>
          <p:cNvPr id="610" name="Google Shape;610;p20"/>
          <p:cNvSpPr/>
          <p:nvPr/>
        </p:nvSpPr>
        <p:spPr>
          <a:xfrm>
            <a:off x="411480" y="2286000"/>
            <a:ext cx="3606698" cy="594360"/>
          </a:xfrm>
          <a:prstGeom prst="rect">
            <a:avLst/>
          </a:prstGeom>
          <a:solidFill>
            <a:srgbClr val="EDEEF3"/>
          </a:solidFill>
          <a:ln cap="flat" cmpd="sng" w="15875">
            <a:solidFill>
              <a:srgbClr val="2647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0"/>
          <p:cNvSpPr/>
          <p:nvPr/>
        </p:nvSpPr>
        <p:spPr>
          <a:xfrm>
            <a:off x="411480" y="2286000"/>
            <a:ext cx="3606698"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300"/>
              <a:buFont typeface="Arial"/>
              <a:buNone/>
            </a:pPr>
            <a:r>
              <a:rPr b="1" i="0" lang="en-US" sz="1300" u="none" cap="none" strike="noStrike">
                <a:solidFill>
                  <a:srgbClr val="0E1B4B"/>
                </a:solidFill>
                <a:latin typeface="Arial"/>
                <a:ea typeface="Arial"/>
                <a:cs typeface="Arial"/>
                <a:sym typeface="Arial"/>
              </a:rPr>
              <a:t>Sole Proprietorship</a:t>
            </a:r>
            <a:endParaRPr b="0" i="0" sz="1300" u="none" cap="none" strike="noStrike">
              <a:solidFill>
                <a:schemeClr val="dk1"/>
              </a:solidFill>
              <a:latin typeface="Calibri"/>
              <a:ea typeface="Calibri"/>
              <a:cs typeface="Calibri"/>
              <a:sym typeface="Calibri"/>
            </a:endParaRPr>
          </a:p>
        </p:txBody>
      </p:sp>
      <p:sp>
        <p:nvSpPr>
          <p:cNvPr id="612" name="Google Shape;612;p20"/>
          <p:cNvSpPr/>
          <p:nvPr/>
        </p:nvSpPr>
        <p:spPr>
          <a:xfrm>
            <a:off x="4292498" y="2286000"/>
            <a:ext cx="3606698" cy="594360"/>
          </a:xfrm>
          <a:prstGeom prst="rect">
            <a:avLst/>
          </a:prstGeom>
          <a:solidFill>
            <a:srgbClr val="EDEEF3"/>
          </a:solidFill>
          <a:ln cap="flat" cmpd="sng" w="15875">
            <a:solidFill>
              <a:srgbClr val="2647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0"/>
          <p:cNvSpPr/>
          <p:nvPr/>
        </p:nvSpPr>
        <p:spPr>
          <a:xfrm>
            <a:off x="4292498" y="2286000"/>
            <a:ext cx="3606698"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300"/>
              <a:buFont typeface="Arial"/>
              <a:buNone/>
            </a:pPr>
            <a:r>
              <a:rPr b="1" i="0" lang="en-US" sz="1300" u="none" cap="none" strike="noStrike">
                <a:solidFill>
                  <a:srgbClr val="0E1B4B"/>
                </a:solidFill>
                <a:latin typeface="Arial"/>
                <a:ea typeface="Arial"/>
                <a:cs typeface="Arial"/>
                <a:sym typeface="Arial"/>
              </a:rPr>
              <a:t>Partnership</a:t>
            </a:r>
            <a:endParaRPr b="0" i="0" sz="1300" u="none" cap="none" strike="noStrike">
              <a:solidFill>
                <a:schemeClr val="dk1"/>
              </a:solidFill>
              <a:latin typeface="Calibri"/>
              <a:ea typeface="Calibri"/>
              <a:cs typeface="Calibri"/>
              <a:sym typeface="Calibri"/>
            </a:endParaRPr>
          </a:p>
        </p:txBody>
      </p:sp>
      <p:sp>
        <p:nvSpPr>
          <p:cNvPr id="614" name="Google Shape;614;p20"/>
          <p:cNvSpPr/>
          <p:nvPr/>
        </p:nvSpPr>
        <p:spPr>
          <a:xfrm>
            <a:off x="8173517" y="2286000"/>
            <a:ext cx="3606698" cy="594360"/>
          </a:xfrm>
          <a:prstGeom prst="rect">
            <a:avLst/>
          </a:prstGeom>
          <a:solidFill>
            <a:srgbClr val="EDEEF3"/>
          </a:solidFill>
          <a:ln cap="flat" cmpd="sng" w="15875">
            <a:solidFill>
              <a:srgbClr val="2647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0"/>
          <p:cNvSpPr/>
          <p:nvPr/>
        </p:nvSpPr>
        <p:spPr>
          <a:xfrm>
            <a:off x="8173517" y="2286000"/>
            <a:ext cx="3606698"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B4B"/>
              </a:buClr>
              <a:buSzPts val="1300"/>
              <a:buFont typeface="Arial"/>
              <a:buNone/>
            </a:pPr>
            <a:r>
              <a:rPr b="1" i="0" lang="en-US" sz="1300" u="none" cap="none" strike="noStrike">
                <a:solidFill>
                  <a:srgbClr val="0E1B4B"/>
                </a:solidFill>
                <a:latin typeface="Arial"/>
                <a:ea typeface="Arial"/>
                <a:cs typeface="Arial"/>
                <a:sym typeface="Arial"/>
              </a:rPr>
              <a:t>LLC (Ltd)</a:t>
            </a:r>
            <a:endParaRPr b="0" i="0" sz="1300" u="none" cap="none" strike="noStrike">
              <a:solidFill>
                <a:schemeClr val="dk1"/>
              </a:solidFill>
              <a:latin typeface="Calibri"/>
              <a:ea typeface="Calibri"/>
              <a:cs typeface="Calibri"/>
              <a:sym typeface="Calibri"/>
            </a:endParaRPr>
          </a:p>
        </p:txBody>
      </p:sp>
      <p:sp>
        <p:nvSpPr>
          <p:cNvPr id="616" name="Google Shape;616;p20"/>
          <p:cNvSpPr/>
          <p:nvPr/>
        </p:nvSpPr>
        <p:spPr>
          <a:xfrm>
            <a:off x="411480" y="2999232"/>
            <a:ext cx="11368735"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298AC"/>
              </a:buClr>
              <a:buSzPts val="1050"/>
              <a:buFont typeface="Arial"/>
              <a:buNone/>
            </a:pPr>
            <a:r>
              <a:rPr b="0" i="1">
                <a:solidFill>
                  <a:srgbClr val="9298AC"/>
                </a:solidFill>
                <a:latin typeface="Arial"/>
              </a:rPr>
              <a:t>Working option to review: Sole Proprietorship (confirm with a qualified local adviser/RDB).</a:t>
            </a:r>
            <a:endParaRPr b="0" i="0" sz="1050" u="none" cap="none" strike="noStrike">
              <a:solidFill>
                <a:schemeClr val="dk1"/>
              </a:solidFill>
              <a:latin typeface="Calibri"/>
              <a:ea typeface="Calibri"/>
              <a:cs typeface="Calibri"/>
              <a:sym typeface="Calibri"/>
            </a:endParaRPr>
          </a:p>
        </p:txBody>
      </p:sp>
      <p:sp>
        <p:nvSpPr>
          <p:cNvPr id="617" name="Google Shape;617;p20"/>
          <p:cNvSpPr/>
          <p:nvPr/>
        </p:nvSpPr>
        <p:spPr>
          <a:xfrm>
            <a:off x="411480" y="3429000"/>
            <a:ext cx="11368735" cy="100584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a:off x="539496" y="3502152"/>
            <a:ext cx="1111270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WHY THIS STRUCTURE FITS YOUR RISK LEVEL, CAPITAL PLANS &amp; STAGE</a:t>
            </a:r>
            <a:endParaRPr b="0" i="0" sz="1050" u="none" cap="none" strike="noStrike">
              <a:solidFill>
                <a:schemeClr val="dk1"/>
              </a:solidFill>
              <a:latin typeface="Calibri"/>
              <a:ea typeface="Calibri"/>
              <a:cs typeface="Calibri"/>
              <a:sym typeface="Calibri"/>
            </a:endParaRPr>
          </a:p>
        </p:txBody>
      </p:sp>
      <p:sp>
        <p:nvSpPr>
          <p:cNvPr id="619" name="Google Shape;619;p20"/>
          <p:cNvSpPr/>
          <p:nvPr/>
        </p:nvSpPr>
        <p:spPr>
          <a:xfrm>
            <a:off x="539496" y="3776472"/>
            <a:ext cx="11112703" cy="585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A simple structure may suit an early, founder-led service business, but the final choice should reflect liability, tax, registration requirements and future growth plans in Rwanda.</a:t>
            </a:r>
            <a:endParaRPr b="0" i="0" sz="1050" u="none" cap="none" strike="noStrike">
              <a:solidFill>
                <a:schemeClr val="dk1"/>
              </a:solidFill>
              <a:latin typeface="Calibri"/>
              <a:ea typeface="Calibri"/>
              <a:cs typeface="Calibri"/>
              <a:sym typeface="Calibri"/>
            </a:endParaRPr>
          </a:p>
        </p:txBody>
      </p:sp>
      <p:sp>
        <p:nvSpPr>
          <p:cNvPr id="620" name="Google Shape;620;p20"/>
          <p:cNvSpPr/>
          <p:nvPr/>
        </p:nvSpPr>
        <p:spPr>
          <a:xfrm>
            <a:off x="411480" y="4553712"/>
            <a:ext cx="11368735" cy="100584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0"/>
          <p:cNvSpPr/>
          <p:nvPr/>
        </p:nvSpPr>
        <p:spPr>
          <a:xfrm>
            <a:off x="539496" y="4626864"/>
            <a:ext cx="1111270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PERSONAL LIABILITY THIS STRUCTURE CARRIES</a:t>
            </a:r>
            <a:endParaRPr b="0" i="0" sz="1050" u="none" cap="none" strike="noStrike">
              <a:solidFill>
                <a:schemeClr val="dk1"/>
              </a:solidFill>
              <a:latin typeface="Calibri"/>
              <a:ea typeface="Calibri"/>
              <a:cs typeface="Calibri"/>
              <a:sym typeface="Calibri"/>
            </a:endParaRPr>
          </a:p>
        </p:txBody>
      </p:sp>
      <p:sp>
        <p:nvSpPr>
          <p:cNvPr id="622" name="Google Shape;622;p20"/>
          <p:cNvSpPr/>
          <p:nvPr/>
        </p:nvSpPr>
        <p:spPr>
          <a:xfrm>
            <a:off x="539496" y="4901184"/>
            <a:ext cx="11112703" cy="585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a:solidFill>
                  <a:srgbClr val="9298AC"/>
                </a:solidFill>
                <a:latin typeface="Arial"/>
              </a:rPr>
              <a:t>Liability depends on the legal form and applicable Rwandan law. Confirm obligations and protections with the relevant authority or a qualified adviser before registering or signing major contracts.</a:t>
            </a:r>
            <a:endParaRPr b="0" i="0" sz="1050" u="none" cap="none" strike="noStrike">
              <a:solidFill>
                <a:schemeClr val="dk1"/>
              </a:solidFill>
              <a:latin typeface="Calibri"/>
              <a:ea typeface="Calibri"/>
              <a:cs typeface="Calibri"/>
              <a:sym typeface="Calibri"/>
            </a:endParaRPr>
          </a:p>
        </p:txBody>
      </p:sp>
      <p:sp>
        <p:nvSpPr>
          <p:cNvPr id="623" name="Google Shape;623;p20"/>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3: Legal Structure Plan</a:t>
            </a:r>
            <a:endParaRPr b="0" i="0" sz="900" u="none" cap="none" strike="noStrike">
              <a:solidFill>
                <a:schemeClr val="dk1"/>
              </a:solidFill>
              <a:latin typeface="Calibri"/>
              <a:ea typeface="Calibri"/>
              <a:cs typeface="Calibri"/>
              <a:sym typeface="Calibri"/>
            </a:endParaRPr>
          </a:p>
        </p:txBody>
      </p:sp>
      <p:sp>
        <p:nvSpPr>
          <p:cNvPr id="624" name="Google Shape;624;p20"/>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15</a:t>
            </a:r>
            <a:endParaRPr b="0" i="0" sz="900" u="none" cap="none" strike="noStrike">
              <a:solidFill>
                <a:schemeClr val="dk1"/>
              </a:solidFill>
              <a:latin typeface="Calibri"/>
              <a:ea typeface="Calibri"/>
              <a:cs typeface="Calibri"/>
              <a:sym typeface="Calibri"/>
            </a:endParaRPr>
          </a:p>
        </p:txBody>
      </p:sp>
      <p:cxnSp>
        <p:nvCxnSpPr>
          <p:cNvPr id="625" name="Google Shape;625;p20"/>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21"/>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1"/>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1"/>
          <p:cNvSpPr/>
          <p:nvPr/>
        </p:nvSpPr>
        <p:spPr>
          <a:xfrm>
            <a:off x="411480" y="777240"/>
            <a:ext cx="2944368"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1"/>
          <p:cNvSpPr/>
          <p:nvPr/>
        </p:nvSpPr>
        <p:spPr>
          <a:xfrm>
            <a:off x="411480" y="777240"/>
            <a:ext cx="2944368"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a:t>
            </a:r>
            <a:r>
              <a:rPr b="1" lang="en-US" sz="1100">
                <a:solidFill>
                  <a:srgbClr val="C7DD6E"/>
                </a:solidFill>
              </a:rPr>
              <a:t>4</a:t>
            </a:r>
            <a:r>
              <a:rPr b="1" i="0" lang="en-US" sz="1100" u="none" cap="none" strike="noStrike">
                <a:solidFill>
                  <a:srgbClr val="C7DD6E"/>
                </a:solidFill>
                <a:latin typeface="Arial"/>
                <a:ea typeface="Arial"/>
                <a:cs typeface="Arial"/>
                <a:sym typeface="Arial"/>
              </a:rPr>
              <a:t> · LEGAL</a:t>
            </a:r>
            <a:endParaRPr b="0" i="0" sz="1100" u="none" cap="none" strike="noStrike">
              <a:solidFill>
                <a:schemeClr val="dk1"/>
              </a:solidFill>
              <a:latin typeface="Calibri"/>
              <a:ea typeface="Calibri"/>
              <a:cs typeface="Calibri"/>
              <a:sym typeface="Calibri"/>
            </a:endParaRPr>
          </a:p>
        </p:txBody>
      </p:sp>
      <p:sp>
        <p:nvSpPr>
          <p:cNvPr id="635" name="Google Shape;635;p21"/>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Registration Roadmap</a:t>
            </a:r>
            <a:endParaRPr b="0" i="0" sz="2700" u="none" cap="none" strike="noStrike">
              <a:solidFill>
                <a:schemeClr val="dk1"/>
              </a:solidFill>
              <a:latin typeface="Calibri"/>
              <a:ea typeface="Calibri"/>
              <a:cs typeface="Calibri"/>
              <a:sym typeface="Calibri"/>
            </a:endParaRPr>
          </a:p>
        </p:txBody>
      </p:sp>
      <p:sp>
        <p:nvSpPr>
          <p:cNvPr id="636" name="Google Shape;636;p21"/>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1"/>
          <p:cNvSpPr/>
          <p:nvPr/>
        </p:nvSpPr>
        <p:spPr>
          <a:xfrm>
            <a:off x="411480" y="1828800"/>
            <a:ext cx="1136873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Outline your registration steps, referencing your local government's official requirements.</a:t>
            </a:r>
            <a:endParaRPr b="0" i="0" sz="1250" u="none" cap="none" strike="noStrike">
              <a:solidFill>
                <a:schemeClr val="dk1"/>
              </a:solidFill>
              <a:latin typeface="Calibri"/>
              <a:ea typeface="Calibri"/>
              <a:cs typeface="Calibri"/>
              <a:sym typeface="Calibri"/>
            </a:endParaRPr>
          </a:p>
        </p:txBody>
      </p:sp>
      <p:sp>
        <p:nvSpPr>
          <p:cNvPr id="638" name="Google Shape;638;p21"/>
          <p:cNvSpPr/>
          <p:nvPr/>
        </p:nvSpPr>
        <p:spPr>
          <a:xfrm>
            <a:off x="1565110" y="2331720"/>
            <a:ext cx="329184" cy="32918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1"/>
          <p:cNvSpPr/>
          <p:nvPr/>
        </p:nvSpPr>
        <p:spPr>
          <a:xfrm>
            <a:off x="1565110" y="2331720"/>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1</a:t>
            </a:r>
            <a:endParaRPr b="0" i="0" sz="1300" u="none" cap="none" strike="noStrike">
              <a:solidFill>
                <a:schemeClr val="dk1"/>
              </a:solidFill>
              <a:latin typeface="Calibri"/>
              <a:ea typeface="Calibri"/>
              <a:cs typeface="Calibri"/>
              <a:sym typeface="Calibri"/>
            </a:endParaRPr>
          </a:p>
        </p:txBody>
      </p:sp>
      <p:sp>
        <p:nvSpPr>
          <p:cNvPr id="640" name="Google Shape;640;p21"/>
          <p:cNvSpPr/>
          <p:nvPr/>
        </p:nvSpPr>
        <p:spPr>
          <a:xfrm>
            <a:off x="411480" y="2834640"/>
            <a:ext cx="2636444" cy="150876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1"/>
          <p:cNvSpPr/>
          <p:nvPr/>
        </p:nvSpPr>
        <p:spPr>
          <a:xfrm>
            <a:off x="539496" y="2926080"/>
            <a:ext cx="2380412"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00"/>
              <a:buFont typeface="Arial"/>
              <a:buNone/>
            </a:pPr>
            <a:r>
              <a:rPr b="0" i="1" sz="900">
                <a:solidFill>
                  <a:srgbClr val="9298AC"/>
                </a:solidFill>
                <a:latin typeface="Arial"/>
              </a:rPr>
              <a:t>1. Confirm business name availability and the correct registration route with the Rwanda Development Board (RDB).</a:t>
            </a:r>
            <a:endParaRPr b="0" i="0" sz="1000" u="none" cap="none" strike="noStrike">
              <a:solidFill>
                <a:schemeClr val="dk1"/>
              </a:solidFill>
              <a:latin typeface="Calibri"/>
              <a:ea typeface="Calibri"/>
              <a:cs typeface="Calibri"/>
              <a:sym typeface="Calibri"/>
            </a:endParaRPr>
          </a:p>
        </p:txBody>
      </p:sp>
      <p:sp>
        <p:nvSpPr>
          <p:cNvPr id="642" name="Google Shape;642;p21"/>
          <p:cNvSpPr/>
          <p:nvPr/>
        </p:nvSpPr>
        <p:spPr>
          <a:xfrm>
            <a:off x="3047924" y="3337560"/>
            <a:ext cx="274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647E5"/>
              </a:buClr>
              <a:buSzPts val="1600"/>
              <a:buFont typeface="Arial"/>
              <a:buNone/>
            </a:pPr>
            <a:r>
              <a:rPr b="1" i="0" lang="en-US" sz="1600" u="none" cap="none" strike="noStrike">
                <a:solidFill>
                  <a:srgbClr val="2647E5"/>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643" name="Google Shape;643;p21"/>
          <p:cNvSpPr/>
          <p:nvPr/>
        </p:nvSpPr>
        <p:spPr>
          <a:xfrm>
            <a:off x="4475874" y="2331720"/>
            <a:ext cx="329184" cy="32918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1"/>
          <p:cNvSpPr/>
          <p:nvPr/>
        </p:nvSpPr>
        <p:spPr>
          <a:xfrm>
            <a:off x="4475874" y="2331720"/>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2</a:t>
            </a:r>
            <a:endParaRPr b="0" i="0" sz="1300" u="none" cap="none" strike="noStrike">
              <a:solidFill>
                <a:schemeClr val="dk1"/>
              </a:solidFill>
              <a:latin typeface="Calibri"/>
              <a:ea typeface="Calibri"/>
              <a:cs typeface="Calibri"/>
              <a:sym typeface="Calibri"/>
            </a:endParaRPr>
          </a:p>
        </p:txBody>
      </p:sp>
      <p:sp>
        <p:nvSpPr>
          <p:cNvPr id="645" name="Google Shape;645;p21"/>
          <p:cNvSpPr/>
          <p:nvPr/>
        </p:nvSpPr>
        <p:spPr>
          <a:xfrm>
            <a:off x="3322244" y="2834640"/>
            <a:ext cx="2636444" cy="150876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1"/>
          <p:cNvSpPr/>
          <p:nvPr/>
        </p:nvSpPr>
        <p:spPr>
          <a:xfrm>
            <a:off x="3450260" y="2926080"/>
            <a:ext cx="2380412"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00"/>
              <a:buFont typeface="Arial"/>
              <a:buNone/>
            </a:pPr>
            <a:r>
              <a:rPr b="0" i="1" sz="900">
                <a:solidFill>
                  <a:srgbClr val="9298AC"/>
                </a:solidFill>
                <a:latin typeface="Arial"/>
              </a:rPr>
              <a:t>2. Prepare the required founder and business information; confirm current documents and fees with RDB.</a:t>
            </a:r>
            <a:endParaRPr b="0" i="0" sz="1000" u="none" cap="none" strike="noStrike">
              <a:solidFill>
                <a:schemeClr val="dk1"/>
              </a:solidFill>
              <a:latin typeface="Calibri"/>
              <a:ea typeface="Calibri"/>
              <a:cs typeface="Calibri"/>
              <a:sym typeface="Calibri"/>
            </a:endParaRPr>
          </a:p>
        </p:txBody>
      </p:sp>
      <p:sp>
        <p:nvSpPr>
          <p:cNvPr id="647" name="Google Shape;647;p21"/>
          <p:cNvSpPr/>
          <p:nvPr/>
        </p:nvSpPr>
        <p:spPr>
          <a:xfrm>
            <a:off x="5958688" y="3337560"/>
            <a:ext cx="274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647E5"/>
              </a:buClr>
              <a:buSzPts val="1600"/>
              <a:buFont typeface="Arial"/>
              <a:buNone/>
            </a:pPr>
            <a:r>
              <a:rPr b="1" i="0" lang="en-US" sz="1600" u="none" cap="none" strike="noStrike">
                <a:solidFill>
                  <a:srgbClr val="2647E5"/>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648" name="Google Shape;648;p21"/>
          <p:cNvSpPr/>
          <p:nvPr/>
        </p:nvSpPr>
        <p:spPr>
          <a:xfrm>
            <a:off x="7386638" y="2331720"/>
            <a:ext cx="329184" cy="32918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1"/>
          <p:cNvSpPr/>
          <p:nvPr/>
        </p:nvSpPr>
        <p:spPr>
          <a:xfrm>
            <a:off x="7386638" y="2331720"/>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3</a:t>
            </a:r>
            <a:endParaRPr b="0" i="0" sz="1300" u="none" cap="none" strike="noStrike">
              <a:solidFill>
                <a:schemeClr val="dk1"/>
              </a:solidFill>
              <a:latin typeface="Calibri"/>
              <a:ea typeface="Calibri"/>
              <a:cs typeface="Calibri"/>
              <a:sym typeface="Calibri"/>
            </a:endParaRPr>
          </a:p>
        </p:txBody>
      </p:sp>
      <p:sp>
        <p:nvSpPr>
          <p:cNvPr id="650" name="Google Shape;650;p21"/>
          <p:cNvSpPr/>
          <p:nvPr/>
        </p:nvSpPr>
        <p:spPr>
          <a:xfrm>
            <a:off x="6233008" y="2834640"/>
            <a:ext cx="2636444" cy="150876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1"/>
          <p:cNvSpPr/>
          <p:nvPr/>
        </p:nvSpPr>
        <p:spPr>
          <a:xfrm>
            <a:off x="6361024" y="2926080"/>
            <a:ext cx="2380412"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00"/>
              <a:buFont typeface="Arial"/>
              <a:buNone/>
            </a:pPr>
            <a:r>
              <a:rPr b="0" i="1" sz="900">
                <a:solidFill>
                  <a:srgbClr val="9298AC"/>
                </a:solidFill>
                <a:latin typeface="Arial"/>
              </a:rPr>
              <a:t>3. Complete the applicable registration process and save official records.</a:t>
            </a:r>
            <a:endParaRPr b="0" i="0" sz="1000" u="none" cap="none" strike="noStrike">
              <a:solidFill>
                <a:schemeClr val="dk1"/>
              </a:solidFill>
              <a:latin typeface="Calibri"/>
              <a:ea typeface="Calibri"/>
              <a:cs typeface="Calibri"/>
              <a:sym typeface="Calibri"/>
            </a:endParaRPr>
          </a:p>
        </p:txBody>
      </p:sp>
      <p:sp>
        <p:nvSpPr>
          <p:cNvPr id="652" name="Google Shape;652;p21"/>
          <p:cNvSpPr/>
          <p:nvPr/>
        </p:nvSpPr>
        <p:spPr>
          <a:xfrm>
            <a:off x="8869451" y="3337560"/>
            <a:ext cx="274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647E5"/>
              </a:buClr>
              <a:buSzPts val="1600"/>
              <a:buFont typeface="Arial"/>
              <a:buNone/>
            </a:pPr>
            <a:r>
              <a:rPr b="1" i="0" lang="en-US" sz="1600" u="none" cap="none" strike="noStrike">
                <a:solidFill>
                  <a:srgbClr val="2647E5"/>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653" name="Google Shape;653;p21"/>
          <p:cNvSpPr/>
          <p:nvPr/>
        </p:nvSpPr>
        <p:spPr>
          <a:xfrm>
            <a:off x="10297401" y="2331720"/>
            <a:ext cx="329184" cy="329184"/>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1"/>
          <p:cNvSpPr/>
          <p:nvPr/>
        </p:nvSpPr>
        <p:spPr>
          <a:xfrm>
            <a:off x="10297401" y="2331720"/>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300"/>
              <a:buFont typeface="Arial"/>
              <a:buNone/>
            </a:pPr>
            <a:r>
              <a:rPr b="1" i="0" lang="en-US" sz="1300" u="none" cap="none" strike="noStrike">
                <a:solidFill>
                  <a:srgbClr val="C7DD6E"/>
                </a:solidFill>
                <a:latin typeface="Arial"/>
                <a:ea typeface="Arial"/>
                <a:cs typeface="Arial"/>
                <a:sym typeface="Arial"/>
              </a:rPr>
              <a:t>4</a:t>
            </a:r>
            <a:endParaRPr b="0" i="0" sz="1300" u="none" cap="none" strike="noStrike">
              <a:solidFill>
                <a:schemeClr val="dk1"/>
              </a:solidFill>
              <a:latin typeface="Calibri"/>
              <a:ea typeface="Calibri"/>
              <a:cs typeface="Calibri"/>
              <a:sym typeface="Calibri"/>
            </a:endParaRPr>
          </a:p>
        </p:txBody>
      </p:sp>
      <p:sp>
        <p:nvSpPr>
          <p:cNvPr id="655" name="Google Shape;655;p21"/>
          <p:cNvSpPr/>
          <p:nvPr/>
        </p:nvSpPr>
        <p:spPr>
          <a:xfrm>
            <a:off x="9143771" y="2834640"/>
            <a:ext cx="2636444" cy="150876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1"/>
          <p:cNvSpPr/>
          <p:nvPr/>
        </p:nvSpPr>
        <p:spPr>
          <a:xfrm>
            <a:off x="9271787" y="2926080"/>
            <a:ext cx="2380412"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00"/>
              <a:buFont typeface="Arial"/>
              <a:buNone/>
            </a:pPr>
            <a:r>
              <a:rPr b="0" i="1" sz="900">
                <a:solidFill>
                  <a:srgbClr val="9298AC"/>
                </a:solidFill>
                <a:latin typeface="Arial"/>
              </a:rPr>
              <a:t>4. Confirm tax, invoicing and any sector-specific obligations with the relevant Rwandan authorities/adviser.</a:t>
            </a:r>
            <a:endParaRPr b="0" i="0" sz="1000" u="none" cap="none" strike="noStrike">
              <a:solidFill>
                <a:schemeClr val="dk1"/>
              </a:solidFill>
              <a:latin typeface="Calibri"/>
              <a:ea typeface="Calibri"/>
              <a:cs typeface="Calibri"/>
              <a:sym typeface="Calibri"/>
            </a:endParaRPr>
          </a:p>
        </p:txBody>
      </p:sp>
      <p:sp>
        <p:nvSpPr>
          <p:cNvPr id="657" name="Google Shape;657;p21"/>
          <p:cNvSpPr/>
          <p:nvPr/>
        </p:nvSpPr>
        <p:spPr>
          <a:xfrm>
            <a:off x="411480" y="4617720"/>
            <a:ext cx="6400800" cy="105156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1"/>
          <p:cNvSpPr/>
          <p:nvPr/>
        </p:nvSpPr>
        <p:spPr>
          <a:xfrm>
            <a:off x="539496" y="4690872"/>
            <a:ext cx="614476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KEY LOCAL REQUIREMENTS TO REFERENCE</a:t>
            </a:r>
            <a:endParaRPr b="0" i="0" sz="1050" u="none" cap="none" strike="noStrike">
              <a:solidFill>
                <a:schemeClr val="dk1"/>
              </a:solidFill>
              <a:latin typeface="Calibri"/>
              <a:ea typeface="Calibri"/>
              <a:cs typeface="Calibri"/>
              <a:sym typeface="Calibri"/>
            </a:endParaRPr>
          </a:p>
        </p:txBody>
      </p:sp>
      <p:sp>
        <p:nvSpPr>
          <p:cNvPr id="659" name="Google Shape;659;p21"/>
          <p:cNvSpPr/>
          <p:nvPr/>
        </p:nvSpPr>
        <p:spPr>
          <a:xfrm>
            <a:off x="539496" y="4965192"/>
            <a:ext cx="6144768" cy="63093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Verify current requirements directly with RDB and relevant tax authorities before acting; this roadmap is a planning checklist, not legal advice.</a:t>
            </a:r>
            <a:endParaRPr b="0" i="0" sz="1050" u="none" cap="none" strike="noStrike">
              <a:solidFill>
                <a:schemeClr val="dk1"/>
              </a:solidFill>
              <a:latin typeface="Calibri"/>
              <a:ea typeface="Calibri"/>
              <a:cs typeface="Calibri"/>
              <a:sym typeface="Calibri"/>
            </a:endParaRPr>
          </a:p>
        </p:txBody>
      </p:sp>
      <p:sp>
        <p:nvSpPr>
          <p:cNvPr id="660" name="Google Shape;660;p21"/>
          <p:cNvSpPr/>
          <p:nvPr/>
        </p:nvSpPr>
        <p:spPr>
          <a:xfrm>
            <a:off x="6995160" y="4617720"/>
            <a:ext cx="4785055" cy="105156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1"/>
          <p:cNvSpPr/>
          <p:nvPr/>
        </p:nvSpPr>
        <p:spPr>
          <a:xfrm>
            <a:off x="7123176" y="4690872"/>
            <a:ext cx="4529023"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TARGET REGISTRATION DATE</a:t>
            </a:r>
            <a:endParaRPr b="0" i="0" sz="1050" u="none" cap="none" strike="noStrike">
              <a:solidFill>
                <a:schemeClr val="dk1"/>
              </a:solidFill>
              <a:latin typeface="Calibri"/>
              <a:ea typeface="Calibri"/>
              <a:cs typeface="Calibri"/>
              <a:sym typeface="Calibri"/>
            </a:endParaRPr>
          </a:p>
        </p:txBody>
      </p:sp>
      <p:sp>
        <p:nvSpPr>
          <p:cNvPr id="662" name="Google Shape;662;p21"/>
          <p:cNvSpPr/>
          <p:nvPr/>
        </p:nvSpPr>
        <p:spPr>
          <a:xfrm>
            <a:off x="7123176" y="4965192"/>
            <a:ext cx="4529023" cy="63093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To be confirmed after checking current requirements</a:t>
            </a:r>
            <a:endParaRPr b="0" i="0" sz="1050" u="none" cap="none" strike="noStrike">
              <a:solidFill>
                <a:schemeClr val="dk1"/>
              </a:solidFill>
              <a:latin typeface="Calibri"/>
              <a:ea typeface="Calibri"/>
              <a:cs typeface="Calibri"/>
              <a:sym typeface="Calibri"/>
            </a:endParaRPr>
          </a:p>
        </p:txBody>
      </p:sp>
      <p:sp>
        <p:nvSpPr>
          <p:cNvPr id="663" name="Google Shape;663;p21"/>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3: Legal Structure Plan</a:t>
            </a:r>
            <a:endParaRPr b="0" i="0" sz="900" u="none" cap="none" strike="noStrike">
              <a:solidFill>
                <a:schemeClr val="dk1"/>
              </a:solidFill>
              <a:latin typeface="Calibri"/>
              <a:ea typeface="Calibri"/>
              <a:cs typeface="Calibri"/>
              <a:sym typeface="Calibri"/>
            </a:endParaRPr>
          </a:p>
        </p:txBody>
      </p:sp>
      <p:sp>
        <p:nvSpPr>
          <p:cNvPr id="664" name="Google Shape;664;p21"/>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16</a:t>
            </a:r>
            <a:endParaRPr b="0" i="0" sz="900" u="none" cap="none" strike="noStrike">
              <a:solidFill>
                <a:schemeClr val="dk1"/>
              </a:solidFill>
              <a:latin typeface="Calibri"/>
              <a:ea typeface="Calibri"/>
              <a:cs typeface="Calibri"/>
              <a:sym typeface="Calibri"/>
            </a:endParaRPr>
          </a:p>
        </p:txBody>
      </p:sp>
      <p:cxnSp>
        <p:nvCxnSpPr>
          <p:cNvPr id="665" name="Google Shape;665;p21"/>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22"/>
          <p:cNvSpPr/>
          <p:nvPr/>
        </p:nvSpPr>
        <p:spPr>
          <a:xfrm>
            <a:off x="0" y="0"/>
            <a:ext cx="12191695" cy="566928"/>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2"/>
          <p:cNvSpPr/>
          <p:nvPr/>
        </p:nvSpPr>
        <p:spPr>
          <a:xfrm>
            <a:off x="0" y="566928"/>
            <a:ext cx="12191695" cy="45720"/>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2"/>
          <p:cNvSpPr/>
          <p:nvPr/>
        </p:nvSpPr>
        <p:spPr>
          <a:xfrm>
            <a:off x="411480" y="777240"/>
            <a:ext cx="2944368" cy="310896"/>
          </a:xfrm>
          <a:prstGeom prst="rect">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2"/>
          <p:cNvSpPr/>
          <p:nvPr/>
        </p:nvSpPr>
        <p:spPr>
          <a:xfrm>
            <a:off x="411480" y="777240"/>
            <a:ext cx="2944368"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D6E"/>
              </a:buClr>
              <a:buSzPts val="1100"/>
              <a:buFont typeface="Arial"/>
              <a:buNone/>
            </a:pPr>
            <a:r>
              <a:rPr b="1" i="0" lang="en-US" sz="1100" u="none" cap="none" strike="noStrike">
                <a:solidFill>
                  <a:srgbClr val="C7DD6E"/>
                </a:solidFill>
                <a:latin typeface="Arial"/>
                <a:ea typeface="Arial"/>
                <a:cs typeface="Arial"/>
                <a:sym typeface="Arial"/>
              </a:rPr>
              <a:t>SECTION </a:t>
            </a:r>
            <a:r>
              <a:rPr b="1" lang="en-US" sz="1100">
                <a:solidFill>
                  <a:srgbClr val="C7DD6E"/>
                </a:solidFill>
              </a:rPr>
              <a:t>4</a:t>
            </a:r>
            <a:r>
              <a:rPr b="1" i="0" lang="en-US" sz="1100" u="none" cap="none" strike="noStrike">
                <a:solidFill>
                  <a:srgbClr val="C7DD6E"/>
                </a:solidFill>
                <a:latin typeface="Arial"/>
                <a:ea typeface="Arial"/>
                <a:cs typeface="Arial"/>
                <a:sym typeface="Arial"/>
              </a:rPr>
              <a:t> · LEGAL</a:t>
            </a:r>
            <a:endParaRPr b="0" i="0" sz="1100" u="none" cap="none" strike="noStrike">
              <a:solidFill>
                <a:schemeClr val="dk1"/>
              </a:solidFill>
              <a:latin typeface="Calibri"/>
              <a:ea typeface="Calibri"/>
              <a:cs typeface="Calibri"/>
              <a:sym typeface="Calibri"/>
            </a:endParaRPr>
          </a:p>
        </p:txBody>
      </p:sp>
      <p:sp>
        <p:nvSpPr>
          <p:cNvPr id="675" name="Google Shape;675;p22"/>
          <p:cNvSpPr/>
          <p:nvPr/>
        </p:nvSpPr>
        <p:spPr>
          <a:xfrm>
            <a:off x="411480" y="1170432"/>
            <a:ext cx="1136873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2700"/>
              <a:buFont typeface="Georgia"/>
              <a:buNone/>
            </a:pPr>
            <a:r>
              <a:rPr b="1" i="0" lang="en-US" sz="2700" u="none" cap="none" strike="noStrike">
                <a:solidFill>
                  <a:srgbClr val="0E1B4B"/>
                </a:solidFill>
                <a:latin typeface="Georgia"/>
                <a:ea typeface="Georgia"/>
                <a:cs typeface="Georgia"/>
                <a:sym typeface="Georgia"/>
              </a:rPr>
              <a:t>Contracts You Need</a:t>
            </a:r>
            <a:endParaRPr b="0" i="0" sz="2700" u="none" cap="none" strike="noStrike">
              <a:solidFill>
                <a:schemeClr val="dk1"/>
              </a:solidFill>
              <a:latin typeface="Calibri"/>
              <a:ea typeface="Calibri"/>
              <a:cs typeface="Calibri"/>
              <a:sym typeface="Calibri"/>
            </a:endParaRPr>
          </a:p>
        </p:txBody>
      </p:sp>
      <p:sp>
        <p:nvSpPr>
          <p:cNvPr id="676" name="Google Shape;676;p22"/>
          <p:cNvSpPr/>
          <p:nvPr/>
        </p:nvSpPr>
        <p:spPr>
          <a:xfrm>
            <a:off x="411480" y="1700784"/>
            <a:ext cx="822960" cy="41148"/>
          </a:xfrm>
          <a:prstGeom prst="rect">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2"/>
          <p:cNvSpPr/>
          <p:nvPr/>
        </p:nvSpPr>
        <p:spPr>
          <a:xfrm>
            <a:off x="411480" y="1828800"/>
            <a:ext cx="1136873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1250"/>
              <a:buFont typeface="Arial"/>
              <a:buNone/>
            </a:pPr>
            <a:r>
              <a:rPr b="0" i="1" lang="en-US" sz="1250" u="none" cap="none" strike="noStrike">
                <a:solidFill>
                  <a:srgbClr val="5B6079"/>
                </a:solidFill>
                <a:latin typeface="Arial"/>
                <a:ea typeface="Arial"/>
                <a:cs typeface="Arial"/>
                <a:sym typeface="Arial"/>
              </a:rPr>
              <a:t>Identify at least two early-stage contracts that apply to your venture right now.</a:t>
            </a:r>
            <a:endParaRPr b="0" i="0" sz="1250" u="none" cap="none" strike="noStrike">
              <a:solidFill>
                <a:schemeClr val="dk1"/>
              </a:solidFill>
              <a:latin typeface="Calibri"/>
              <a:ea typeface="Calibri"/>
              <a:cs typeface="Calibri"/>
              <a:sym typeface="Calibri"/>
            </a:endParaRPr>
          </a:p>
        </p:txBody>
      </p:sp>
      <p:sp>
        <p:nvSpPr>
          <p:cNvPr id="678" name="Google Shape;678;p22"/>
          <p:cNvSpPr/>
          <p:nvPr/>
        </p:nvSpPr>
        <p:spPr>
          <a:xfrm>
            <a:off x="411480" y="1965960"/>
            <a:ext cx="11368735" cy="493776"/>
          </a:xfrm>
          <a:prstGeom prst="rect">
            <a:avLst/>
          </a:prstGeom>
          <a:solidFill>
            <a:srgbClr val="E4EAFB"/>
          </a:solidFill>
          <a:ln cap="flat" cmpd="sng" w="9525">
            <a:solidFill>
              <a:srgbClr val="A9C2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a:off x="411480" y="1965960"/>
            <a:ext cx="54864" cy="493776"/>
          </a:xfrm>
          <a:prstGeom prst="rect">
            <a:avLst/>
          </a:prstGeom>
          <a:solidFill>
            <a:srgbClr val="264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2"/>
          <p:cNvSpPr/>
          <p:nvPr/>
        </p:nvSpPr>
        <p:spPr>
          <a:xfrm>
            <a:off x="621792" y="2020824"/>
            <a:ext cx="11002975"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1B4B"/>
              </a:buClr>
              <a:buSzPts val="1150"/>
              <a:buFont typeface="Arial"/>
              <a:buNone/>
            </a:pPr>
            <a:r>
              <a:rPr b="0" i="1" lang="en-US" sz="1150" u="none" cap="none" strike="noStrike">
                <a:solidFill>
                  <a:srgbClr val="0E1B4B"/>
                </a:solidFill>
                <a:latin typeface="Arial"/>
                <a:ea typeface="Arial"/>
                <a:cs typeface="Arial"/>
                <a:sym typeface="Arial"/>
              </a:rPr>
              <a:t>Options: NDA · Employee / Contractor Agreement · Service Agreement · Founder Agreement</a:t>
            </a:r>
            <a:endParaRPr b="0" i="0" sz="1150" u="none" cap="none" strike="noStrike">
              <a:solidFill>
                <a:schemeClr val="dk1"/>
              </a:solidFill>
              <a:latin typeface="Calibri"/>
              <a:ea typeface="Calibri"/>
              <a:cs typeface="Calibri"/>
              <a:sym typeface="Calibri"/>
            </a:endParaRPr>
          </a:p>
        </p:txBody>
      </p:sp>
      <p:sp>
        <p:nvSpPr>
          <p:cNvPr id="681" name="Google Shape;681;p22"/>
          <p:cNvSpPr/>
          <p:nvPr/>
        </p:nvSpPr>
        <p:spPr>
          <a:xfrm>
            <a:off x="411480" y="2606040"/>
            <a:ext cx="5410048" cy="292608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a:off x="640080" y="2834640"/>
            <a:ext cx="502920" cy="50292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filecontract_C7DD6E.png" id="683" name="Google Shape;683;p22"/>
          <p:cNvPicPr preferRelativeResize="0"/>
          <p:nvPr/>
        </p:nvPicPr>
        <p:blipFill rotWithShape="1">
          <a:blip r:embed="rId3">
            <a:alphaModFix/>
          </a:blip>
          <a:srcRect b="0" l="0" r="0" t="0"/>
          <a:stretch/>
        </p:blipFill>
        <p:spPr>
          <a:xfrm>
            <a:off x="770839" y="2965399"/>
            <a:ext cx="241402" cy="241402"/>
          </a:xfrm>
          <a:prstGeom prst="rect">
            <a:avLst/>
          </a:prstGeom>
          <a:noFill/>
          <a:ln>
            <a:noFill/>
          </a:ln>
        </p:spPr>
      </p:pic>
      <p:sp>
        <p:nvSpPr>
          <p:cNvPr id="684" name="Google Shape;684;p22"/>
          <p:cNvSpPr/>
          <p:nvPr/>
        </p:nvSpPr>
        <p:spPr>
          <a:xfrm>
            <a:off x="1280160" y="2862072"/>
            <a:ext cx="431276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00"/>
              <a:buFont typeface="Arial"/>
              <a:buNone/>
            </a:pPr>
            <a:r>
              <a:rPr b="1" i="0" lang="en-US" sz="1000" u="none" cap="none" strike="noStrike">
                <a:solidFill>
                  <a:srgbClr val="2647E5"/>
                </a:solidFill>
                <a:latin typeface="Arial"/>
                <a:ea typeface="Arial"/>
                <a:cs typeface="Arial"/>
                <a:sym typeface="Arial"/>
              </a:rPr>
              <a:t>CONTRACT</a:t>
            </a:r>
            <a:endParaRPr b="0" i="0" sz="1000" u="none" cap="none" strike="noStrike">
              <a:solidFill>
                <a:schemeClr val="dk1"/>
              </a:solidFill>
              <a:latin typeface="Calibri"/>
              <a:ea typeface="Calibri"/>
              <a:cs typeface="Calibri"/>
              <a:sym typeface="Calibri"/>
            </a:endParaRPr>
          </a:p>
        </p:txBody>
      </p:sp>
      <p:sp>
        <p:nvSpPr>
          <p:cNvPr id="685" name="Google Shape;685;p22"/>
          <p:cNvSpPr/>
          <p:nvPr/>
        </p:nvSpPr>
        <p:spPr>
          <a:xfrm>
            <a:off x="1280160" y="3108960"/>
            <a:ext cx="431276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1100"/>
              <a:buFont typeface="Arial"/>
              <a:buNone/>
            </a:pPr>
            <a:r>
              <a:rPr b="0" i="1" sz="900">
                <a:solidFill>
                  <a:srgbClr val="9298AC"/>
                </a:solidFill>
                <a:latin typeface="Arial"/>
              </a:rPr>
              <a:t>Client Service Agreement</a:t>
            </a:r>
            <a:endParaRPr b="0" i="0" sz="1100" u="none" cap="none" strike="noStrike">
              <a:solidFill>
                <a:schemeClr val="dk1"/>
              </a:solidFill>
              <a:latin typeface="Calibri"/>
              <a:ea typeface="Calibri"/>
              <a:cs typeface="Calibri"/>
              <a:sym typeface="Calibri"/>
            </a:endParaRPr>
          </a:p>
        </p:txBody>
      </p:sp>
      <p:sp>
        <p:nvSpPr>
          <p:cNvPr id="686" name="Google Shape;686;p22"/>
          <p:cNvSpPr/>
          <p:nvPr/>
        </p:nvSpPr>
        <p:spPr>
          <a:xfrm>
            <a:off x="640080" y="3520440"/>
            <a:ext cx="4952848" cy="86868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2"/>
          <p:cNvSpPr/>
          <p:nvPr/>
        </p:nvSpPr>
        <p:spPr>
          <a:xfrm>
            <a:off x="768096" y="3593592"/>
            <a:ext cx="469681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WHY YOU NEED IT NOW</a:t>
            </a:r>
            <a:endParaRPr b="0" i="0" sz="1050" u="none" cap="none" strike="noStrike">
              <a:solidFill>
                <a:schemeClr val="dk1"/>
              </a:solidFill>
              <a:latin typeface="Calibri"/>
              <a:ea typeface="Calibri"/>
              <a:cs typeface="Calibri"/>
              <a:sym typeface="Calibri"/>
            </a:endParaRPr>
          </a:p>
        </p:txBody>
      </p:sp>
      <p:sp>
        <p:nvSpPr>
          <p:cNvPr id="688" name="Google Shape;688;p22"/>
          <p:cNvSpPr/>
          <p:nvPr/>
        </p:nvSpPr>
        <p:spPr>
          <a:xfrm>
            <a:off x="768096" y="3867912"/>
            <a:ext cx="4696816" cy="4480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Defines the work, scope, price, payment terms, approvals and what happens if either side needs to stop.</a:t>
            </a:r>
            <a:endParaRPr b="0" i="0" sz="1050" u="none" cap="none" strike="noStrike">
              <a:solidFill>
                <a:schemeClr val="dk1"/>
              </a:solidFill>
              <a:latin typeface="Calibri"/>
              <a:ea typeface="Calibri"/>
              <a:cs typeface="Calibri"/>
              <a:sym typeface="Calibri"/>
            </a:endParaRPr>
          </a:p>
        </p:txBody>
      </p:sp>
      <p:sp>
        <p:nvSpPr>
          <p:cNvPr id="689" name="Google Shape;689;p22"/>
          <p:cNvSpPr/>
          <p:nvPr/>
        </p:nvSpPr>
        <p:spPr>
          <a:xfrm>
            <a:off x="640080" y="4480560"/>
            <a:ext cx="4952848" cy="86868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2"/>
          <p:cNvSpPr/>
          <p:nvPr/>
        </p:nvSpPr>
        <p:spPr>
          <a:xfrm>
            <a:off x="768096" y="4553712"/>
            <a:ext cx="469681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WHAT IT MUST SPECIFICALLY COVER</a:t>
            </a:r>
            <a:endParaRPr b="0" i="0" sz="1050" u="none" cap="none" strike="noStrike">
              <a:solidFill>
                <a:schemeClr val="dk1"/>
              </a:solidFill>
              <a:latin typeface="Calibri"/>
              <a:ea typeface="Calibri"/>
              <a:cs typeface="Calibri"/>
              <a:sym typeface="Calibri"/>
            </a:endParaRPr>
          </a:p>
        </p:txBody>
      </p:sp>
      <p:sp>
        <p:nvSpPr>
          <p:cNvPr id="691" name="Google Shape;691;p22"/>
          <p:cNvSpPr/>
          <p:nvPr/>
        </p:nvSpPr>
        <p:spPr>
          <a:xfrm>
            <a:off x="768096" y="4828032"/>
            <a:ext cx="4696816" cy="4480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Deliverables, timeline, fees, revisions, client responsibilities, confidentiality, ownership of content, cancellation and dispute handling.</a:t>
            </a:r>
            <a:endParaRPr b="0" i="0" sz="1050" u="none" cap="none" strike="noStrike">
              <a:solidFill>
                <a:schemeClr val="dk1"/>
              </a:solidFill>
              <a:latin typeface="Calibri"/>
              <a:ea typeface="Calibri"/>
              <a:cs typeface="Calibri"/>
              <a:sym typeface="Calibri"/>
            </a:endParaRPr>
          </a:p>
        </p:txBody>
      </p:sp>
      <p:sp>
        <p:nvSpPr>
          <p:cNvPr id="692" name="Google Shape;692;p22"/>
          <p:cNvSpPr/>
          <p:nvPr/>
        </p:nvSpPr>
        <p:spPr>
          <a:xfrm>
            <a:off x="6208776" y="2606040"/>
            <a:ext cx="5410048" cy="2926080"/>
          </a:xfrm>
          <a:prstGeom prst="rect">
            <a:avLst/>
          </a:prstGeom>
          <a:solidFill>
            <a:srgbClr val="EDEEF3"/>
          </a:solidFill>
          <a:ln cap="flat" cmpd="sng" w="9525">
            <a:solidFill>
              <a:srgbClr val="DAD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p:nvPr/>
        </p:nvSpPr>
        <p:spPr>
          <a:xfrm>
            <a:off x="6437376" y="2834640"/>
            <a:ext cx="502920" cy="502920"/>
          </a:xfrm>
          <a:prstGeom prst="ellipse">
            <a:avLst/>
          </a:prstGeom>
          <a:solidFill>
            <a:srgbClr val="0E1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filecontract_C7DD6E.png" id="694" name="Google Shape;694;p22"/>
          <p:cNvPicPr preferRelativeResize="0"/>
          <p:nvPr/>
        </p:nvPicPr>
        <p:blipFill rotWithShape="1">
          <a:blip r:embed="rId3">
            <a:alphaModFix/>
          </a:blip>
          <a:srcRect b="0" l="0" r="0" t="0"/>
          <a:stretch/>
        </p:blipFill>
        <p:spPr>
          <a:xfrm>
            <a:off x="6568135" y="2965399"/>
            <a:ext cx="241402" cy="241402"/>
          </a:xfrm>
          <a:prstGeom prst="rect">
            <a:avLst/>
          </a:prstGeom>
          <a:noFill/>
          <a:ln>
            <a:noFill/>
          </a:ln>
        </p:spPr>
      </p:pic>
      <p:sp>
        <p:nvSpPr>
          <p:cNvPr id="695" name="Google Shape;695;p22"/>
          <p:cNvSpPr/>
          <p:nvPr/>
        </p:nvSpPr>
        <p:spPr>
          <a:xfrm>
            <a:off x="7077456" y="2862072"/>
            <a:ext cx="431276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00"/>
              <a:buFont typeface="Arial"/>
              <a:buNone/>
            </a:pPr>
            <a:r>
              <a:rPr b="1" i="0" lang="en-US" sz="1000" u="none" cap="none" strike="noStrike">
                <a:solidFill>
                  <a:srgbClr val="2647E5"/>
                </a:solidFill>
                <a:latin typeface="Arial"/>
                <a:ea typeface="Arial"/>
                <a:cs typeface="Arial"/>
                <a:sym typeface="Arial"/>
              </a:rPr>
              <a:t>CONTRACT</a:t>
            </a:r>
            <a:endParaRPr b="0" i="0" sz="1000" u="none" cap="none" strike="noStrike">
              <a:solidFill>
                <a:schemeClr val="dk1"/>
              </a:solidFill>
              <a:latin typeface="Calibri"/>
              <a:ea typeface="Calibri"/>
              <a:cs typeface="Calibri"/>
              <a:sym typeface="Calibri"/>
            </a:endParaRPr>
          </a:p>
        </p:txBody>
      </p:sp>
      <p:sp>
        <p:nvSpPr>
          <p:cNvPr id="696" name="Google Shape;696;p22"/>
          <p:cNvSpPr/>
          <p:nvPr/>
        </p:nvSpPr>
        <p:spPr>
          <a:xfrm>
            <a:off x="7077456" y="3108960"/>
            <a:ext cx="431276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98AC"/>
              </a:buClr>
              <a:buSzPts val="1100"/>
              <a:buFont typeface="Arial"/>
              <a:buNone/>
            </a:pPr>
            <a:r>
              <a:rPr b="0" i="1" sz="900">
                <a:solidFill>
                  <a:srgbClr val="9298AC"/>
                </a:solidFill>
                <a:latin typeface="Arial"/>
              </a:rPr>
              <a:t>Privacy / Confidentiality Terms</a:t>
            </a:r>
            <a:endParaRPr b="0" i="0" sz="1100" u="none" cap="none" strike="noStrike">
              <a:solidFill>
                <a:schemeClr val="dk1"/>
              </a:solidFill>
              <a:latin typeface="Calibri"/>
              <a:ea typeface="Calibri"/>
              <a:cs typeface="Calibri"/>
              <a:sym typeface="Calibri"/>
            </a:endParaRPr>
          </a:p>
        </p:txBody>
      </p:sp>
      <p:sp>
        <p:nvSpPr>
          <p:cNvPr id="697" name="Google Shape;697;p22"/>
          <p:cNvSpPr/>
          <p:nvPr/>
        </p:nvSpPr>
        <p:spPr>
          <a:xfrm>
            <a:off x="6437376" y="3520440"/>
            <a:ext cx="4952848" cy="86868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2"/>
          <p:cNvSpPr/>
          <p:nvPr/>
        </p:nvSpPr>
        <p:spPr>
          <a:xfrm>
            <a:off x="6565392" y="3593592"/>
            <a:ext cx="469681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WHY YOU NEED IT NOW</a:t>
            </a:r>
            <a:endParaRPr b="0" i="0" sz="1050" u="none" cap="none" strike="noStrike">
              <a:solidFill>
                <a:schemeClr val="dk1"/>
              </a:solidFill>
              <a:latin typeface="Calibri"/>
              <a:ea typeface="Calibri"/>
              <a:cs typeface="Calibri"/>
              <a:sym typeface="Calibri"/>
            </a:endParaRPr>
          </a:p>
        </p:txBody>
      </p:sp>
      <p:sp>
        <p:nvSpPr>
          <p:cNvPr id="699" name="Google Shape;699;p22"/>
          <p:cNvSpPr/>
          <p:nvPr/>
        </p:nvSpPr>
        <p:spPr>
          <a:xfrm>
            <a:off x="6565392" y="3867912"/>
            <a:ext cx="4696816" cy="4480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LearnReach may receive client and prospective learner information while handling enquiries and campaigns.</a:t>
            </a:r>
            <a:endParaRPr b="0" i="0" sz="1050" u="none" cap="none" strike="noStrike">
              <a:solidFill>
                <a:schemeClr val="dk1"/>
              </a:solidFill>
              <a:latin typeface="Calibri"/>
              <a:ea typeface="Calibri"/>
              <a:cs typeface="Calibri"/>
              <a:sym typeface="Calibri"/>
            </a:endParaRPr>
          </a:p>
        </p:txBody>
      </p:sp>
      <p:sp>
        <p:nvSpPr>
          <p:cNvPr id="700" name="Google Shape;700;p22"/>
          <p:cNvSpPr/>
          <p:nvPr/>
        </p:nvSpPr>
        <p:spPr>
          <a:xfrm>
            <a:off x="6437376" y="4480560"/>
            <a:ext cx="4952848" cy="868680"/>
          </a:xfrm>
          <a:prstGeom prst="rect">
            <a:avLst/>
          </a:prstGeom>
          <a:solidFill>
            <a:srgbClr val="FFFFFF"/>
          </a:solidFill>
          <a:ln cap="flat" cmpd="sng" w="12700">
            <a:solidFill>
              <a:srgbClr val="5B7FF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2"/>
          <p:cNvSpPr/>
          <p:nvPr/>
        </p:nvSpPr>
        <p:spPr>
          <a:xfrm>
            <a:off x="6565392" y="4553712"/>
            <a:ext cx="469681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47E5"/>
              </a:buClr>
              <a:buSzPts val="1050"/>
              <a:buFont typeface="Arial"/>
              <a:buNone/>
            </a:pPr>
            <a:r>
              <a:rPr b="1" i="0" lang="en-US" sz="1050" u="none" cap="none" strike="noStrike">
                <a:solidFill>
                  <a:srgbClr val="2647E5"/>
                </a:solidFill>
                <a:latin typeface="Arial"/>
                <a:ea typeface="Arial"/>
                <a:cs typeface="Arial"/>
                <a:sym typeface="Arial"/>
              </a:rPr>
              <a:t>WHAT IT MUST SPECIFICALLY COVER</a:t>
            </a:r>
            <a:endParaRPr b="0" i="0" sz="1050" u="none" cap="none" strike="noStrike">
              <a:solidFill>
                <a:schemeClr val="dk1"/>
              </a:solidFill>
              <a:latin typeface="Calibri"/>
              <a:ea typeface="Calibri"/>
              <a:cs typeface="Calibri"/>
              <a:sym typeface="Calibri"/>
            </a:endParaRPr>
          </a:p>
        </p:txBody>
      </p:sp>
      <p:sp>
        <p:nvSpPr>
          <p:cNvPr id="702" name="Google Shape;702;p22"/>
          <p:cNvSpPr/>
          <p:nvPr/>
        </p:nvSpPr>
        <p:spPr>
          <a:xfrm>
            <a:off x="6565392" y="4828032"/>
            <a:ext cx="4696816" cy="4480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98AC"/>
              </a:buClr>
              <a:buSzPts val="1050"/>
              <a:buFont typeface="Arial"/>
              <a:buNone/>
            </a:pPr>
            <a:r>
              <a:rPr b="0" i="1" sz="900">
                <a:solidFill>
                  <a:srgbClr val="9298AC"/>
                </a:solidFill>
                <a:latin typeface="Arial"/>
              </a:rPr>
              <a:t>Permitted use of data, access controls, confidentiality, secure storage, retention/deletion, consent and responsibilities for data handling.</a:t>
            </a:r>
            <a:endParaRPr b="0" i="0" sz="1050" u="none" cap="none" strike="noStrike">
              <a:solidFill>
                <a:schemeClr val="dk1"/>
              </a:solidFill>
              <a:latin typeface="Calibri"/>
              <a:ea typeface="Calibri"/>
              <a:cs typeface="Calibri"/>
              <a:sym typeface="Calibri"/>
            </a:endParaRPr>
          </a:p>
        </p:txBody>
      </p:sp>
      <p:sp>
        <p:nvSpPr>
          <p:cNvPr id="703" name="Google Shape;703;p22"/>
          <p:cNvSpPr/>
          <p:nvPr/>
        </p:nvSpPr>
        <p:spPr>
          <a:xfrm>
            <a:off x="411480" y="6492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079"/>
              </a:buClr>
              <a:buSzPts val="900"/>
              <a:buFont typeface="Arial"/>
              <a:buNone/>
            </a:pPr>
            <a:r>
              <a:rPr b="0" i="1" lang="en-US" sz="900" u="none" cap="none" strike="noStrike">
                <a:solidFill>
                  <a:srgbClr val="5B6079"/>
                </a:solidFill>
                <a:latin typeface="Arial"/>
                <a:ea typeface="Arial"/>
                <a:cs typeface="Arial"/>
                <a:sym typeface="Arial"/>
              </a:rPr>
              <a:t>FOUNDER WORKBOOK · Section 3: Legal Structure Plan</a:t>
            </a:r>
            <a:endParaRPr b="0" i="0" sz="900" u="none" cap="none" strike="noStrike">
              <a:solidFill>
                <a:schemeClr val="dk1"/>
              </a:solidFill>
              <a:latin typeface="Calibri"/>
              <a:ea typeface="Calibri"/>
              <a:cs typeface="Calibri"/>
              <a:sym typeface="Calibri"/>
            </a:endParaRPr>
          </a:p>
        </p:txBody>
      </p:sp>
      <p:sp>
        <p:nvSpPr>
          <p:cNvPr id="704" name="Google Shape;704;p22"/>
          <p:cNvSpPr/>
          <p:nvPr/>
        </p:nvSpPr>
        <p:spPr>
          <a:xfrm>
            <a:off x="11368735"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079"/>
              </a:buClr>
              <a:buSzPts val="900"/>
              <a:buFont typeface="Arial"/>
              <a:buNone/>
            </a:pPr>
            <a:r>
              <a:rPr b="0" i="0" lang="en-US" sz="900" u="none" cap="none" strike="noStrike">
                <a:solidFill>
                  <a:srgbClr val="5B6079"/>
                </a:solidFill>
                <a:latin typeface="Arial"/>
                <a:ea typeface="Arial"/>
                <a:cs typeface="Arial"/>
                <a:sym typeface="Arial"/>
              </a:rPr>
              <a:t>17</a:t>
            </a:r>
            <a:endParaRPr b="0" i="0" sz="900" u="none" cap="none" strike="noStrike">
              <a:solidFill>
                <a:schemeClr val="dk1"/>
              </a:solidFill>
              <a:latin typeface="Calibri"/>
              <a:ea typeface="Calibri"/>
              <a:cs typeface="Calibri"/>
              <a:sym typeface="Calibri"/>
            </a:endParaRPr>
          </a:p>
        </p:txBody>
      </p:sp>
      <p:cxnSp>
        <p:nvCxnSpPr>
          <p:cNvPr id="705" name="Google Shape;705;p22"/>
          <p:cNvCxnSpPr/>
          <p:nvPr/>
        </p:nvCxnSpPr>
        <p:spPr>
          <a:xfrm>
            <a:off x="411480" y="6437376"/>
            <a:ext cx="11368735" cy="0"/>
          </a:xfrm>
          <a:prstGeom prst="straightConnector1">
            <a:avLst/>
          </a:prstGeom>
          <a:noFill/>
          <a:ln cap="flat" cmpd="sng" w="9525">
            <a:solidFill>
              <a:srgbClr val="DADCE6"/>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B4B"/>
        </a:solidFill>
      </p:bgPr>
    </p:bg>
    <p:spTree>
      <p:nvGrpSpPr>
        <p:cNvPr id="710" name="Shape 710"/>
        <p:cNvGrpSpPr/>
        <p:nvPr/>
      </p:nvGrpSpPr>
      <p:grpSpPr>
        <a:xfrm>
          <a:off x="0" y="0"/>
          <a:ext cx="0" cy="0"/>
          <a:chOff x="0" y="0"/>
          <a:chExt cx="0" cy="0"/>
        </a:xfrm>
      </p:grpSpPr>
      <p:sp>
        <p:nvSpPr>
          <p:cNvPr id="711" name="Google Shape;711;p23"/>
          <p:cNvSpPr/>
          <p:nvPr/>
        </p:nvSpPr>
        <p:spPr>
          <a:xfrm>
            <a:off x="-2743200" y="-2743200"/>
            <a:ext cx="7315200" cy="7315200"/>
          </a:xfrm>
          <a:prstGeom prst="ellipse">
            <a:avLst/>
          </a:prstGeom>
          <a:solidFill>
            <a:srgbClr val="5B7FF0">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3"/>
          <p:cNvSpPr/>
          <p:nvPr/>
        </p:nvSpPr>
        <p:spPr>
          <a:xfrm>
            <a:off x="8229600" y="3200400"/>
            <a:ext cx="5486400" cy="5486400"/>
          </a:xfrm>
          <a:prstGeom prst="ellipse">
            <a:avLst/>
          </a:prstGeom>
          <a:solidFill>
            <a:srgbClr val="C7DD6E">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3"/>
          <p:cNvSpPr/>
          <p:nvPr/>
        </p:nvSpPr>
        <p:spPr>
          <a:xfrm>
            <a:off x="5638648" y="1965960"/>
            <a:ext cx="914400" cy="914400"/>
          </a:xfrm>
          <a:prstGeom prst="ellipse">
            <a:avLst/>
          </a:prstGeom>
          <a:solidFill>
            <a:srgbClr val="C7DD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3/medal_0E1B4B.png" id="714" name="Google Shape;714;p23"/>
          <p:cNvPicPr preferRelativeResize="0"/>
          <p:nvPr/>
        </p:nvPicPr>
        <p:blipFill rotWithShape="1">
          <a:blip r:embed="rId3">
            <a:alphaModFix/>
          </a:blip>
          <a:srcRect b="0" l="0" r="0" t="0"/>
          <a:stretch/>
        </p:blipFill>
        <p:spPr>
          <a:xfrm>
            <a:off x="5876392" y="2203704"/>
            <a:ext cx="438912" cy="438912"/>
          </a:xfrm>
          <a:prstGeom prst="rect">
            <a:avLst/>
          </a:prstGeom>
          <a:noFill/>
          <a:ln>
            <a:noFill/>
          </a:ln>
        </p:spPr>
      </p:pic>
      <p:sp>
        <p:nvSpPr>
          <p:cNvPr id="715" name="Google Shape;715;p23"/>
          <p:cNvSpPr/>
          <p:nvPr/>
        </p:nvSpPr>
        <p:spPr>
          <a:xfrm>
            <a:off x="548640" y="3108960"/>
            <a:ext cx="11094415"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600"/>
              <a:buFont typeface="Georgia"/>
              <a:buNone/>
            </a:pPr>
            <a:r>
              <a:rPr b="1" i="0" lang="en-US" sz="3600" u="none" cap="none" strike="noStrike">
                <a:solidFill>
                  <a:srgbClr val="FFFFFF"/>
                </a:solidFill>
                <a:latin typeface="Georgia"/>
                <a:ea typeface="Georgia"/>
                <a:cs typeface="Georgia"/>
                <a:sym typeface="Georgia"/>
              </a:rPr>
              <a:t>You're Ready to Launch</a:t>
            </a:r>
            <a:endParaRPr b="0" i="0" sz="3600" u="none" cap="none" strike="noStrike">
              <a:solidFill>
                <a:schemeClr val="dk1"/>
              </a:solidFill>
              <a:latin typeface="Calibri"/>
              <a:ea typeface="Calibri"/>
              <a:cs typeface="Calibri"/>
              <a:sym typeface="Calibri"/>
            </a:endParaRPr>
          </a:p>
        </p:txBody>
      </p:sp>
      <p:sp>
        <p:nvSpPr>
          <p:cNvPr id="716" name="Google Shape;716;p23"/>
          <p:cNvSpPr/>
          <p:nvPr/>
        </p:nvSpPr>
        <p:spPr>
          <a:xfrm>
            <a:off x="1645920" y="3977640"/>
            <a:ext cx="8899855"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9C2F7"/>
              </a:buClr>
              <a:buSzPts val="1400"/>
              <a:buFont typeface="Arial"/>
              <a:buNone/>
            </a:pPr>
            <a:r>
              <a:rPr b="0" i="0" lang="en-US" sz="1400" u="none" cap="none" strike="noStrike">
                <a:solidFill>
                  <a:srgbClr val="A9C2F7"/>
                </a:solidFill>
                <a:latin typeface="Arial"/>
                <a:ea typeface="Arial"/>
                <a:cs typeface="Arial"/>
                <a:sym typeface="Arial"/>
              </a:rPr>
              <a:t>Revisit this deck as your venture evolves — </a:t>
            </a:r>
            <a:r>
              <a:rPr lang="en-US">
                <a:solidFill>
                  <a:srgbClr val="A9C2F7"/>
                </a:solidFill>
              </a:rPr>
              <a:t>sales &amp; marketing</a:t>
            </a:r>
            <a:r>
              <a:rPr b="0" i="0" lang="en-US" sz="1400" u="none" cap="none" strike="noStrike">
                <a:solidFill>
                  <a:srgbClr val="A9C2F7"/>
                </a:solidFill>
                <a:latin typeface="Arial"/>
                <a:ea typeface="Arial"/>
                <a:cs typeface="Arial"/>
                <a:sym typeface="Arial"/>
              </a:rPr>
              <a:t>, operations, and legal foundations all shift as you learn.</a:t>
            </a:r>
            <a:endParaRPr b="0" i="0" sz="1400" u="none" cap="none" strike="noStrike">
              <a:solidFill>
                <a:schemeClr val="dk1"/>
              </a:solidFill>
              <a:latin typeface="Calibri"/>
              <a:ea typeface="Calibri"/>
              <a:cs typeface="Calibri"/>
              <a:sym typeface="Calibri"/>
            </a:endParaRPr>
          </a:p>
        </p:txBody>
      </p:sp>
      <p:sp>
        <p:nvSpPr>
          <p:cNvPr id="717" name="Google Shape;717;p23"/>
          <p:cNvSpPr/>
          <p:nvPr/>
        </p:nvSpPr>
        <p:spPr>
          <a:xfrm>
            <a:off x="548640" y="6309360"/>
            <a:ext cx="11094415"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9C2F7"/>
              </a:buClr>
              <a:buSzPts val="900"/>
              <a:buFont typeface="Arial"/>
              <a:buNone/>
            </a:pPr>
            <a:r>
              <a:rPr b="0" i="0" lang="en-US" sz="900" u="none" cap="none" strike="noStrike">
                <a:solidFill>
                  <a:srgbClr val="A9C2F7"/>
                </a:solidFill>
                <a:latin typeface="Arial"/>
                <a:ea typeface="Arial"/>
                <a:cs typeface="Arial"/>
                <a:sym typeface="Arial"/>
              </a:rPr>
              <a:t>FOUNDER WORKBOOK · STARTUP OPERATIONS &amp; LAUNCH PLAN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