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Relationship Id="rId5" Type="http://schemas.openxmlformats.org/officeDocument/2006/relationships/image" Target="../media/image2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5.png"/><Relationship Id="rId7" Type="http://schemas.openxmlformats.org/officeDocument/2006/relationships/image" Target="../media/image24.png"/><Relationship Id="rId8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17.png"/><Relationship Id="rId8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B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5B7FF0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2743200" y="3840480"/>
            <a:ext cx="5486400" cy="5486400"/>
          </a:xfrm>
          <a:prstGeom prst="ellipse">
            <a:avLst/>
          </a:prstGeom>
          <a:solidFill>
            <a:srgbClr val="C7DD6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1371600"/>
            <a:ext cx="3200400" cy="329184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8640" y="1371600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GTM STRATEGY WORKBOOK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187452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Go-to-Market Strategy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83464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Not marketing. Not distribution alone. The series of decisions that get you from zero to a repeatable path to market</a:t>
            </a:r>
            <a:r>
              <a:rPr lang="en-US">
                <a:solidFill>
                  <a:srgbClr val="A9C2F7"/>
                </a:solidFill>
              </a:rPr>
              <a:t>,</a:t>
            </a:r>
            <a:r>
              <a:rPr b="0" i="0" lang="en-US" sz="140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 with the metrics to prove it's working.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931920"/>
            <a:ext cx="8138160" cy="868680"/>
          </a:xfrm>
          <a:prstGeom prst="rect">
            <a:avLst/>
          </a:prstGeom>
          <a:solidFill>
            <a:srgbClr val="132061"/>
          </a:solidFill>
          <a:ln cap="flat" cmpd="sng" w="9525">
            <a:solidFill>
              <a:srgbClr val="5B7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77240" y="4069080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How to use this deck: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 through the framework, study the two real-world examples, then fill in your own GTM plan using the templates in the back half.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5257800"/>
            <a:ext cx="37490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48640" y="52578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050"/>
              <a:buFont typeface="Arial"/>
              <a:buNone/>
            </a:pPr>
            <a:r>
              <a:rPr b="0" i="1">
                <a:solidFill>
                  <a:srgbClr val="5B6079"/>
                </a:solidFill>
                <a:latin typeface="Arial"/>
              </a:rPr>
              <a:t>LearnReach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434840" y="5257800"/>
            <a:ext cx="16459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434840" y="52578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050"/>
              <a:buFont typeface="Arial"/>
              <a:buNone/>
            </a:pPr>
            <a:r>
              <a:rPr b="0" i="1">
                <a:solidFill>
                  <a:srgbClr val="5B6079"/>
                </a:solidFill>
                <a:latin typeface="Arial"/>
              </a:rPr>
              <a:t>23 October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11480" y="777240"/>
            <a:ext cx="2359152" cy="310896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11480" y="777240"/>
            <a:ext cx="2359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THE FRAMEWORK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11480" y="1170432"/>
            <a:ext cx="1136873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0E1B4B"/>
                </a:solidFill>
                <a:latin typeface="Georgia"/>
                <a:ea typeface="Georgia"/>
                <a:cs typeface="Georgia"/>
                <a:sym typeface="Georgia"/>
              </a:rPr>
              <a:t>What Is a Go-to-Market Strategy?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11480" y="1700784"/>
            <a:ext cx="822960" cy="4114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11480" y="2148840"/>
            <a:ext cx="11368735" cy="1234440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11480" y="2148840"/>
            <a:ext cx="73152" cy="123444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85800" y="2148840"/>
            <a:ext cx="1082009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0" i="1" lang="en-US" sz="15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go-to-market strategy is how you access and penetrate your market </a:t>
            </a:r>
            <a:r>
              <a:rPr i="1" lang="en-US" sz="15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0" i="1" lang="en-US" sz="15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series of connected plans and decisions that lead, step by step, to a working, repeatable path to your customers. Because it's a plan for market access, it lives or dies by its KPIs and metrics, not by how it looks or sounds.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11480" y="3703320"/>
            <a:ext cx="3606698" cy="187452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compass_C7DD6E.png" id="44" name="Google Shape;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839" y="406267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1280160" y="3959352"/>
            <a:ext cx="2555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It's a plan, not a channel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0080" y="4572000"/>
            <a:ext cx="314949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GTM is the sequencing of how you enter, prove, and expand in a market </a:t>
            </a:r>
            <a:r>
              <a:rPr lang="en-US" sz="1050">
                <a:solidFill>
                  <a:srgbClr val="1B2450"/>
                </a:solidFill>
              </a:rPr>
              <a:t>, </a:t>
            </a:r>
            <a:r>
              <a:rPr b="0" i="0" lang="en-US" sz="10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the channel is just one input into that plan.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292498" y="3703320"/>
            <a:ext cx="3606698" cy="187452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521098" y="3931920"/>
            <a:ext cx="502920" cy="502920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chartline2_C7DD6E.png" id="49" name="Google Shape;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1858" y="406267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5161178" y="3959352"/>
            <a:ext cx="2555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It's measured, always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21098" y="4572000"/>
            <a:ext cx="314949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Every stage of a real GTM strategy has a target metric attached: activation, conversion, cost, retention, or acquisition volume.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173517" y="3703320"/>
            <a:ext cx="3606698" cy="187452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8402117" y="3931920"/>
            <a:ext cx="502920" cy="502920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layers_C7DD6E.png" id="54" name="Google Shape;5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2876" y="406267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9042197" y="3959352"/>
            <a:ext cx="2555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It's sequential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402117" y="4572000"/>
            <a:ext cx="314949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Beachhead first, then expansion, then scale </a:t>
            </a:r>
            <a:r>
              <a:rPr lang="en-US" sz="1050">
                <a:solidFill>
                  <a:srgbClr val="1B2450"/>
                </a:solidFill>
              </a:rPr>
              <a:t>, </a:t>
            </a:r>
            <a:r>
              <a:rPr b="0" i="0" lang="en-US" sz="10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each phase unlocks the next rather than running everything at once.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1148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GO-TO-MARKET STRATEGY WORKBOOK · The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4"/>
          <p:cNvCxnSpPr/>
          <p:nvPr/>
        </p:nvCxnSpPr>
        <p:spPr>
          <a:xfrm>
            <a:off x="411480" y="6437376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11480" y="777240"/>
            <a:ext cx="2359152" cy="310896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11480" y="777240"/>
            <a:ext cx="2359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THE FRAMEWORK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11480" y="1170432"/>
            <a:ext cx="1136873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0E1B4B"/>
                </a:solidFill>
                <a:latin typeface="Georgia"/>
                <a:ea typeface="Georgia"/>
                <a:cs typeface="Georgia"/>
                <a:sym typeface="Georgia"/>
              </a:rPr>
              <a:t>GTM vs. Marketing vs. Distribution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11480" y="1700784"/>
            <a:ext cx="822960" cy="4114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11480" y="1828800"/>
            <a:ext cx="113687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Startups conflate these three constantly. They are not the same job, and mixing them up is why GTM plans quietly turn into ad-spend plans.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11480" y="2331720"/>
            <a:ext cx="3606698" cy="352044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894789" y="2606040"/>
            <a:ext cx="640080" cy="640080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compass_C7DD6E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1210" y="27724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594360" y="342900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GO-TO-MARKET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94360" y="3813048"/>
            <a:ext cx="32409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The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85800" y="4297680"/>
            <a:ext cx="305805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The full sequence of decisions that get a product from zero to a repeatable path to market: who you target first, how you reach them, how you convert and retain them, and what proves each stage is working.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292498" y="2331720"/>
            <a:ext cx="3606698" cy="3520440"/>
          </a:xfrm>
          <a:prstGeom prst="rect">
            <a:avLst/>
          </a:prstGeom>
          <a:solidFill>
            <a:srgbClr val="2647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775808" y="2606040"/>
            <a:ext cx="640080" cy="640080"/>
          </a:xfrm>
          <a:prstGeom prst="ellipse">
            <a:avLst/>
          </a:prstGeom>
          <a:solidFill>
            <a:srgbClr val="1320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bullhorn2_C7DD6E.png" id="80" name="Google Shape;8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2228" y="27724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4475378" y="342900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475378" y="3813048"/>
            <a:ext cx="32409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One tool inside the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66818" y="4297680"/>
            <a:ext cx="305805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Demand-generation tactics </a:t>
            </a:r>
            <a:r>
              <a:rPr lang="en-US" sz="1050">
                <a:solidFill>
                  <a:srgbClr val="FFFFFF"/>
                </a:solidFill>
              </a:rPr>
              <a:t>,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content, ads, campaigns, brand </a:t>
            </a:r>
            <a:r>
              <a:rPr lang="en-US" sz="1050">
                <a:solidFill>
                  <a:srgbClr val="FFFFFF"/>
                </a:solidFill>
              </a:rPr>
              <a:t>,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that create awareness and interest. Marketing can power a GTM strategy, but it is not required 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173517" y="2331720"/>
            <a:ext cx="3606698" cy="3520440"/>
          </a:xfrm>
          <a:prstGeom prst="rect">
            <a:avLst/>
          </a:prstGeom>
          <a:solidFill>
            <a:srgbClr val="5B7F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9656826" y="2606040"/>
            <a:ext cx="640080" cy="640080"/>
          </a:xfrm>
          <a:prstGeom prst="ellipse">
            <a:avLst/>
          </a:prstGeom>
          <a:solidFill>
            <a:srgbClr val="1320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truck_C7DD6E.png" id="86" name="Google Shape;8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23247" y="27724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8356397" y="342900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DISTRIBUTION / CHANNEL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356397" y="3813048"/>
            <a:ext cx="32409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The mechanism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447837" y="4297680"/>
            <a:ext cx="305805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actual pipe you move through to reach and serve customers: a partnership, a marketplace, an event series, a sales team, a government relationship. Channel is chosen, not defaulted 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1148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GO-TO-MARKET STRATEGY WORKBOOK · The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5"/>
          <p:cNvCxnSpPr/>
          <p:nvPr/>
        </p:nvCxnSpPr>
        <p:spPr>
          <a:xfrm>
            <a:off x="411480" y="6437376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/alx_white.png" id="100" name="Google Shape;1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8872"/>
            <a:ext cx="77724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/>
          <p:nvPr/>
        </p:nvSpPr>
        <p:spPr>
          <a:xfrm>
            <a:off x="411480" y="777240"/>
            <a:ext cx="2359152" cy="310896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11480" y="777240"/>
            <a:ext cx="2359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THE FRAMEWORK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11480" y="1170432"/>
            <a:ext cx="1136873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0E1B4B"/>
                </a:solidFill>
                <a:latin typeface="Georgia"/>
                <a:ea typeface="Georgia"/>
                <a:cs typeface="Georgia"/>
                <a:sym typeface="Georgia"/>
              </a:rPr>
              <a:t>What Makes Us Able to Define the Channel?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11480" y="1700784"/>
            <a:ext cx="822960" cy="4114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11480" y="1828800"/>
            <a:ext cx="113687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Five questions to run every candidate channel through before you commit budget or time to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11480" y="2423160"/>
            <a:ext cx="2142073" cy="338328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11480" y="2423160"/>
            <a:ext cx="2142073" cy="6400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1226485" y="2651760"/>
            <a:ext cx="512064" cy="512064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userswho_C7DD6E.png" id="109" name="Google Shape;10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9621" y="278489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502920" y="3291840"/>
            <a:ext cx="195919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Reach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39496" y="3749040"/>
            <a:ext cx="1886041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Does it actually put us in front of our beachhead customer </a:t>
            </a:r>
            <a:r>
              <a:rPr lang="en-US" sz="950">
                <a:solidFill>
                  <a:srgbClr val="1B2450"/>
                </a:solidFill>
              </a:rPr>
              <a:t>, </a:t>
            </a:r>
            <a:r>
              <a:rPr b="0" i="0" lang="en-US" sz="9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or just a large, unrelated audience?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2718145" y="2423160"/>
            <a:ext cx="2142073" cy="338328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2718145" y="2423160"/>
            <a:ext cx="2142073" cy="6400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533150" y="2651760"/>
            <a:ext cx="512064" cy="512064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balance_C7DD6E.png" id="115" name="Google Shape;1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6287" y="278489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2809585" y="3291840"/>
            <a:ext cx="195919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Cost vs. control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846161" y="3749040"/>
            <a:ext cx="1886041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Do we own the relationship and the data, or are we renting attention we can lose overnight?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024811" y="2423160"/>
            <a:ext cx="2142073" cy="338328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5024811" y="2423160"/>
            <a:ext cx="2142073" cy="6400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839816" y="2651760"/>
            <a:ext cx="512064" cy="512064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rocket2_C7DD6E.png" id="121" name="Google Shape;12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72952" y="278489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5116251" y="3291840"/>
            <a:ext cx="195919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Speed to signal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152827" y="3749040"/>
            <a:ext cx="1886041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How fast can we tell if this channel is working </a:t>
            </a:r>
            <a:r>
              <a:rPr lang="en-US" sz="950">
                <a:solidFill>
                  <a:srgbClr val="1B2450"/>
                </a:solidFill>
              </a:rPr>
              <a:t>, </a:t>
            </a:r>
            <a:r>
              <a:rPr b="0" i="0" lang="en-US" sz="9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days, or quarters?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331476" y="2423160"/>
            <a:ext cx="2142073" cy="338328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7331476" y="2423160"/>
            <a:ext cx="2142073" cy="6400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8146481" y="2651760"/>
            <a:ext cx="512064" cy="512064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layers_C7DD6E.png" id="127" name="Google Shape;12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79618" y="278489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7422916" y="3291840"/>
            <a:ext cx="195919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Scalability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459492" y="3749040"/>
            <a:ext cx="1886041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Can this channel absorb 10x the volume without 10x the cost or effort?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9638142" y="2423160"/>
            <a:ext cx="2142073" cy="338328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9638142" y="2423160"/>
            <a:ext cx="2142073" cy="6400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10453146" y="2651760"/>
            <a:ext cx="512064" cy="512064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fingerprint_C7DD6E.png" id="133" name="Google Shape;13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86283" y="278489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9729582" y="3291840"/>
            <a:ext cx="195919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Fit with buying behavior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9766158" y="3749040"/>
            <a:ext cx="1886041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Does this match how our customer actually discovers and decides </a:t>
            </a:r>
            <a:r>
              <a:rPr lang="en-US" sz="950">
                <a:solidFill>
                  <a:srgbClr val="1B2450"/>
                </a:solidFill>
              </a:rPr>
              <a:t>, </a:t>
            </a:r>
            <a:r>
              <a:rPr b="0" i="0" lang="en-US" sz="9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not how we wish they did?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1148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GO-TO-MARKET STRATEGY WORKBOOK · The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6"/>
          <p:cNvCxnSpPr/>
          <p:nvPr/>
        </p:nvCxnSpPr>
        <p:spPr>
          <a:xfrm>
            <a:off x="411480" y="6437376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B4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8412480" y="-2377440"/>
            <a:ext cx="6400800" cy="6400800"/>
          </a:xfrm>
          <a:prstGeom prst="ellipse">
            <a:avLst/>
          </a:prstGeom>
          <a:solidFill>
            <a:srgbClr val="5B7FF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C7DD6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502920" y="1417320"/>
            <a:ext cx="777240" cy="777240"/>
          </a:xfrm>
          <a:prstGeom prst="ellipse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compass_0E1B4B.png"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002" y="161940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>
            <a:off x="1463040" y="1463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REAL EXAMPLES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02920" y="283464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GTM </a:t>
            </a:r>
            <a:r>
              <a:rPr b="1" lang="en-US" sz="3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Strategy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02920" y="3977640"/>
            <a:ext cx="1005840" cy="4572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502920" y="416052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Two ventures that reached and won their first customers primarily through channel and distribution choices </a:t>
            </a:r>
            <a:r>
              <a:rPr lang="en-US" sz="1500">
                <a:solidFill>
                  <a:srgbClr val="A9C2F7"/>
                </a:solidFill>
              </a:rPr>
              <a:t>, </a:t>
            </a:r>
            <a:r>
              <a:rPr b="0" i="0" lang="en-US" sz="150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not media spend. Look at what they chose instead, and why.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02920" y="63093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GO-TO-MARKET STRATEGY WORKBOOK · FOUNDER ACADEMY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11480" y="777240"/>
            <a:ext cx="3383280" cy="310896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11480" y="777240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CASE STUDY 1 · EGYPT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11480" y="1170432"/>
            <a:ext cx="1136873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0E1B4B"/>
                </a:solidFill>
                <a:latin typeface="Georgia"/>
                <a:ea typeface="Georgia"/>
                <a:cs typeface="Georgia"/>
                <a:sym typeface="Georgia"/>
              </a:rPr>
              <a:t>Mothernaked × Koffee Kultur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11480" y="1700784"/>
            <a:ext cx="822960" cy="4114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411480" y="1828800"/>
            <a:ext cx="113687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A skincare brand that launched without a marketing budget </a:t>
            </a:r>
            <a:r>
              <a:rPr i="1" lang="en-US" sz="1250">
                <a:solidFill>
                  <a:srgbClr val="5B6079"/>
                </a:solidFill>
              </a:rPr>
              <a:t>, </a:t>
            </a:r>
            <a:r>
              <a:rPr b="0" i="1" lang="en-US" sz="12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and let a partnership generate its own proof.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11480" y="2331720"/>
            <a:ext cx="5212080" cy="352044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coffee_C7DD6E.png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726" y="2702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1325880" y="26334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THE MOVE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40080" y="3246120"/>
            <a:ext cx="4754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Instead of running ads to reach Gen Z, Mothernaked partnered with Koffee Kultur </a:t>
            </a:r>
            <a:r>
              <a:rPr lang="en-US" sz="1150">
                <a:solidFill>
                  <a:srgbClr val="1B2450"/>
                </a:solidFill>
              </a:rPr>
              <a:t>, </a:t>
            </a:r>
            <a:r>
              <a:rPr b="0" i="0" lang="en-US" sz="11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an existing Gen Z-loved coffee brand </a:t>
            </a:r>
            <a:r>
              <a:rPr lang="en-US" sz="1150">
                <a:solidFill>
                  <a:srgbClr val="1B2450"/>
                </a:solidFill>
              </a:rPr>
              <a:t>, </a:t>
            </a:r>
            <a:r>
              <a:rPr b="0" i="0" lang="en-US" sz="11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and showed up at the events and spaces that brand's audience already trusted.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8"/>
          <p:cNvCxnSpPr/>
          <p:nvPr/>
        </p:nvCxnSpPr>
        <p:spPr>
          <a:xfrm>
            <a:off x="640080" y="4389120"/>
            <a:ext cx="4754880" cy="0"/>
          </a:xfrm>
          <a:prstGeom prst="straightConnector1">
            <a:avLst/>
          </a:prstGeom>
          <a:noFill/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8"/>
          <p:cNvSpPr/>
          <p:nvPr/>
        </p:nvSpPr>
        <p:spPr>
          <a:xfrm>
            <a:off x="640080" y="45262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WHY IT WORKED AS A CHANNEL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40080" y="484632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The partnership borrowed an audience and its trust wholesale, put the product in hands at events, and let real users generate organic UGC </a:t>
            </a:r>
            <a:r>
              <a:rPr i="1" lang="en-US" sz="1100">
                <a:solidFill>
                  <a:srgbClr val="5B6079"/>
                </a:solidFill>
              </a:rPr>
              <a:t>, </a:t>
            </a:r>
            <a:r>
              <a:rPr b="0" i="1" lang="en-US" sz="11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content the brand could never have art-directed into feeling as authentic.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943600" y="2331720"/>
            <a:ext cx="5836615" cy="3520440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6217920" y="2560320"/>
            <a:ext cx="528797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GTM READ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217920" y="2926080"/>
            <a:ext cx="528797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Channel chosen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217920" y="3145536"/>
            <a:ext cx="528797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Co-branded partnership + live events (not paid media)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217920" y="3474720"/>
            <a:ext cx="528797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Marketing role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217920" y="3694176"/>
            <a:ext cx="528797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Near zero </a:t>
            </a:r>
            <a:r>
              <a:rPr lang="en-US" sz="1000">
                <a:solidFill>
                  <a:srgbClr val="FFFFFF"/>
                </a:solidFill>
              </a:rPr>
              <a:t>,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ad spend, no campaign calendar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217920" y="4023360"/>
            <a:ext cx="528797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Mechanism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217920" y="4242816"/>
            <a:ext cx="528797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Borrowed trust from an existing Gen Z brand community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217920" y="4572000"/>
            <a:ext cx="528797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Resulting proof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217920" y="4791456"/>
            <a:ext cx="528797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Organic user-generated content drove awareness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217920" y="5120640"/>
            <a:ext cx="528797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KPI it optimized for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217920" y="5340096"/>
            <a:ext cx="528797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 reach, UGC volume, repeat foot traffic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1148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GO-TO-MARKET STRATEGY WORKBOOK · Case Study 1: Mothernaked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8"/>
          <p:cNvCxnSpPr/>
          <p:nvPr/>
        </p:nvCxnSpPr>
        <p:spPr>
          <a:xfrm>
            <a:off x="411480" y="6437376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411480" y="777240"/>
            <a:ext cx="4261104" cy="310896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11480" y="777240"/>
            <a:ext cx="42611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CASE STUDY 2 · ALX VENTURES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11480" y="1170432"/>
            <a:ext cx="1136873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0E1B4B"/>
                </a:solidFill>
                <a:latin typeface="Georgia"/>
                <a:ea typeface="Georgia"/>
                <a:cs typeface="Georgia"/>
                <a:sym typeface="Georgia"/>
              </a:rPr>
              <a:t>Challenji App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11480" y="1700784"/>
            <a:ext cx="822960" cy="4114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11480" y="1828800"/>
            <a:ext cx="113687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A running app that skipped media buying and became the marathon itself.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11480" y="2331720"/>
            <a:ext cx="5212080" cy="352044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running_C7DD6E.png"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726" y="2702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/>
          <p:nvPr/>
        </p:nvSpPr>
        <p:spPr>
          <a:xfrm>
            <a:off x="1325880" y="26334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THE MOVE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40080" y="324612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Rather than buying ads to acquire runners, Challenji</a:t>
            </a:r>
            <a:r>
              <a:rPr lang="en-US" sz="1150">
                <a:solidFill>
                  <a:srgbClr val="1B2450"/>
                </a:solidFill>
              </a:rPr>
              <a:t> can become</a:t>
            </a:r>
            <a:r>
              <a:rPr b="0" i="0" lang="en-US" sz="11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 the official technology partner for government-led marathons  independent runners' clubs</a:t>
            </a:r>
            <a:r>
              <a:rPr lang="en-US" sz="1150">
                <a:solidFill>
                  <a:srgbClr val="1B2450"/>
                </a:solidFill>
              </a:rPr>
              <a:t>, </a:t>
            </a:r>
            <a:r>
              <a:rPr b="0" i="0" lang="en-US" sz="11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 offering free or discounted subscriptions in exchange for the partnership to acqui</a:t>
            </a:r>
            <a:r>
              <a:rPr lang="en-US" sz="1150">
                <a:solidFill>
                  <a:srgbClr val="1B2450"/>
                </a:solidFill>
              </a:rPr>
              <a:t>re a larger customer base</a:t>
            </a:r>
            <a:r>
              <a:rPr b="0" i="0" lang="en-US" sz="1150" u="none" cap="none" strike="noStrike">
                <a:solidFill>
                  <a:srgbClr val="1B245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9"/>
          <p:cNvCxnSpPr/>
          <p:nvPr/>
        </p:nvCxnSpPr>
        <p:spPr>
          <a:xfrm>
            <a:off x="640080" y="4434840"/>
            <a:ext cx="4754880" cy="0"/>
          </a:xfrm>
          <a:prstGeom prst="straightConnector1">
            <a:avLst/>
          </a:prstGeom>
          <a:noFill/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9"/>
          <p:cNvSpPr/>
          <p:nvPr/>
        </p:nvSpPr>
        <p:spPr>
          <a:xfrm>
            <a:off x="640080" y="45720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WHY IT WORKED AS A CHANNEL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40080" y="48920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Every event brought a pre-qualified, geographically concentrated batch of active runners </a:t>
            </a:r>
            <a:r>
              <a:rPr i="1" lang="en-US" sz="1100">
                <a:solidFill>
                  <a:srgbClr val="5B6079"/>
                </a:solidFill>
              </a:rPr>
              <a:t>, </a:t>
            </a:r>
            <a:r>
              <a:rPr b="0" i="1" lang="en-US" sz="11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exactly the target user </a:t>
            </a:r>
            <a:r>
              <a:rPr i="1" lang="en-US" sz="1100">
                <a:solidFill>
                  <a:srgbClr val="5B6079"/>
                </a:solidFill>
              </a:rPr>
              <a:t>, </a:t>
            </a:r>
            <a:r>
              <a:rPr b="0" i="1" lang="en-US" sz="11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while race-day usage generated the running data that made the product sticky after the event ended.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943600" y="2331720"/>
            <a:ext cx="5836615" cy="3520440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6217920" y="2560320"/>
            <a:ext cx="528797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GTM READ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217920" y="2926080"/>
            <a:ext cx="528797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Channel chosen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217920" y="3145536"/>
            <a:ext cx="528797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Official partnership with government marathons + running clubs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6217920" y="3474720"/>
            <a:ext cx="528797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Marketing role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6217920" y="3694176"/>
            <a:ext cx="528797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Replaced entirely </a:t>
            </a:r>
            <a:r>
              <a:rPr lang="en-US" sz="1000">
                <a:solidFill>
                  <a:srgbClr val="FFFFFF"/>
                </a:solidFill>
              </a:rPr>
              <a:t>,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media buying for user acquisition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217920" y="4023360"/>
            <a:ext cx="528797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Mechanism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217920" y="4242816"/>
            <a:ext cx="528797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Free/discounted subscriptions traded for event-wide access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217920" y="4572000"/>
            <a:ext cx="528797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Resulting proof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217920" y="4791456"/>
            <a:ext cx="528797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Runner data captured at scale, event over event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217920" y="5120640"/>
            <a:ext cx="528797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KPI it optimized for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217920" y="5340096"/>
            <a:ext cx="528797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Runners onboarded per event, post-event retention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1148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GO-TO-MARKET STRATEGY WORKBOOK · Case Study 2: Challenji App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9"/>
          <p:cNvCxnSpPr/>
          <p:nvPr/>
        </p:nvCxnSpPr>
        <p:spPr>
          <a:xfrm>
            <a:off x="411480" y="6437376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11480" y="777240"/>
            <a:ext cx="2359152" cy="310896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11480" y="777240"/>
            <a:ext cx="2359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THE FRAMEWORK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11480" y="1170432"/>
            <a:ext cx="1136873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0E1B4B"/>
                </a:solidFill>
                <a:latin typeface="Georgia"/>
                <a:ea typeface="Georgia"/>
                <a:cs typeface="Georgia"/>
                <a:sym typeface="Georgia"/>
              </a:rPr>
              <a:t>Choosing Your Market Entry Strategy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11480" y="1700784"/>
            <a:ext cx="822960" cy="4114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411480" y="1828800"/>
            <a:ext cx="113687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Plot your product and market maturity to decide which growth strategy your GTM plan should be built around.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2834640" y="2404872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Reading the grid:  columns = product (existing → new, left to right)   ·   rows = market (new → existing, top to bottom)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2834640" y="6291072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PRODUCT MATURITY:  Existing (left)  →  New (right)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2834640" y="2697480"/>
            <a:ext cx="3474720" cy="1760220"/>
          </a:xfrm>
          <a:prstGeom prst="rect">
            <a:avLst/>
          </a:prstGeom>
          <a:solidFill>
            <a:srgbClr val="EDEEF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3017520" y="28346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Market Penetration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017520" y="3246120"/>
            <a:ext cx="310896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Sell more of what you have to the customers you already understand </a:t>
            </a:r>
            <a:r>
              <a:rPr lang="en-US" sz="950">
                <a:solidFill>
                  <a:srgbClr val="0E1B4B"/>
                </a:solidFill>
              </a:rPr>
              <a:t>, </a:t>
            </a:r>
            <a:r>
              <a:rPr b="0" i="0" lang="en-US" sz="9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deepen the channel that already works.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309360" y="2697480"/>
            <a:ext cx="3474720" cy="1760220"/>
          </a:xfrm>
          <a:prstGeom prst="rect">
            <a:avLst/>
          </a:prstGeom>
          <a:solidFill>
            <a:srgbClr val="A9C2F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492240" y="28346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Product Development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492240" y="3246120"/>
            <a:ext cx="310896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New product, same market </a:t>
            </a:r>
            <a:r>
              <a:rPr lang="en-US" sz="950">
                <a:solidFill>
                  <a:srgbClr val="0E1B4B"/>
                </a:solidFill>
              </a:rPr>
              <a:t>, </a:t>
            </a:r>
            <a:r>
              <a:rPr b="0" i="0" lang="en-US" sz="9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your GTM leans on existing trust and existing channel relationships.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2834640" y="4457700"/>
            <a:ext cx="3474720" cy="1760220"/>
          </a:xfrm>
          <a:prstGeom prst="rect">
            <a:avLst/>
          </a:prstGeom>
          <a:solidFill>
            <a:srgbClr val="5B7FF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3017520" y="45948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 Development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017520" y="5006340"/>
            <a:ext cx="310896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Existing product, new market </a:t>
            </a:r>
            <a:r>
              <a:rPr lang="en-US" sz="950">
                <a:solidFill>
                  <a:srgbClr val="FFFFFF"/>
                </a:solidFill>
              </a:rPr>
              <a:t>, </a:t>
            </a: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GTM has to rebuild channel and trust from scratch in unfamiliar territory.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309360" y="4457700"/>
            <a:ext cx="3474720" cy="1760220"/>
          </a:xfrm>
          <a:prstGeom prst="rect">
            <a:avLst/>
          </a:prstGeom>
          <a:solidFill>
            <a:srgbClr val="0E1B4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6492240" y="45948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Diversification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492240" y="5006340"/>
            <a:ext cx="310896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product, new market </a:t>
            </a:r>
            <a:r>
              <a:rPr lang="en-US" sz="950">
                <a:solidFill>
                  <a:srgbClr val="FFFFFF"/>
                </a:solidFill>
              </a:rPr>
              <a:t>, </a:t>
            </a: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highest-risk GTM, usually only after the first three have been proven.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411480" y="2697480"/>
            <a:ext cx="2148840" cy="3520440"/>
          </a:xfrm>
          <a:prstGeom prst="rect">
            <a:avLst/>
          </a:prstGeom>
          <a:solidFill>
            <a:srgbClr val="F5F6FA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YOUR STAGE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94360" y="3200400"/>
            <a:ext cx="178308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Mark which quadrant your venture sits in today, and name the one GTM lever you're pulling to move toward it.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1148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t/>
            </a:r>
            <a:endParaRPr i="1" sz="900">
              <a:solidFill>
                <a:srgbClr val="5B607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GO-TO-MARKET STRATEGY WORKBOOK · The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10"/>
          <p:cNvCxnSpPr/>
          <p:nvPr/>
        </p:nvCxnSpPr>
        <p:spPr>
          <a:xfrm>
            <a:off x="411468" y="6565401"/>
            <a:ext cx="11368800" cy="0"/>
          </a:xfrm>
          <a:prstGeom prst="straightConnector1">
            <a:avLst/>
          </a:prstGeom>
          <a:noFill/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411480" y="777240"/>
            <a:ext cx="1773936" cy="310896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411480" y="777240"/>
            <a:ext cx="1773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YOUR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11480" y="1170432"/>
            <a:ext cx="1136873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0E1B4B"/>
                </a:solidFill>
                <a:latin typeface="Georgia"/>
                <a:ea typeface="Georgia"/>
                <a:cs typeface="Georgia"/>
                <a:sym typeface="Georgia"/>
              </a:rPr>
              <a:t>Your GTM Plan, Phased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411480" y="1700784"/>
            <a:ext cx="822960" cy="4114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411480" y="1828800"/>
            <a:ext cx="113687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Sequence your entry </a:t>
            </a:r>
            <a:r>
              <a:rPr i="1" lang="en-US" sz="1250">
                <a:solidFill>
                  <a:srgbClr val="5B6079"/>
                </a:solidFill>
              </a:rPr>
              <a:t>, </a:t>
            </a:r>
            <a:r>
              <a:rPr b="0" i="1" lang="en-US" sz="12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each phase should unlock, and be funded by proof from, the one before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11480" y="2331720"/>
            <a:ext cx="3606698" cy="457200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548640" y="2331720"/>
            <a:ext cx="33323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Phase 1 </a:t>
            </a:r>
            <a:r>
              <a:rPr b="1" lang="en-US" sz="1250">
                <a:solidFill>
                  <a:srgbClr val="C7DD6E"/>
                </a:solidFill>
              </a:rPr>
              <a:t>, </a:t>
            </a:r>
            <a:r>
              <a:rPr b="1" i="0" lang="en-US" sz="125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Beachhead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411480" y="2880360"/>
            <a:ext cx="3606698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539496" y="2953512"/>
            <a:ext cx="3350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TARGET &amp; CHANNEL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539496" y="3227832"/>
            <a:ext cx="3350666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Independent online-course creators and small training providers in Rwanda that already have a course but need more learner enquiries.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11480" y="4297680"/>
            <a:ext cx="360669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539496" y="4370832"/>
            <a:ext cx="3350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WHAT UNLOCKS THIS PHASE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39496" y="4645152"/>
            <a:ext cx="3350666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Founder-led, personalised outreach by email and WhatsApp, supported by the LearnReach website. Direct conversations provide fast feedback at low cash cost.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4292498" y="2331720"/>
            <a:ext cx="3606698" cy="457200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4429658" y="2331720"/>
            <a:ext cx="33323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Phase 2 </a:t>
            </a:r>
            <a:r>
              <a:rPr b="1" lang="en-US" sz="1250">
                <a:solidFill>
                  <a:srgbClr val="C7DD6E"/>
                </a:solidFill>
              </a:rPr>
              <a:t>, </a:t>
            </a:r>
            <a:r>
              <a:rPr b="1" i="0" lang="en-US" sz="125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Expansion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292498" y="2880360"/>
            <a:ext cx="3606698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4420514" y="2953512"/>
            <a:ext cx="3350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TARGET &amp; CHANNEL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420514" y="3227832"/>
            <a:ext cx="3350666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Expand to tutors and training centres launching new classes; test LinkedIn content and introductions through educator communities.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292498" y="4297680"/>
            <a:ext cx="360669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4420514" y="4370832"/>
            <a:ext cx="3350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WHAT UNLOCKS THIS PHASE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420514" y="4645152"/>
            <a:ext cx="3350666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At least 10 customer interviews, 2 paid pilot campaigns, clear feedback, and evidence that clients will pay and consider renewing.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8173517" y="2331720"/>
            <a:ext cx="3606698" cy="457200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8310677" y="2331720"/>
            <a:ext cx="33323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Phase 3 </a:t>
            </a:r>
            <a:r>
              <a:rPr b="1" lang="en-US" sz="1250">
                <a:solidFill>
                  <a:srgbClr val="C7DD6E"/>
                </a:solidFill>
              </a:rPr>
              <a:t>, </a:t>
            </a:r>
            <a:r>
              <a:rPr b="1" i="0" lang="en-US" sz="125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8173517" y="2880360"/>
            <a:ext cx="3606698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8301533" y="2953512"/>
            <a:ext cx="3350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TARGET &amp; CHANNEL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8301533" y="3227832"/>
            <a:ext cx="3350666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Standardise campaign packages, onboarding, reporting and referrals; expand to more providers only after pilot delivery is repeatable.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8173517" y="4297680"/>
            <a:ext cx="360669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8301533" y="4370832"/>
            <a:ext cx="3350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WHAT UNLOCKS THIS PHASE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8301533" y="4645152"/>
            <a:ext cx="3350666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Service quality, response time and campaign reporting may suffer. Keep capacity limited until processes and client outcomes are consistent.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41148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GO-TO-MARKET STRATEGY WORKBOOK · Your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11"/>
          <p:cNvCxnSpPr/>
          <p:nvPr/>
        </p:nvCxnSpPr>
        <p:spPr>
          <a:xfrm>
            <a:off x="411480" y="6437376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411480" y="777240"/>
            <a:ext cx="1773936" cy="310896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411480" y="777240"/>
            <a:ext cx="1773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YOUR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11480" y="1170432"/>
            <a:ext cx="1136873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0E1B4B"/>
                </a:solidFill>
                <a:latin typeface="Georgia"/>
                <a:ea typeface="Georgia"/>
                <a:cs typeface="Georgia"/>
                <a:sym typeface="Georgia"/>
              </a:rPr>
              <a:t>Channel Plan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411480" y="1700784"/>
            <a:ext cx="822960" cy="4114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411480" y="1828800"/>
            <a:ext cx="113687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For each channel you're testing, be explicit about whether it's marketing-led or not </a:t>
            </a:r>
            <a:r>
              <a:rPr i="1" lang="en-US" sz="1250">
                <a:solidFill>
                  <a:srgbClr val="5B6079"/>
                </a:solidFill>
              </a:rPr>
              <a:t>, </a:t>
            </a:r>
            <a:r>
              <a:rPr b="0" i="1" lang="en-US" sz="12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and what you're trading for access.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411480" y="2331720"/>
            <a:ext cx="5410048" cy="32004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411480" y="2331720"/>
            <a:ext cx="1737360" cy="310896"/>
          </a:xfrm>
          <a:prstGeom prst="rect">
            <a:avLst/>
          </a:prstGeom>
          <a:solidFill>
            <a:srgbClr val="2647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411480" y="233172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40080" y="2788920"/>
            <a:ext cx="4952848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768096" y="2862072"/>
            <a:ext cx="4696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CHANNEL / PARTNERSHIP 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768096" y="3136392"/>
            <a:ext cx="4696816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 sz="1000">
                <a:solidFill>
                  <a:srgbClr val="9298AC"/>
                </a:solidFill>
                <a:latin typeface="Arial"/>
              </a:rPr>
              <a:t>Founder-led outreach to 30 course creators/providers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40080" y="3474720"/>
            <a:ext cx="4952848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768096" y="3547872"/>
            <a:ext cx="4696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MARKETING-LED OR NOT?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768096" y="3822192"/>
            <a:ext cx="4696816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 sz="1000">
                <a:solidFill>
                  <a:srgbClr val="9298AC"/>
                </a:solidFill>
                <a:latin typeface="Arial"/>
              </a:rPr>
              <a:t>Distribution-led: direct founder outreach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640080" y="4069080"/>
            <a:ext cx="4952848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768096" y="4142232"/>
            <a:ext cx="4696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WHAT WE TRADE FOR ACCESS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768096" y="4416552"/>
            <a:ext cx="4696816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 sz="1000">
                <a:solidFill>
                  <a:srgbClr val="9298AC"/>
                </a:solidFill>
                <a:latin typeface="Arial"/>
              </a:rPr>
              <a:t>Offer a discovery call and tailored review; invest founder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640080" y="4846320"/>
            <a:ext cx="4952848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768096" y="4919472"/>
            <a:ext cx="4696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SUCCESS METRIC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768096" y="5193792"/>
            <a:ext cx="4696816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 sz="1000">
                <a:solidFill>
                  <a:srgbClr val="9298AC"/>
                </a:solidFill>
                <a:latin typeface="Arial"/>
              </a:rPr>
              <a:t>Track replies, calls, proposals and paid pilot clients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6208776" y="2331720"/>
            <a:ext cx="5410048" cy="32004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6208776" y="2331720"/>
            <a:ext cx="1737360" cy="310896"/>
          </a:xfrm>
          <a:prstGeom prst="rect">
            <a:avLst/>
          </a:prstGeom>
          <a:solidFill>
            <a:srgbClr val="2647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6208776" y="233172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6437376" y="2788920"/>
            <a:ext cx="4952848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6565392" y="2862072"/>
            <a:ext cx="4696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CHANNEL / PARTNERSHIP 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6565392" y="3136392"/>
            <a:ext cx="4696816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 sz="1000">
                <a:solidFill>
                  <a:srgbClr val="9298AC"/>
                </a:solidFill>
                <a:latin typeface="Arial"/>
              </a:rPr>
              <a:t>Website, LinkedIn and educator-community referrals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6437376" y="3474720"/>
            <a:ext cx="4952848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6565392" y="3547872"/>
            <a:ext cx="4696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MARKETING-LED OR NOT?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565392" y="3822192"/>
            <a:ext cx="4696816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 sz="1000">
                <a:solidFill>
                  <a:srgbClr val="9298AC"/>
                </a:solidFill>
                <a:latin typeface="Arial"/>
              </a:rPr>
              <a:t>Marketing-led / referral-supported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6437376" y="4069080"/>
            <a:ext cx="4952848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6565392" y="4142232"/>
            <a:ext cx="4696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WHAT WE TRADE FOR ACCESS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6565392" y="4416552"/>
            <a:ext cx="4696816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 sz="1000">
                <a:solidFill>
                  <a:srgbClr val="9298AC"/>
                </a:solidFill>
                <a:latin typeface="Arial"/>
              </a:rPr>
              <a:t>Share useful tips; ask for introductions after helpful conversations.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6437376" y="4846320"/>
            <a:ext cx="4952848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7F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6565392" y="4919472"/>
            <a:ext cx="4696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7E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647E5"/>
                </a:solidFill>
                <a:latin typeface="Arial"/>
                <a:ea typeface="Arial"/>
                <a:cs typeface="Arial"/>
                <a:sym typeface="Arial"/>
              </a:rPr>
              <a:t>SUCCESS METRIC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6565392" y="5193792"/>
            <a:ext cx="4696816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1050"/>
              <a:buFont typeface="Arial"/>
              <a:buNone/>
            </a:pPr>
            <a:r>
              <a:rPr b="0" i="1" sz="1000">
                <a:solidFill>
                  <a:srgbClr val="9298AC"/>
                </a:solidFill>
                <a:latin typeface="Arial"/>
              </a:rPr>
              <a:t>Track qualified enquiries, referrals and calls booked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41148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GO-TO-MARKET STRATEGY WORKBOOK · Your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12"/>
          <p:cNvCxnSpPr/>
          <p:nvPr/>
        </p:nvCxnSpPr>
        <p:spPr>
          <a:xfrm>
            <a:off x="411480" y="6437376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411480" y="777240"/>
            <a:ext cx="1773936" cy="310896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411480" y="777240"/>
            <a:ext cx="1773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YOUR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411480" y="1170432"/>
            <a:ext cx="1136873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0E1B4B"/>
                </a:solidFill>
                <a:latin typeface="Georgia"/>
                <a:ea typeface="Georgia"/>
                <a:cs typeface="Georgia"/>
                <a:sym typeface="Georgia"/>
              </a:rPr>
              <a:t>GTM Budget Planning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411480" y="1700784"/>
            <a:ext cx="822960" cy="4114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411480" y="1828800"/>
            <a:ext cx="113687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Every channel in your plan costs something </a:t>
            </a:r>
            <a:r>
              <a:rPr i="1" lang="en-US" sz="1250">
                <a:solidFill>
                  <a:srgbClr val="5B6079"/>
                </a:solidFill>
              </a:rPr>
              <a:t>, </a:t>
            </a:r>
            <a:r>
              <a:rPr b="0" i="1" lang="en-US" sz="12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cash, in-kind value, or time. Budget it like a real line item, not an afterthought.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411480" y="2286000"/>
            <a:ext cx="2606040" cy="457200"/>
          </a:xfrm>
          <a:prstGeom prst="rect">
            <a:avLst/>
          </a:prstGeom>
          <a:solidFill>
            <a:srgbClr val="0E1B4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484632" y="2286000"/>
            <a:ext cx="2459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CHANNEL / ACTIVITY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3017520" y="2286000"/>
            <a:ext cx="1737360" cy="457200"/>
          </a:xfrm>
          <a:prstGeom prst="rect">
            <a:avLst/>
          </a:prstGeom>
          <a:solidFill>
            <a:srgbClr val="0E1B4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3090672" y="228600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4754880" y="2286000"/>
            <a:ext cx="1874520" cy="457200"/>
          </a:xfrm>
          <a:prstGeom prst="rect">
            <a:avLst/>
          </a:prstGeom>
          <a:solidFill>
            <a:srgbClr val="0E1B4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4828032" y="228600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BUDGET ALLOCATED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6629400" y="2286000"/>
            <a:ext cx="1600200" cy="457200"/>
          </a:xfrm>
          <a:prstGeom prst="rect">
            <a:avLst/>
          </a:prstGeom>
          <a:solidFill>
            <a:srgbClr val="0E1B4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6702552" y="2286000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TIMEFRAME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8229600" y="2286000"/>
            <a:ext cx="2633472" cy="457200"/>
          </a:xfrm>
          <a:prstGeom prst="rect">
            <a:avLst/>
          </a:prstGeom>
          <a:solidFill>
            <a:srgbClr val="0E1B4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8302752" y="2286000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TARGET RETURN / KPI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411480" y="2743200"/>
            <a:ext cx="2606040" cy="4572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484632" y="2743200"/>
            <a:ext cx="2459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Founder outreach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3017520" y="2743200"/>
            <a:ext cx="1737360" cy="4572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3090672" y="274320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298AC"/>
                </a:solidFill>
                <a:latin typeface="Arial"/>
                <a:ea typeface="Arial"/>
                <a:cs typeface="Arial"/>
                <a:sym typeface="Arial"/>
              </a:rPr>
              <a:t>Partnership-led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4754880" y="2743200"/>
            <a:ext cx="1874520" cy="4572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4828032" y="274320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Low cash; founder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6629400" y="2743200"/>
            <a:ext cx="1600200" cy="4572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6702552" y="2743200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298AC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8229600" y="2743200"/>
            <a:ext cx="2633472" cy="4572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8302752" y="2743200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30 prospects contacted; 10 interviews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411480" y="3200400"/>
            <a:ext cx="26060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484632" y="3200400"/>
            <a:ext cx="2459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Website + useful content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3017520" y="3200400"/>
            <a:ext cx="17373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3090672" y="320040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298AC"/>
                </a:solidFill>
                <a:latin typeface="Arial"/>
                <a:ea typeface="Arial"/>
                <a:cs typeface="Arial"/>
                <a:sym typeface="Arial"/>
              </a:rPr>
              <a:t>Marketing-led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4754880" y="3200400"/>
            <a:ext cx="18745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4828032" y="320040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Small data / content costs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6629400" y="3200400"/>
            <a:ext cx="1600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6702552" y="3200400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298AC"/>
                </a:solidFill>
                <a:latin typeface="Arial"/>
                <a:ea typeface="Arial"/>
                <a:cs typeface="Arial"/>
                <a:sym typeface="Arial"/>
              </a:rPr>
              <a:t>Ongoing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8229600" y="3200400"/>
            <a:ext cx="2633472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8302752" y="3200400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Qualified enquiries and calls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411480" y="3657600"/>
            <a:ext cx="2606040" cy="4572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484632" y="3657600"/>
            <a:ext cx="2459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Pilot campaign delivery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3017520" y="3657600"/>
            <a:ext cx="1737360" cy="4572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3090672" y="365760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298AC"/>
                </a:solidFill>
                <a:latin typeface="Arial"/>
                <a:ea typeface="Arial"/>
                <a:cs typeface="Arial"/>
                <a:sym typeface="Arial"/>
              </a:rPr>
              <a:t>Distribution-led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4754880" y="3657600"/>
            <a:ext cx="1874520" cy="4572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4828032" y="365760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Budget per pilot; confirm costs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6629400" y="3657600"/>
            <a:ext cx="1600200" cy="4572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6702552" y="3657600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298AC"/>
                </a:solidFill>
                <a:latin typeface="Arial"/>
                <a:ea typeface="Arial"/>
                <a:cs typeface="Arial"/>
                <a:sym typeface="Arial"/>
              </a:rPr>
              <a:t>Q1–Q2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8229600" y="3657600"/>
            <a:ext cx="2633472" cy="4572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8302752" y="3657600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98AC"/>
              </a:buClr>
              <a:buSzPts val="900"/>
              <a:buFont typeface="Arial"/>
              <a:buNone/>
            </a:pPr>
            <a:r>
              <a:rPr b="0" i="1">
                <a:solidFill>
                  <a:srgbClr val="9298AC"/>
                </a:solidFill>
                <a:latin typeface="Arial"/>
              </a:rPr>
              <a:t>2 paid pilots by Day 60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411480" y="4114800"/>
            <a:ext cx="26060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484632" y="4114800"/>
            <a:ext cx="2459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3017520" y="4114800"/>
            <a:ext cx="17373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3090672" y="411480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4754880" y="4114800"/>
            <a:ext cx="18745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4828032" y="411480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6629400" y="4114800"/>
            <a:ext cx="1600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6702552" y="4114800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8229600" y="4114800"/>
            <a:ext cx="2633472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8302752" y="4114800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411480" y="4709160"/>
            <a:ext cx="11368735" cy="694944"/>
          </a:xfrm>
          <a:prstGeom prst="rect">
            <a:avLst/>
          </a:prstGeom>
          <a:solidFill>
            <a:srgbClr val="E4EAFB"/>
          </a:solidFill>
          <a:ln cap="flat" cmpd="sng" w="9525">
            <a:solidFill>
              <a:srgbClr val="A9C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411480" y="4709160"/>
            <a:ext cx="54864" cy="694944"/>
          </a:xfrm>
          <a:prstGeom prst="rect">
            <a:avLst/>
          </a:prstGeom>
          <a:solidFill>
            <a:srgbClr val="2647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621792" y="4764024"/>
            <a:ext cx="11002975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150"/>
              <a:buFont typeface="Arial"/>
              <a:buNone/>
            </a:pPr>
            <a:r>
              <a:rPr b="0" i="1">
                <a:solidFill>
                  <a:srgbClr val="0E1B4B"/>
                </a:solidFill>
                <a:latin typeface="Arial"/>
              </a:rPr>
              <a:t>Planning note: keep spending lean until demand is validated. Record actual cash costs and founder hours; set paid-ad budgets only after pilot evidence.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41148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GO-TO-MARKET STRATEGY WORKBOOK · Your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p13"/>
          <p:cNvCxnSpPr/>
          <p:nvPr/>
        </p:nvCxnSpPr>
        <p:spPr>
          <a:xfrm>
            <a:off x="411480" y="6437376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4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411480" y="777240"/>
            <a:ext cx="1773936" cy="310896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411480" y="777240"/>
            <a:ext cx="1773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YOUR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411480" y="1170432"/>
            <a:ext cx="1136873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0E1B4B"/>
                </a:solidFill>
                <a:latin typeface="Georgia"/>
                <a:ea typeface="Georgia"/>
                <a:cs typeface="Georgia"/>
                <a:sym typeface="Georgia"/>
              </a:rPr>
              <a:t>Where the Budget Goes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411480" y="1700784"/>
            <a:ext cx="822960" cy="4114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411480" y="1828800"/>
            <a:ext cx="113687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250"/>
              <a:buFont typeface="Arial"/>
              <a:buNone/>
            </a:pPr>
            <a:r>
              <a:rPr b="0" i="1">
                <a:solidFill>
                  <a:srgbClr val="5B6079"/>
                </a:solidFill>
                <a:latin typeface="Arial"/>
              </a:rPr>
              <a:t>Lean validation budget: prioritise founder time and direct customer learning; confirm cash allocations before spending.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331720"/>
            <a:ext cx="512064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4"/>
          <p:cNvSpPr/>
          <p:nvPr/>
        </p:nvSpPr>
        <p:spPr>
          <a:xfrm>
            <a:off x="5943600" y="2331720"/>
            <a:ext cx="384048" cy="384048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handshake_C7DD6E.png" id="421" name="Google Shape;4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3452" y="243157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4"/>
          <p:cNvSpPr/>
          <p:nvPr/>
        </p:nvSpPr>
        <p:spPr>
          <a:xfrm>
            <a:off x="6446520" y="230428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Partnerships &amp; Events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6446520" y="25603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>
                <a:solidFill>
                  <a:srgbClr val="5B6079"/>
                </a:solidFill>
                <a:latin typeface="Arial"/>
              </a:rPr>
              <a:t>Use educator communities and warm introductions first; avoid paid event spend until a channel shows promise.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5943600" y="3044952"/>
            <a:ext cx="384048" cy="384048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bullhorn2_C7DD6E.png" id="425" name="Google Shape;42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3452" y="3144804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4"/>
          <p:cNvSpPr/>
          <p:nvPr/>
        </p:nvSpPr>
        <p:spPr>
          <a:xfrm>
            <a:off x="6446520" y="3017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Content &amp; Community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6446520" y="327355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>
                <a:solidFill>
                  <a:srgbClr val="5B6079"/>
                </a:solidFill>
                <a:latin typeface="Arial"/>
              </a:rPr>
              <a:t>Create practical tips about course promotion, content and student enquiries; track engagement and qualified leads.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5943600" y="3758184"/>
            <a:ext cx="384048" cy="384048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compass_C7DD6E.png" id="429" name="Google Shape;42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43452" y="3858036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4"/>
          <p:cNvSpPr/>
          <p:nvPr/>
        </p:nvSpPr>
        <p:spPr>
          <a:xfrm>
            <a:off x="6446520" y="373075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Paid Channels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6446520" y="3986784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>
                <a:solidFill>
                  <a:srgbClr val="5B6079"/>
                </a:solidFill>
                <a:latin typeface="Arial"/>
              </a:rPr>
              <a:t>No large paid campaign at MVP stage. Test small spends only if interviews and pilots support 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5943600" y="4471416"/>
            <a:ext cx="384048" cy="384048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cogs_C7DD6E.png" id="433" name="Google Shape;43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43452" y="4571268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4"/>
          <p:cNvSpPr/>
          <p:nvPr/>
        </p:nvSpPr>
        <p:spPr>
          <a:xfrm>
            <a:off x="6446520" y="444398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Tools &amp; Software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6446520" y="4700016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>
                <a:solidFill>
                  <a:srgbClr val="5B6079"/>
                </a:solidFill>
                <a:latin typeface="Arial"/>
              </a:rPr>
              <a:t>Use the website, email, WhatsApp and a simple spreadsheet to track leads, calls, proposals and follow-up.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5943600" y="5184648"/>
            <a:ext cx="384048" cy="384048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balance_C7DD6E.png" id="437" name="Google Shape;43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43452" y="5284500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4"/>
          <p:cNvSpPr/>
          <p:nvPr/>
        </p:nvSpPr>
        <p:spPr>
          <a:xfrm>
            <a:off x="6446520" y="515721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Contingency / Buffer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6446520" y="541324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>
                <a:solidFill>
                  <a:srgbClr val="5B6079"/>
                </a:solidFill>
                <a:latin typeface="Arial"/>
              </a:rPr>
              <a:t>Keep a small reserve for unexpected delivery costs; review spending after each pilot.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41148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GO-TO-MARKET STRATEGY WORKBOOK · Your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p14"/>
          <p:cNvCxnSpPr/>
          <p:nvPr/>
        </p:nvCxnSpPr>
        <p:spPr>
          <a:xfrm>
            <a:off x="411480" y="6437376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5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411480" y="777240"/>
            <a:ext cx="1773936" cy="310896"/>
          </a:xfrm>
          <a:prstGeom prst="rect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411480" y="777240"/>
            <a:ext cx="17739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D6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7DD6E"/>
                </a:solidFill>
                <a:latin typeface="Arial"/>
                <a:ea typeface="Arial"/>
                <a:cs typeface="Arial"/>
                <a:sym typeface="Arial"/>
              </a:rPr>
              <a:t>YOUR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411480" y="1170432"/>
            <a:ext cx="1136873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0E1B4B"/>
                </a:solidFill>
                <a:latin typeface="Georgia"/>
                <a:ea typeface="Georgia"/>
                <a:cs typeface="Georgia"/>
                <a:sym typeface="Georgia"/>
              </a:rPr>
              <a:t>GTM KPIs &amp; Metrics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411480" y="1700784"/>
            <a:ext cx="822960" cy="41148"/>
          </a:xfrm>
          <a:prstGeom prst="rect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411480" y="1828800"/>
            <a:ext cx="113687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A go-to-market plan without numbers is a hope. Track these across every channel and phase.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411480" y="2331720"/>
            <a:ext cx="5501488" cy="13716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mapmarker_C7DD6E.png" id="457" name="Google Shape;4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839" y="271851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5"/>
          <p:cNvSpPr/>
          <p:nvPr/>
        </p:nvSpPr>
        <p:spPr>
          <a:xfrm>
            <a:off x="1280160" y="2496312"/>
            <a:ext cx="44499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Reach / acquisition volume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1280160" y="2898648"/>
            <a:ext cx="44499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1000"/>
              <a:buFont typeface="Arial"/>
              <a:buNone/>
            </a:pPr>
            <a:r>
              <a:rPr b="0" i="0">
                <a:solidFill>
                  <a:srgbClr val="1B2450"/>
                </a:solidFill>
                <a:latin typeface="Arial"/>
              </a:rPr>
              <a:t>Count prospects contacted, replies, discovery calls and qualified enquiries each month.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6278728" y="2331720"/>
            <a:ext cx="5501488" cy="13716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6507328" y="2587752"/>
            <a:ext cx="502920" cy="502920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fingerprint_C7DD6E.png" id="462" name="Google Shape;46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8087" y="271851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5"/>
          <p:cNvSpPr/>
          <p:nvPr/>
        </p:nvSpPr>
        <p:spPr>
          <a:xfrm>
            <a:off x="7147408" y="2496312"/>
            <a:ext cx="44499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Cost to acquire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7147408" y="2898648"/>
            <a:ext cx="44499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1000"/>
              <a:buFont typeface="Arial"/>
              <a:buNone/>
            </a:pPr>
            <a:r>
              <a:rPr b="0" i="0">
                <a:solidFill>
                  <a:srgbClr val="1B2450"/>
                </a:solidFill>
                <a:latin typeface="Arial"/>
              </a:rPr>
              <a:t>Track cash spend and founder hours per qualified lead and per paying client.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411480" y="3886200"/>
            <a:ext cx="5501488" cy="13716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640080" y="4142232"/>
            <a:ext cx="502920" cy="502920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heartbeat_C7DD6E.png" id="467" name="Google Shape;46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0839" y="427299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5"/>
          <p:cNvSpPr/>
          <p:nvPr/>
        </p:nvSpPr>
        <p:spPr>
          <a:xfrm>
            <a:off x="1280160" y="4050792"/>
            <a:ext cx="44499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Activation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1280160" y="4453128"/>
            <a:ext cx="44499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1000"/>
              <a:buFont typeface="Arial"/>
              <a:buNone/>
            </a:pPr>
            <a:r>
              <a:rPr b="0" i="0">
                <a:solidFill>
                  <a:srgbClr val="1B2450"/>
                </a:solidFill>
                <a:latin typeface="Arial"/>
              </a:rPr>
              <a:t>Measure prospects who complete a discovery call and agree on a clear campaign need.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6278728" y="3886200"/>
            <a:ext cx="5501488" cy="13716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6507328" y="4142232"/>
            <a:ext cx="502920" cy="502920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chartline2_C7DD6E.png" id="472" name="Google Shape;47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38087" y="427299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5"/>
          <p:cNvSpPr/>
          <p:nvPr/>
        </p:nvSpPr>
        <p:spPr>
          <a:xfrm>
            <a:off x="7147408" y="4050792"/>
            <a:ext cx="44499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Conversion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7147408" y="4453128"/>
            <a:ext cx="44499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1000"/>
              <a:buFont typeface="Arial"/>
              <a:buNone/>
            </a:pPr>
            <a:r>
              <a:rPr b="0" i="0">
                <a:solidFill>
                  <a:srgbClr val="1B2450"/>
                </a:solidFill>
                <a:latin typeface="Arial"/>
              </a:rPr>
              <a:t>Track the percentage of discovery calls that become proposals and paid pilots.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411480" y="5440680"/>
            <a:ext cx="5501488" cy="13716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640080" y="5696712"/>
            <a:ext cx="502920" cy="502920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layers_C7DD6E.png" id="477" name="Google Shape;47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0839" y="582747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5"/>
          <p:cNvSpPr/>
          <p:nvPr/>
        </p:nvSpPr>
        <p:spPr>
          <a:xfrm>
            <a:off x="1280160" y="5605272"/>
            <a:ext cx="44499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Retention / repeat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1280160" y="6007608"/>
            <a:ext cx="44499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1000"/>
              <a:buFont typeface="Arial"/>
              <a:buNone/>
            </a:pPr>
            <a:r>
              <a:rPr b="0" i="0">
                <a:solidFill>
                  <a:srgbClr val="1B2450"/>
                </a:solidFill>
                <a:latin typeface="Arial"/>
              </a:rPr>
              <a:t>Check client satisfaction, repeat campaigns and renewals after 30, 60 and 90 days.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6278728" y="5440680"/>
            <a:ext cx="5501488" cy="1371600"/>
          </a:xfrm>
          <a:prstGeom prst="rect">
            <a:avLst/>
          </a:prstGeom>
          <a:solidFill>
            <a:srgbClr val="EDEEF3"/>
          </a:solidFill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6507328" y="5696712"/>
            <a:ext cx="502920" cy="502920"/>
          </a:xfrm>
          <a:prstGeom prst="ellipse">
            <a:avLst/>
          </a:prstGeom>
          <a:solidFill>
            <a:srgbClr val="0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balance_C7DD6E.png" id="482" name="Google Shape;48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38087" y="582747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5"/>
          <p:cNvSpPr/>
          <p:nvPr/>
        </p:nvSpPr>
        <p:spPr>
          <a:xfrm>
            <a:off x="7147408" y="5605272"/>
            <a:ext cx="44499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1B4B"/>
                </a:solidFill>
                <a:latin typeface="Arial"/>
                <a:ea typeface="Arial"/>
                <a:cs typeface="Arial"/>
                <a:sym typeface="Arial"/>
              </a:rPr>
              <a:t>Channel payback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7147408" y="6007608"/>
            <a:ext cx="44499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50"/>
              </a:buClr>
              <a:buSzPts val="1000"/>
              <a:buFont typeface="Arial"/>
              <a:buNone/>
            </a:pPr>
            <a:r>
              <a:rPr b="0" i="0">
                <a:solidFill>
                  <a:srgbClr val="1B2450"/>
                </a:solidFill>
                <a:latin typeface="Arial"/>
              </a:rPr>
              <a:t>Compare campaign revenue with delivery costs and time; refine the offer if margin is weak.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41148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GO-TO-MARKET STRATEGY WORKBOOK · Your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079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7" name="Google Shape;487;p15"/>
          <p:cNvCxnSpPr/>
          <p:nvPr/>
        </p:nvCxnSpPr>
        <p:spPr>
          <a:xfrm>
            <a:off x="411480" y="6437376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DADCE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B4B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6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5B7FF0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"/>
          <p:cNvSpPr/>
          <p:nvPr/>
        </p:nvSpPr>
        <p:spPr>
          <a:xfrm>
            <a:off x="8229600" y="3200400"/>
            <a:ext cx="5486400" cy="5486400"/>
          </a:xfrm>
          <a:prstGeom prst="ellipse">
            <a:avLst/>
          </a:prstGeom>
          <a:solidFill>
            <a:srgbClr val="C7DD6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6"/>
          <p:cNvSpPr/>
          <p:nvPr/>
        </p:nvSpPr>
        <p:spPr>
          <a:xfrm>
            <a:off x="5638648" y="1965960"/>
            <a:ext cx="914400" cy="914400"/>
          </a:xfrm>
          <a:prstGeom prst="ellipse">
            <a:avLst/>
          </a:prstGeom>
          <a:solidFill>
            <a:srgbClr val="C7D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compass_0E1B4B.png" id="496" name="Google Shape;4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6392" y="22037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6"/>
          <p:cNvSpPr/>
          <p:nvPr/>
        </p:nvSpPr>
        <p:spPr>
          <a:xfrm>
            <a:off x="548640" y="31089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>
                <a:solidFill>
                  <a:srgbClr val="FFFFFF"/>
                </a:solidFill>
                <a:latin typeface="Georgia"/>
              </a:rPr>
              <a:t>LearnReach: Start Narrow, Learn Fast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1463040" y="3977640"/>
            <a:ext cx="92656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1400"/>
              <a:buFont typeface="Arial"/>
              <a:buNone/>
            </a:pPr>
            <a:r>
              <a:rPr b="0" i="0">
                <a:solidFill>
                  <a:srgbClr val="A9C2F7"/>
                </a:solidFill>
                <a:latin typeface="Arial"/>
              </a:rPr>
              <a:t>Begin with direct conversations and a clear website offer. Validate demand with 10 interviews and 2 paid pilots before expanding channels or spending heavily.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548640" y="630936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C2F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9C2F7"/>
                </a:solidFill>
                <a:latin typeface="Arial"/>
                <a:ea typeface="Arial"/>
                <a:cs typeface="Arial"/>
                <a:sym typeface="Arial"/>
              </a:rPr>
              <a:t>GO-TO-MARKET STRATEGY WORKBOOK · FOUNDER ACADEMY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